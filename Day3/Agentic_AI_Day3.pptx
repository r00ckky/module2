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the turning point. Days 1 and 2 had you wiring the control flow by hand. Today the model takes the wheel: it reasons, plans its own steps, and drives the loop until the goal is met. We build up to ReAct, the pattern behind almost every autonomous agent, through reasoning techniques and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leap clearly. In Days 1 and 2, you, the programmer, decided the control flow. Today that decision moves into the model. This is the biggest conceptual jump of the week, so make the contrast explicit and keep it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The first two parts are tools the model uses to think and to plan. ReAct combines them with the tool-use loop from Day 1 into a self-driving agent. Tell them ReAct is the payoff and where most lab time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mechanism matters here, so explain it. The model predicts the next token from all previous tokens. If the reasoning is on the page, it conditions the answer. This is why think-step-by-step helps, and it is the principle that planning and ReAct build on. Do not skip the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and cheapest trick in the toolkit. Modern instruct models often reason by default, but explicitly asking still helps on hard problems, and it makes the reasoning visible so you can debug it. Demo it live in the lab with a word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Then run it again without the think-step-by-step line and compare. On a small local model the difference on multi-step arithmetic is often stark. Point out the last tip: if you need just the number, ask for a fixed final format so you can parse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Self-consistency is chain of thought plus a vote. Sample several reasonings with some randomness, then take the most common final answer. More reliable, but it costs several calls instead of one, so save it for high-stakes questions. The diagram is the same fan-out fan-in shape from Day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one light. Tree of Thoughts is real and powerful, but it is heavy and rarely needed for the agents these students will build. The goal is recognition, not implementation. Reassure them that chain of thought plus a vote handles the vast majority of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reasoning. The headline: thinking is cheap insurance against wrong answers. Caveat them that visible reasoning is not proof of correctness, the model can reason fluently to a wrong conclusion, which is exactly why tools as critic and verification still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is decomposition. Faced with a big fuzzy goal, the model first writes the steps, then tackles them one at a time. This is the same lesson as prompt chaining from Day 1, but now the model writes the chain instead of you. That shift is the theme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Goal in, the model produces a plan, then you execute the steps in order, carrying results forward. Connect it back to chaining from Day 1 so it feels familiar. The new and powerful part is that the plan is generated, not hard-coded.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plan generation. It is a single call that returns steps. The honest limitation, on the right: a fixed plan cannot react if step two reveals something surprising. That sets up ReAct, where planning and acting interleave so the agent can adapt. Use that as the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ends of a spectrum. Static planning is fine for predictable workflows. Dynamic replanning, deciding the next step after seeing each result, is what makes an agent feel intelligent. ReAct is the most common form of dynamic replanning, which is exactly where we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planning. The Day 1 rule still holds: do not plan a task a single prompt solves. Plans should be short and concrete. The biggest weakness of static plans is committing to a wrong early assumption, which dynamic replanning and ReAct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destination of the whole week so far. ReAct interleaves the reasoning from Part 1 with the tool use from Day 1. The model is no longer answering in one shot or following a fixed plan: it decides each next action live, based on what it has observed. Spend real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draw on the board. Thought, Action, Observation, then loop. Tie each box to the agent loop from Day 1: Thought is reason, Action is act, Observation is observe. The new part is that the model decides when it is done and exits the loop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them: ReAct is not a brand new machine, it is the loop they already wrote, with three additions. This makes the lab feel achievable. The mental upgrade is small in code but large in capability: the model now reasons between actions and owns the stopping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how little changed from Day 1: a system prompt that elicits reasoning, a clear done condition, and a step budget. Trace a multi-step run: ask which city is hotter, and the model calls get_weather twice, then calculate, reasoning between each, then answers. That is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keeps ReAct from going off the rails. A vague goal leaves the model unsure when to stop. The step budget is your hard safety net. A progress check, even a simple one, stops an agent from repeating the same failing action. Stress: stopping cleanly and reporting beats looping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Normalise failure, like Day 1. Local models will loop, stop early, and pick wrong tools. The job is a robust loop around an imperfect model: a step budget, a clear goal, good tool descriptions, and small steps. They will hit every one of these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week together. ReAct is the frame that holds everything else: tools are the actions, routing can pick the approach, reflection can check the result. The model reasons, plans, and drives. This is the mental model to carry into the multi-agent and memory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reuse the Day 1 tools. The lab moves from chain of thought, to planning, to a full ReAct loop, ending with a multi-step task and the failure-mode guards. Confirm Ollama and the model are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milestones across two rows. One and two are reasoning, three is planning, four to six build and harden the ReAct loop. Milestone five, the multi-step task, is the moment it clicks: they watch the model reason its way through several tool calls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three parts, then questions. Headline: this is the day the model took the wheel, reasoning, planning, and driving its own loop. Tomorrow we give it memory and the ability to look up real knowledge with retrieval. Send them to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8778240" y="-1920240"/>
            <a:ext cx="5852160" cy="5852160"/>
          </a:xfrm>
          <a:prstGeom prst="ellipse">
            <a:avLst/>
          </a:prstGeom>
          <a:solidFill>
            <a:srgbClr val="13343B"/>
          </a:solidFill>
          <a:ln/>
        </p:spPr>
      </p:sp>
      <p:sp>
        <p:nvSpPr>
          <p:cNvPr id="3" name="Shape 1"/>
          <p:cNvSpPr/>
          <p:nvPr/>
        </p:nvSpPr>
        <p:spPr>
          <a:xfrm>
            <a:off x="10332720" y="3840480"/>
            <a:ext cx="4206240" cy="4206240"/>
          </a:xfrm>
          <a:prstGeom prst="ellipse">
            <a:avLst/>
          </a:prstGeom>
          <a:solidFill>
            <a:srgbClr val="0D9488"/>
          </a:solidFill>
          <a:ln/>
        </p:spPr>
      </p:sp>
      <p:sp>
        <p:nvSpPr>
          <p:cNvPr id="4" name="Shape 2"/>
          <p:cNvSpPr/>
          <p:nvPr/>
        </p:nvSpPr>
        <p:spPr>
          <a:xfrm>
            <a:off x="10332720" y="3840480"/>
            <a:ext cx="4206240" cy="4206240"/>
          </a:xfrm>
          <a:prstGeom prst="ellipse">
            <a:avLst/>
          </a:prstGeom>
          <a:solidFill>
            <a:srgbClr val="0F2A33">
              <a:alpha val="88000"/>
            </a:srgbClr>
          </a:solidFill>
          <a:ln/>
        </p:spPr>
      </p:sp>
      <p:sp>
        <p:nvSpPr>
          <p:cNvPr id="5" name="Shape 3"/>
          <p:cNvSpPr/>
          <p:nvPr/>
        </p:nvSpPr>
        <p:spPr>
          <a:xfrm>
            <a:off x="868680" y="1371600"/>
            <a:ext cx="1051560" cy="105156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42086" y="1645006"/>
            <a:ext cx="504749" cy="504749"/>
          </a:xfrm>
          <a:prstGeom prst="rect">
            <a:avLst/>
          </a:prstGeom>
        </p:spPr>
      </p:pic>
      <p:sp>
        <p:nvSpPr>
          <p:cNvPr id="7" name="Text 4"/>
          <p:cNvSpPr/>
          <p:nvPr/>
        </p:nvSpPr>
        <p:spPr>
          <a:xfrm>
            <a:off x="822960" y="2697480"/>
            <a:ext cx="10058400" cy="1005840"/>
          </a:xfrm>
          <a:prstGeom prst="rect">
            <a:avLst/>
          </a:prstGeom>
          <a:noFill/>
          <a:ln/>
        </p:spPr>
        <p:txBody>
          <a:bodyPr wrap="square" rtlCol="0" anchor="ctr"/>
          <a:lstStyle/>
          <a:p>
            <a:pPr indent="0" marL="0">
              <a:buNone/>
            </a:pPr>
            <a:r>
              <a:rPr lang="en-US" sz="6200" b="1" dirty="0">
                <a:solidFill>
                  <a:srgbClr val="FFFFFF"/>
                </a:solidFill>
                <a:latin typeface="Arial" pitchFamily="34" charset="0"/>
                <a:ea typeface="Arial" pitchFamily="34" charset="-122"/>
                <a:cs typeface="Arial" pitchFamily="34" charset="-120"/>
              </a:rPr>
              <a:t>AGENTIC AI</a:t>
            </a:r>
            <a:endParaRPr lang="en-US" sz="6200" dirty="0"/>
          </a:p>
        </p:txBody>
      </p:sp>
      <p:sp>
        <p:nvSpPr>
          <p:cNvPr id="8" name="Text 5"/>
          <p:cNvSpPr/>
          <p:nvPr/>
        </p:nvSpPr>
        <p:spPr>
          <a:xfrm>
            <a:off x="868680" y="3794760"/>
            <a:ext cx="10698480" cy="548640"/>
          </a:xfrm>
          <a:prstGeom prst="rect">
            <a:avLst/>
          </a:prstGeom>
          <a:noFill/>
          <a:ln/>
        </p:spPr>
        <p:txBody>
          <a:bodyPr wrap="square" rtlCol="0" anchor="ctr"/>
          <a:lstStyle/>
          <a:p>
            <a:pPr indent="0" marL="0">
              <a:buNone/>
            </a:pPr>
            <a:r>
              <a:rPr lang="en-US" sz="2200" dirty="0">
                <a:solidFill>
                  <a:srgbClr val="5EEAD4"/>
                </a:solidFill>
                <a:latin typeface="Arial" pitchFamily="34" charset="0"/>
                <a:ea typeface="Arial" pitchFamily="34" charset="-122"/>
                <a:cs typeface="Arial" pitchFamily="34" charset="-120"/>
              </a:rPr>
              <a:t>Day 3  -  Planning and the ReAct Loop</a:t>
            </a:r>
            <a:endParaRPr lang="en-US" sz="2200" dirty="0"/>
          </a:p>
        </p:txBody>
      </p:sp>
      <p:sp>
        <p:nvSpPr>
          <p:cNvPr id="9" name="Text 6"/>
          <p:cNvSpPr/>
          <p:nvPr/>
        </p:nvSpPr>
        <p:spPr>
          <a:xfrm>
            <a:off x="868680" y="5029200"/>
            <a:ext cx="10698480" cy="822960"/>
          </a:xfrm>
          <a:prstGeom prst="rect">
            <a:avLst/>
          </a:prstGeom>
          <a:noFill/>
          <a:ln/>
        </p:spPr>
        <p:txBody>
          <a:bodyPr wrap="square" rtlCol="0" anchor="ctr"/>
          <a:lstStyle/>
          <a:p>
            <a:pPr indent="0" marL="0">
              <a:buNone/>
            </a:pPr>
            <a:r>
              <a:rPr lang="en-US" sz="1400" dirty="0">
                <a:solidFill>
                  <a:srgbClr val="CBD5E1"/>
                </a:solidFill>
                <a:latin typeface="Arial" pitchFamily="34" charset="0"/>
                <a:ea typeface="Arial" pitchFamily="34" charset="-122"/>
                <a:cs typeface="Arial" pitchFamily="34" charset="-120"/>
              </a:rPr>
              <a:t>Week 5  -  Hands-on Agentic AI</a:t>
            </a:r>
            <a:endParaRPr lang="en-US" sz="1400" dirty="0"/>
          </a:p>
          <a:p>
            <a:pPr indent="0" marL="0">
              <a:buNone/>
            </a:pPr>
            <a:r>
              <a:rPr lang="en-US" sz="1400" dirty="0">
                <a:solidFill>
                  <a:srgbClr val="64748B"/>
                </a:solidFill>
                <a:latin typeface="Arial" pitchFamily="34" charset="0"/>
                <a:ea typeface="Arial" pitchFamily="34" charset="-122"/>
                <a:cs typeface="Arial" pitchFamily="34" charset="-120"/>
              </a:rPr>
              <a:t>Based on  Agentic Design Patterns  by Antonio Gulli, Chapters 6, 11, 17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WHERE WE ARE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Days 1 and 2 in one picture</a:t>
            </a:r>
            <a:endParaRPr lang="en-US" sz="3000" dirty="0"/>
          </a:p>
        </p:txBody>
      </p:sp>
      <p:sp>
        <p:nvSpPr>
          <p:cNvPr id="4" name="Shape 2"/>
          <p:cNvSpPr/>
          <p:nvPr/>
        </p:nvSpPr>
        <p:spPr>
          <a:xfrm>
            <a:off x="1280160" y="1783080"/>
            <a:ext cx="4297680" cy="1554480"/>
          </a:xfrm>
          <a:prstGeom prst="roundRect">
            <a:avLst>
              <a:gd name="adj" fmla="val 4706"/>
            </a:avLst>
          </a:prstGeom>
          <a:solidFill>
            <a:srgbClr val="F1F5F9"/>
          </a:solidFill>
          <a:ln/>
          <a:effectLst>
            <a:outerShdw sx="100000" sy="100000" kx="0" ky="0" algn="bl" rotWithShape="0" blurRad="88900" dist="38100" dir="5400000">
              <a:srgbClr val="0F2A33">
                <a:alpha val="16000"/>
              </a:srgbClr>
            </a:outerShdw>
          </a:effectLst>
        </p:spPr>
      </p:sp>
      <p:sp>
        <p:nvSpPr>
          <p:cNvPr id="5" name="Shape 3"/>
          <p:cNvSpPr/>
          <p:nvPr/>
        </p:nvSpPr>
        <p:spPr>
          <a:xfrm>
            <a:off x="1600200" y="2057400"/>
            <a:ext cx="685800" cy="68580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778508" y="2235708"/>
            <a:ext cx="329184" cy="329184"/>
          </a:xfrm>
          <a:prstGeom prst="rect">
            <a:avLst/>
          </a:prstGeom>
        </p:spPr>
      </p:pic>
      <p:sp>
        <p:nvSpPr>
          <p:cNvPr id="7" name="Text 4"/>
          <p:cNvSpPr/>
          <p:nvPr/>
        </p:nvSpPr>
        <p:spPr>
          <a:xfrm>
            <a:off x="2514600" y="2121408"/>
            <a:ext cx="2743200" cy="411480"/>
          </a:xfrm>
          <a:prstGeom prst="rect">
            <a:avLst/>
          </a:prstGeom>
          <a:noFill/>
          <a:ln/>
        </p:spPr>
        <p:txBody>
          <a:bodyPr wrap="square" lIns="0" tIns="0" rIns="0" bIns="0" rtlCol="0" anchor="ctr"/>
          <a:lstStyle/>
          <a:p>
            <a:pPr indent="0" marL="0">
              <a:buNone/>
            </a:pPr>
            <a:r>
              <a:rPr lang="en-US" sz="1800" b="1" dirty="0">
                <a:solidFill>
                  <a:srgbClr val="1E293B"/>
                </a:solidFill>
                <a:latin typeface="Arial" pitchFamily="34" charset="0"/>
                <a:ea typeface="Arial" pitchFamily="34" charset="-122"/>
                <a:cs typeface="Arial" pitchFamily="34" charset="-120"/>
              </a:rPr>
              <a:t>Day 1</a:t>
            </a:r>
            <a:endParaRPr lang="en-US" sz="1800" dirty="0"/>
          </a:p>
        </p:txBody>
      </p:sp>
      <p:sp>
        <p:nvSpPr>
          <p:cNvPr id="8" name="Text 5"/>
          <p:cNvSpPr/>
          <p:nvPr/>
        </p:nvSpPr>
        <p:spPr>
          <a:xfrm>
            <a:off x="2514600" y="2578608"/>
            <a:ext cx="2834640" cy="64008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the agent loop and tool use</a:t>
            </a:r>
            <a:endParaRPr lang="en-US" sz="1300" dirty="0"/>
          </a:p>
        </p:txBody>
      </p:sp>
      <p:pic>
        <p:nvPicPr>
          <p:cNvPr id="9" name="Image 1" descr="preencoded.png">    </p:cNvPr>
          <p:cNvPicPr>
            <a:picLocks noChangeAspect="1"/>
          </p:cNvPicPr>
          <p:nvPr/>
        </p:nvPicPr>
        <p:blipFill>
          <a:blip r:embed="rId2"/>
          <a:stretch>
            <a:fillRect/>
          </a:stretch>
        </p:blipFill>
        <p:spPr>
          <a:xfrm>
            <a:off x="5029200" y="1920240"/>
            <a:ext cx="310896" cy="310896"/>
          </a:xfrm>
          <a:prstGeom prst="rect">
            <a:avLst/>
          </a:prstGeom>
        </p:spPr>
      </p:pic>
      <p:sp>
        <p:nvSpPr>
          <p:cNvPr id="10" name="Shape 6"/>
          <p:cNvSpPr/>
          <p:nvPr/>
        </p:nvSpPr>
        <p:spPr>
          <a:xfrm>
            <a:off x="5852160" y="1783080"/>
            <a:ext cx="4297680" cy="1554480"/>
          </a:xfrm>
          <a:prstGeom prst="roundRect">
            <a:avLst>
              <a:gd name="adj" fmla="val 4706"/>
            </a:avLst>
          </a:prstGeom>
          <a:solidFill>
            <a:srgbClr val="F1F5F9"/>
          </a:solidFill>
          <a:ln/>
          <a:effectLst>
            <a:outerShdw sx="100000" sy="100000" kx="0" ky="0" algn="bl" rotWithShape="0" blurRad="88900" dist="38100" dir="5400000">
              <a:srgbClr val="0F2A33">
                <a:alpha val="16000"/>
              </a:srgbClr>
            </a:outerShdw>
          </a:effectLst>
        </p:spPr>
      </p:sp>
      <p:sp>
        <p:nvSpPr>
          <p:cNvPr id="11" name="Shape 7"/>
          <p:cNvSpPr/>
          <p:nvPr/>
        </p:nvSpPr>
        <p:spPr>
          <a:xfrm>
            <a:off x="6172200" y="2057400"/>
            <a:ext cx="685800" cy="68580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2" name="Image 2" descr="preencoded.png">    </p:cNvPr>
          <p:cNvPicPr>
            <a:picLocks noChangeAspect="1"/>
          </p:cNvPicPr>
          <p:nvPr/>
        </p:nvPicPr>
        <p:blipFill>
          <a:blip r:embed="rId3"/>
          <a:stretch>
            <a:fillRect/>
          </a:stretch>
        </p:blipFill>
        <p:spPr>
          <a:xfrm>
            <a:off x="6350508" y="2235708"/>
            <a:ext cx="329184" cy="329184"/>
          </a:xfrm>
          <a:prstGeom prst="rect">
            <a:avLst/>
          </a:prstGeom>
        </p:spPr>
      </p:pic>
      <p:sp>
        <p:nvSpPr>
          <p:cNvPr id="13" name="Text 8"/>
          <p:cNvSpPr/>
          <p:nvPr/>
        </p:nvSpPr>
        <p:spPr>
          <a:xfrm>
            <a:off x="7086600" y="2121408"/>
            <a:ext cx="2743200" cy="411480"/>
          </a:xfrm>
          <a:prstGeom prst="rect">
            <a:avLst/>
          </a:prstGeom>
          <a:noFill/>
          <a:ln/>
        </p:spPr>
        <p:txBody>
          <a:bodyPr wrap="square" lIns="0" tIns="0" rIns="0" bIns="0" rtlCol="0" anchor="ctr"/>
          <a:lstStyle/>
          <a:p>
            <a:pPr indent="0" marL="0">
              <a:buNone/>
            </a:pPr>
            <a:r>
              <a:rPr lang="en-US" sz="1800" b="1" dirty="0">
                <a:solidFill>
                  <a:srgbClr val="1E293B"/>
                </a:solidFill>
                <a:latin typeface="Arial" pitchFamily="34" charset="0"/>
                <a:ea typeface="Arial" pitchFamily="34" charset="-122"/>
                <a:cs typeface="Arial" pitchFamily="34" charset="-120"/>
              </a:rPr>
              <a:t>Day 2</a:t>
            </a:r>
            <a:endParaRPr lang="en-US" sz="1800" dirty="0"/>
          </a:p>
        </p:txBody>
      </p:sp>
      <p:sp>
        <p:nvSpPr>
          <p:cNvPr id="14" name="Text 9"/>
          <p:cNvSpPr/>
          <p:nvPr/>
        </p:nvSpPr>
        <p:spPr>
          <a:xfrm>
            <a:off x="7086600" y="2578608"/>
            <a:ext cx="2834640" cy="64008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routing, parallel, reflection</a:t>
            </a:r>
            <a:endParaRPr lang="en-US" sz="1300" dirty="0"/>
          </a:p>
        </p:txBody>
      </p:sp>
      <p:pic>
        <p:nvPicPr>
          <p:cNvPr id="15" name="Image 3" descr="preencoded.png">    </p:cNvPr>
          <p:cNvPicPr>
            <a:picLocks noChangeAspect="1"/>
          </p:cNvPicPr>
          <p:nvPr/>
        </p:nvPicPr>
        <p:blipFill>
          <a:blip r:embed="rId4"/>
          <a:stretch>
            <a:fillRect/>
          </a:stretch>
        </p:blipFill>
        <p:spPr>
          <a:xfrm>
            <a:off x="9601200" y="1920240"/>
            <a:ext cx="310896" cy="310896"/>
          </a:xfrm>
          <a:prstGeom prst="rect">
            <a:avLst/>
          </a:prstGeom>
        </p:spPr>
      </p:pic>
      <p:sp>
        <p:nvSpPr>
          <p:cNvPr id="16" name="Shape 10"/>
          <p:cNvSpPr/>
          <p:nvPr/>
        </p:nvSpPr>
        <p:spPr>
          <a:xfrm>
            <a:off x="6080760" y="3520440"/>
            <a:ext cx="0" cy="502920"/>
          </a:xfrm>
          <a:prstGeom prst="line">
            <a:avLst/>
          </a:prstGeom>
          <a:noFill/>
          <a:ln w="28575">
            <a:solidFill>
              <a:srgbClr val="F59E0B"/>
            </a:solidFill>
            <a:prstDash val="solid"/>
            <a:tailEnd type="triangle"/>
          </a:ln>
        </p:spPr>
      </p:sp>
      <p:sp>
        <p:nvSpPr>
          <p:cNvPr id="17" name="Shape 11"/>
          <p:cNvSpPr/>
          <p:nvPr/>
        </p:nvSpPr>
        <p:spPr>
          <a:xfrm>
            <a:off x="2468880" y="4160520"/>
            <a:ext cx="7223760" cy="1554480"/>
          </a:xfrm>
          <a:prstGeom prst="roundRect">
            <a:avLst>
              <a:gd name="adj" fmla="val 5882"/>
            </a:avLst>
          </a:prstGeom>
          <a:solidFill>
            <a:srgbClr val="0F2A33"/>
          </a:solidFill>
          <a:ln/>
          <a:effectLst>
            <a:outerShdw sx="100000" sy="100000" kx="0" ky="0" algn="bl" rotWithShape="0" blurRad="88900" dist="38100" dir="5400000">
              <a:srgbClr val="0F2A33">
                <a:alpha val="16000"/>
              </a:srgbClr>
            </a:outerShdw>
          </a:effectLst>
        </p:spPr>
      </p:sp>
      <p:sp>
        <p:nvSpPr>
          <p:cNvPr id="18" name="Shape 12"/>
          <p:cNvSpPr/>
          <p:nvPr/>
        </p:nvSpPr>
        <p:spPr>
          <a:xfrm>
            <a:off x="2788920" y="4498848"/>
            <a:ext cx="868680" cy="86868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9" name="Image 4" descr="preencoded.png">    </p:cNvPr>
          <p:cNvPicPr>
            <a:picLocks noChangeAspect="1"/>
          </p:cNvPicPr>
          <p:nvPr/>
        </p:nvPicPr>
        <p:blipFill>
          <a:blip r:embed="rId5"/>
          <a:stretch>
            <a:fillRect/>
          </a:stretch>
        </p:blipFill>
        <p:spPr>
          <a:xfrm>
            <a:off x="3014777" y="4724705"/>
            <a:ext cx="416966" cy="416966"/>
          </a:xfrm>
          <a:prstGeom prst="rect">
            <a:avLst/>
          </a:prstGeom>
        </p:spPr>
      </p:pic>
      <p:sp>
        <p:nvSpPr>
          <p:cNvPr id="20" name="Text 13"/>
          <p:cNvSpPr/>
          <p:nvPr/>
        </p:nvSpPr>
        <p:spPr>
          <a:xfrm>
            <a:off x="3886200" y="4434840"/>
            <a:ext cx="5577840" cy="457200"/>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Today: the model takes the wheel</a:t>
            </a:r>
            <a:endParaRPr lang="en-US" sz="2100" dirty="0"/>
          </a:p>
        </p:txBody>
      </p:sp>
      <p:sp>
        <p:nvSpPr>
          <p:cNvPr id="21" name="Text 14"/>
          <p:cNvSpPr/>
          <p:nvPr/>
        </p:nvSpPr>
        <p:spPr>
          <a:xfrm>
            <a:off x="3886200" y="4937760"/>
            <a:ext cx="5577840" cy="640080"/>
          </a:xfrm>
          <a:prstGeom prst="rect">
            <a:avLst/>
          </a:prstGeom>
          <a:noFill/>
          <a:ln/>
        </p:spPr>
        <p:txBody>
          <a:bodyPr wrap="square" lIns="0" tIns="0" rIns="0" bIns="0" rtlCol="0" anchor="ctr"/>
          <a:lstStyle/>
          <a:p>
            <a:pPr indent="0" marL="0">
              <a:buNone/>
            </a:pPr>
            <a:r>
              <a:rPr lang="en-US" sz="1350" dirty="0">
                <a:solidFill>
                  <a:srgbClr val="5EEAD4"/>
                </a:solidFill>
                <a:latin typeface="Arial" pitchFamily="34" charset="0"/>
                <a:ea typeface="Arial" pitchFamily="34" charset="-122"/>
                <a:cs typeface="Arial" pitchFamily="34" charset="-120"/>
              </a:rPr>
              <a:t>So far you decided the steps. Today the model reasons, plans its own steps, and drives the loop until it is done.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DAY 3 AT A GLANCE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Build up to autonomy in three steps</a:t>
            </a:r>
            <a:endParaRPr lang="en-US" sz="3000" dirty="0"/>
          </a:p>
        </p:txBody>
      </p:sp>
      <p:sp>
        <p:nvSpPr>
          <p:cNvPr id="4" name="Shape 2"/>
          <p:cNvSpPr/>
          <p:nvPr/>
        </p:nvSpPr>
        <p:spPr>
          <a:xfrm>
            <a:off x="640080" y="1783080"/>
            <a:ext cx="10881360" cy="1005840"/>
          </a:xfrm>
          <a:prstGeom prst="roundRect">
            <a:avLst>
              <a:gd name="adj" fmla="val 7273"/>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96112" y="2002536"/>
            <a:ext cx="566928" cy="566928"/>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43513" y="2149937"/>
            <a:ext cx="272125" cy="272125"/>
          </a:xfrm>
          <a:prstGeom prst="rect">
            <a:avLst/>
          </a:prstGeom>
        </p:spPr>
      </p:pic>
      <p:sp>
        <p:nvSpPr>
          <p:cNvPr id="7" name="Text 4"/>
          <p:cNvSpPr/>
          <p:nvPr/>
        </p:nvSpPr>
        <p:spPr>
          <a:xfrm>
            <a:off x="1691640" y="1911096"/>
            <a:ext cx="3017520" cy="411480"/>
          </a:xfrm>
          <a:prstGeom prst="rect">
            <a:avLst/>
          </a:prstGeom>
          <a:noFill/>
          <a:ln/>
        </p:spPr>
        <p:txBody>
          <a:bodyPr wrap="square" lIns="0" tIns="0" rIns="0" bIns="0" rtlCol="0" anchor="ctr"/>
          <a:lstStyle/>
          <a:p>
            <a:pPr indent="0" marL="0">
              <a:buNone/>
            </a:pPr>
            <a:r>
              <a:rPr lang="en-US" sz="1800" b="1" dirty="0">
                <a:solidFill>
                  <a:srgbClr val="1E293B"/>
                </a:solidFill>
                <a:latin typeface="Arial" pitchFamily="34" charset="0"/>
                <a:ea typeface="Arial" pitchFamily="34" charset="-122"/>
                <a:cs typeface="Arial" pitchFamily="34" charset="-120"/>
              </a:rPr>
              <a:t>Reasoning techniques</a:t>
            </a:r>
            <a:endParaRPr lang="en-US" sz="1800" dirty="0"/>
          </a:p>
        </p:txBody>
      </p:sp>
      <p:sp>
        <p:nvSpPr>
          <p:cNvPr id="8" name="Text 5"/>
          <p:cNvSpPr/>
          <p:nvPr/>
        </p:nvSpPr>
        <p:spPr>
          <a:xfrm>
            <a:off x="4754880" y="1911096"/>
            <a:ext cx="6492240" cy="73152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Make the model think before it answers: chain of thought, self-consistency.</a:t>
            </a:r>
            <a:endParaRPr lang="en-US" sz="1350" dirty="0"/>
          </a:p>
        </p:txBody>
      </p:sp>
      <p:sp>
        <p:nvSpPr>
          <p:cNvPr id="9" name="Shape 6"/>
          <p:cNvSpPr/>
          <p:nvPr/>
        </p:nvSpPr>
        <p:spPr>
          <a:xfrm>
            <a:off x="640080" y="2953512"/>
            <a:ext cx="10881360" cy="1005840"/>
          </a:xfrm>
          <a:prstGeom prst="roundRect">
            <a:avLst>
              <a:gd name="adj" fmla="val 7273"/>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896112" y="3172968"/>
            <a:ext cx="566928" cy="566928"/>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1043513" y="3320369"/>
            <a:ext cx="272125" cy="272125"/>
          </a:xfrm>
          <a:prstGeom prst="rect">
            <a:avLst/>
          </a:prstGeom>
        </p:spPr>
      </p:pic>
      <p:sp>
        <p:nvSpPr>
          <p:cNvPr id="12" name="Text 8"/>
          <p:cNvSpPr/>
          <p:nvPr/>
        </p:nvSpPr>
        <p:spPr>
          <a:xfrm>
            <a:off x="1691640" y="3081528"/>
            <a:ext cx="3017520" cy="411480"/>
          </a:xfrm>
          <a:prstGeom prst="rect">
            <a:avLst/>
          </a:prstGeom>
          <a:noFill/>
          <a:ln/>
        </p:spPr>
        <p:txBody>
          <a:bodyPr wrap="square" lIns="0" tIns="0" rIns="0" bIns="0" rtlCol="0" anchor="ctr"/>
          <a:lstStyle/>
          <a:p>
            <a:pPr indent="0" marL="0">
              <a:buNone/>
            </a:pPr>
            <a:r>
              <a:rPr lang="en-US" sz="1800" b="1" dirty="0">
                <a:solidFill>
                  <a:srgbClr val="1E293B"/>
                </a:solidFill>
                <a:latin typeface="Arial" pitchFamily="34" charset="0"/>
                <a:ea typeface="Arial" pitchFamily="34" charset="-122"/>
                <a:cs typeface="Arial" pitchFamily="34" charset="-120"/>
              </a:rPr>
              <a:t>Planning</a:t>
            </a:r>
            <a:endParaRPr lang="en-US" sz="1800" dirty="0"/>
          </a:p>
        </p:txBody>
      </p:sp>
      <p:sp>
        <p:nvSpPr>
          <p:cNvPr id="13" name="Text 9"/>
          <p:cNvSpPr/>
          <p:nvPr/>
        </p:nvSpPr>
        <p:spPr>
          <a:xfrm>
            <a:off x="4754880" y="3081528"/>
            <a:ext cx="6492240" cy="73152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The model breaks a goal into an ordered list of steps it then executes.</a:t>
            </a:r>
            <a:endParaRPr lang="en-US" sz="1350" dirty="0"/>
          </a:p>
        </p:txBody>
      </p:sp>
      <p:sp>
        <p:nvSpPr>
          <p:cNvPr id="14" name="Shape 10"/>
          <p:cNvSpPr/>
          <p:nvPr/>
        </p:nvSpPr>
        <p:spPr>
          <a:xfrm>
            <a:off x="640080" y="4123944"/>
            <a:ext cx="10881360" cy="1005840"/>
          </a:xfrm>
          <a:prstGeom prst="roundRect">
            <a:avLst>
              <a:gd name="adj" fmla="val 7273"/>
            </a:avLst>
          </a:prstGeom>
          <a:solidFill>
            <a:srgbClr val="F0FDFA"/>
          </a:solidFill>
          <a:ln/>
          <a:effectLst>
            <a:outerShdw sx="100000" sy="100000" kx="0" ky="0" algn="bl" rotWithShape="0" blurRad="88900" dist="38100" dir="5400000">
              <a:srgbClr val="0F2A33">
                <a:alpha val="16000"/>
              </a:srgbClr>
            </a:outerShdw>
          </a:effectLst>
        </p:spPr>
      </p:sp>
      <p:sp>
        <p:nvSpPr>
          <p:cNvPr id="15" name="Shape 11"/>
          <p:cNvSpPr/>
          <p:nvPr/>
        </p:nvSpPr>
        <p:spPr>
          <a:xfrm>
            <a:off x="896112" y="4343400"/>
            <a:ext cx="566928" cy="566928"/>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6" name="Image 2" descr="preencoded.png">    </p:cNvPr>
          <p:cNvPicPr>
            <a:picLocks noChangeAspect="1"/>
          </p:cNvPicPr>
          <p:nvPr/>
        </p:nvPicPr>
        <p:blipFill>
          <a:blip r:embed="rId3"/>
          <a:stretch>
            <a:fillRect/>
          </a:stretch>
        </p:blipFill>
        <p:spPr>
          <a:xfrm>
            <a:off x="1043513" y="4490801"/>
            <a:ext cx="272125" cy="272125"/>
          </a:xfrm>
          <a:prstGeom prst="rect">
            <a:avLst/>
          </a:prstGeom>
        </p:spPr>
      </p:pic>
      <p:sp>
        <p:nvSpPr>
          <p:cNvPr id="17" name="Text 12"/>
          <p:cNvSpPr/>
          <p:nvPr/>
        </p:nvSpPr>
        <p:spPr>
          <a:xfrm>
            <a:off x="1691640" y="4251960"/>
            <a:ext cx="3017520" cy="411480"/>
          </a:xfrm>
          <a:prstGeom prst="rect">
            <a:avLst/>
          </a:prstGeom>
          <a:noFill/>
          <a:ln/>
        </p:spPr>
        <p:txBody>
          <a:bodyPr wrap="square" lIns="0" tIns="0" rIns="0" bIns="0" rtlCol="0" anchor="ctr"/>
          <a:lstStyle/>
          <a:p>
            <a:pPr indent="0" marL="0">
              <a:buNone/>
            </a:pPr>
            <a:r>
              <a:rPr lang="en-US" sz="1800" b="1" dirty="0">
                <a:solidFill>
                  <a:srgbClr val="1E293B"/>
                </a:solidFill>
                <a:latin typeface="Arial" pitchFamily="34" charset="0"/>
                <a:ea typeface="Arial" pitchFamily="34" charset="-122"/>
                <a:cs typeface="Arial" pitchFamily="34" charset="-120"/>
              </a:rPr>
              <a:t>ReAct</a:t>
            </a:r>
            <a:endParaRPr lang="en-US" sz="1800" dirty="0"/>
          </a:p>
        </p:txBody>
      </p:sp>
      <p:sp>
        <p:nvSpPr>
          <p:cNvPr id="18" name="Text 13"/>
          <p:cNvSpPr/>
          <p:nvPr/>
        </p:nvSpPr>
        <p:spPr>
          <a:xfrm>
            <a:off x="4754880" y="4251960"/>
            <a:ext cx="6492240" cy="73152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Reason and act in a loop: the model thinks, calls a tool, observes, repeats.</a:t>
            </a:r>
            <a:endParaRPr lang="en-US" sz="1350" dirty="0"/>
          </a:p>
        </p:txBody>
      </p:sp>
      <p:sp>
        <p:nvSpPr>
          <p:cNvPr id="19" name="Text 14"/>
          <p:cNvSpPr/>
          <p:nvPr/>
        </p:nvSpPr>
        <p:spPr>
          <a:xfrm>
            <a:off x="640080" y="5440680"/>
            <a:ext cx="10881360" cy="457200"/>
          </a:xfrm>
          <a:prstGeom prst="rect">
            <a:avLst/>
          </a:prstGeom>
          <a:noFill/>
          <a:ln/>
        </p:spPr>
        <p:txBody>
          <a:bodyPr wrap="square" rtlCol="0" anchor="ctr"/>
          <a:lstStyle/>
          <a:p>
            <a:pPr indent="0" marL="0">
              <a:buNone/>
            </a:pPr>
            <a:r>
              <a:rPr lang="en-US" sz="1400" i="1" dirty="0">
                <a:solidFill>
                  <a:srgbClr val="0D9488"/>
                </a:solidFill>
                <a:latin typeface="Arial" pitchFamily="34" charset="0"/>
                <a:ea typeface="Arial" pitchFamily="34" charset="-122"/>
                <a:cs typeface="Arial" pitchFamily="34" charset="-120"/>
              </a:rPr>
              <a:t>Reasoning and planning are the build-up. ReAct is the destination, and the heart of today.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13343B"/>
          </a:solidFill>
          <a:ln/>
        </p:spPr>
      </p:sp>
      <p:sp>
        <p:nvSpPr>
          <p:cNvPr id="3" name="Shape 1"/>
          <p:cNvSpPr/>
          <p:nvPr/>
        </p:nvSpPr>
        <p:spPr>
          <a:xfrm>
            <a:off x="10607040" y="4206240"/>
            <a:ext cx="3840480" cy="3840480"/>
          </a:xfrm>
          <a:prstGeom prst="ellipse">
            <a:avLst/>
          </a:prstGeom>
          <a:solidFill>
            <a:srgbClr val="13343B"/>
          </a:solidFill>
          <a:ln/>
        </p:spPr>
      </p:sp>
      <p:sp>
        <p:nvSpPr>
          <p:cNvPr id="4" name="Text 2"/>
          <p:cNvSpPr/>
          <p:nvPr/>
        </p:nvSpPr>
        <p:spPr>
          <a:xfrm>
            <a:off x="822960" y="2240280"/>
            <a:ext cx="8229600" cy="365760"/>
          </a:xfrm>
          <a:prstGeom prst="rect">
            <a:avLst/>
          </a:prstGeom>
          <a:noFill/>
          <a:ln/>
        </p:spPr>
        <p:txBody>
          <a:bodyPr wrap="square" rtlCol="0" anchor="ctr"/>
          <a:lstStyle/>
          <a:p>
            <a:pPr indent="0" marL="0">
              <a:buNone/>
            </a:pPr>
            <a:r>
              <a:rPr lang="en-US" sz="1500" b="1" spc="400" kern="0" dirty="0">
                <a:solidFill>
                  <a:srgbClr val="0D9488"/>
                </a:solidFill>
                <a:latin typeface="Arial" pitchFamily="34" charset="0"/>
                <a:ea typeface="Arial" pitchFamily="34" charset="-122"/>
                <a:cs typeface="Arial" pitchFamily="34" charset="-120"/>
              </a:rPr>
              <a:t>PART 1  -  CHAPTER 17</a:t>
            </a:r>
            <a:endParaRPr lang="en-US" sz="1500" dirty="0"/>
          </a:p>
        </p:txBody>
      </p:sp>
      <p:sp>
        <p:nvSpPr>
          <p:cNvPr id="5" name="Text 3"/>
          <p:cNvSpPr/>
          <p:nvPr/>
        </p:nvSpPr>
        <p:spPr>
          <a:xfrm>
            <a:off x="777240" y="2606040"/>
            <a:ext cx="10058400" cy="1371600"/>
          </a:xfrm>
          <a:prstGeom prst="rect">
            <a:avLst/>
          </a:prstGeom>
          <a:noFill/>
          <a:ln/>
        </p:spPr>
        <p:txBody>
          <a:bodyPr wrap="square" rtlCol="0" anchor="ctr"/>
          <a:lstStyle/>
          <a:p>
            <a:pPr indent="0" marL="0">
              <a:buNone/>
            </a:pPr>
            <a:r>
              <a:rPr lang="en-US" sz="4600" b="1" dirty="0">
                <a:solidFill>
                  <a:srgbClr val="FFFFFF"/>
                </a:solidFill>
                <a:latin typeface="Arial" pitchFamily="34" charset="0"/>
                <a:ea typeface="Arial" pitchFamily="34" charset="-122"/>
                <a:cs typeface="Arial" pitchFamily="34" charset="-120"/>
              </a:rPr>
              <a:t>Reasoning Techniques</a:t>
            </a:r>
            <a:endParaRPr lang="en-US" sz="4600" dirty="0"/>
          </a:p>
        </p:txBody>
      </p:sp>
      <p:sp>
        <p:nvSpPr>
          <p:cNvPr id="6" name="Text 4"/>
          <p:cNvSpPr/>
          <p:nvPr/>
        </p:nvSpPr>
        <p:spPr>
          <a:xfrm>
            <a:off x="822960" y="3977640"/>
            <a:ext cx="10058400" cy="457200"/>
          </a:xfrm>
          <a:prstGeom prst="rect">
            <a:avLst/>
          </a:prstGeom>
          <a:noFill/>
          <a:ln/>
        </p:spPr>
        <p:txBody>
          <a:bodyPr wrap="square" rtlCol="0" anchor="ctr"/>
          <a:lstStyle/>
          <a:p>
            <a:pPr indent="0" marL="0">
              <a:buNone/>
            </a:pPr>
            <a:r>
              <a:rPr lang="en-US" sz="1600" i="1" dirty="0">
                <a:solidFill>
                  <a:srgbClr val="5EEAD4"/>
                </a:solidFill>
                <a:latin typeface="Arial" pitchFamily="34" charset="0"/>
                <a:ea typeface="Arial" pitchFamily="34" charset="-122"/>
                <a:cs typeface="Arial" pitchFamily="34" charset="-120"/>
              </a:rPr>
              <a:t>Make the model think before it answers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THE IDEA</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Answers improve when the model shows its working</a:t>
            </a:r>
            <a:endParaRPr lang="en-US" sz="3000" dirty="0"/>
          </a:p>
        </p:txBody>
      </p:sp>
      <p:sp>
        <p:nvSpPr>
          <p:cNvPr id="4" name="Shape 2"/>
          <p:cNvSpPr/>
          <p:nvPr/>
        </p:nvSpPr>
        <p:spPr>
          <a:xfrm>
            <a:off x="640080" y="1783080"/>
            <a:ext cx="5212080" cy="1463040"/>
          </a:xfrm>
          <a:prstGeom prst="roundRect">
            <a:avLst>
              <a:gd name="adj" fmla="val 5625"/>
            </a:avLst>
          </a:prstGeom>
          <a:solidFill>
            <a:srgbClr val="F1F5F9"/>
          </a:solidFill>
          <a:ln/>
          <a:effectLst>
            <a:outerShdw sx="100000" sy="100000" kx="0" ky="0" algn="bl" rotWithShape="0" blurRad="88900" dist="38100" dir="5400000">
              <a:srgbClr val="0F2A33">
                <a:alpha val="16000"/>
              </a:srgbClr>
            </a:outerShdw>
          </a:effectLst>
        </p:spPr>
      </p:sp>
      <p:sp>
        <p:nvSpPr>
          <p:cNvPr id="5" name="Text 3"/>
          <p:cNvSpPr/>
          <p:nvPr/>
        </p:nvSpPr>
        <p:spPr>
          <a:xfrm>
            <a:off x="868680" y="1938528"/>
            <a:ext cx="4754880" cy="365760"/>
          </a:xfrm>
          <a:prstGeom prst="rect">
            <a:avLst/>
          </a:prstGeom>
          <a:noFill/>
          <a:ln/>
        </p:spPr>
        <p:txBody>
          <a:bodyPr wrap="square" lIns="0" tIns="0" rIns="0" bIns="0" rtlCol="0" anchor="ctr"/>
          <a:lstStyle/>
          <a:p>
            <a:pPr indent="0" marL="0">
              <a:buNone/>
            </a:pPr>
            <a:r>
              <a:rPr lang="en-US" sz="1500" b="1" dirty="0">
                <a:solidFill>
                  <a:srgbClr val="64748B"/>
                </a:solidFill>
                <a:latin typeface="Arial" pitchFamily="34" charset="0"/>
                <a:ea typeface="Arial" pitchFamily="34" charset="-122"/>
                <a:cs typeface="Arial" pitchFamily="34" charset="-120"/>
              </a:rPr>
              <a:t>Answer immediately</a:t>
            </a:r>
            <a:endParaRPr lang="en-US" sz="1500" dirty="0"/>
          </a:p>
        </p:txBody>
      </p:sp>
      <p:sp>
        <p:nvSpPr>
          <p:cNvPr id="6" name="Text 4"/>
          <p:cNvSpPr/>
          <p:nvPr/>
        </p:nvSpPr>
        <p:spPr>
          <a:xfrm>
            <a:off x="868680" y="2331720"/>
            <a:ext cx="4800600" cy="822960"/>
          </a:xfrm>
          <a:prstGeom prst="rect">
            <a:avLst/>
          </a:prstGeom>
          <a:noFill/>
          <a:ln/>
        </p:spPr>
        <p:txBody>
          <a:bodyPr wrap="square" lIns="0" tIns="0" rIns="0" bIns="0" rtlCol="0" anchor="ctr"/>
          <a:lstStyle/>
          <a:p>
            <a:pPr indent="0" marL="0">
              <a:buNone/>
            </a:pPr>
            <a:r>
              <a:rPr lang="en-US" sz="1350" i="1" dirty="0">
                <a:solidFill>
                  <a:srgbClr val="1E293B"/>
                </a:solidFill>
                <a:latin typeface="Arial" pitchFamily="34" charset="0"/>
                <a:ea typeface="Arial" pitchFamily="34" charset="-122"/>
                <a:cs typeface="Arial" pitchFamily="34" charset="-120"/>
              </a:rPr>
              <a:t>The model blurts the first thing. On anything multi-step, it often guesses wrong.</a:t>
            </a:r>
            <a:endParaRPr lang="en-US" sz="1350" dirty="0"/>
          </a:p>
        </p:txBody>
      </p:sp>
      <p:sp>
        <p:nvSpPr>
          <p:cNvPr id="7" name="Shape 5"/>
          <p:cNvSpPr/>
          <p:nvPr/>
        </p:nvSpPr>
        <p:spPr>
          <a:xfrm>
            <a:off x="6309360" y="1783080"/>
            <a:ext cx="5212080" cy="1463040"/>
          </a:xfrm>
          <a:prstGeom prst="roundRect">
            <a:avLst>
              <a:gd name="adj" fmla="val 5625"/>
            </a:avLst>
          </a:prstGeom>
          <a:solidFill>
            <a:srgbClr val="0F2A33"/>
          </a:solidFill>
          <a:ln/>
          <a:effectLst>
            <a:outerShdw sx="100000" sy="100000" kx="0" ky="0" algn="bl" rotWithShape="0" blurRad="88900" dist="38100" dir="5400000">
              <a:srgbClr val="0F2A33">
                <a:alpha val="16000"/>
              </a:srgbClr>
            </a:outerShdw>
          </a:effectLst>
        </p:spPr>
      </p:sp>
      <p:sp>
        <p:nvSpPr>
          <p:cNvPr id="8" name="Text 6"/>
          <p:cNvSpPr/>
          <p:nvPr/>
        </p:nvSpPr>
        <p:spPr>
          <a:xfrm>
            <a:off x="6537960" y="1938528"/>
            <a:ext cx="4754880" cy="365760"/>
          </a:xfrm>
          <a:prstGeom prst="rect">
            <a:avLst/>
          </a:prstGeom>
          <a:noFill/>
          <a:ln/>
        </p:spPr>
        <p:txBody>
          <a:bodyPr wrap="square" lIns="0" tIns="0" rIns="0" bIns="0" rtlCol="0" anchor="ctr"/>
          <a:lstStyle/>
          <a:p>
            <a:pPr indent="0" marL="0">
              <a:buNone/>
            </a:pPr>
            <a:r>
              <a:rPr lang="en-US" sz="1500" b="1" dirty="0">
                <a:solidFill>
                  <a:srgbClr val="5EEAD4"/>
                </a:solidFill>
                <a:latin typeface="Arial" pitchFamily="34" charset="0"/>
                <a:ea typeface="Arial" pitchFamily="34" charset="-122"/>
                <a:cs typeface="Arial" pitchFamily="34" charset="-120"/>
              </a:rPr>
              <a:t>Reason, then answer</a:t>
            </a:r>
            <a:endParaRPr lang="en-US" sz="1500" dirty="0"/>
          </a:p>
        </p:txBody>
      </p:sp>
      <p:sp>
        <p:nvSpPr>
          <p:cNvPr id="9" name="Text 7"/>
          <p:cNvSpPr/>
          <p:nvPr/>
        </p:nvSpPr>
        <p:spPr>
          <a:xfrm>
            <a:off x="6537960" y="2331720"/>
            <a:ext cx="4800600" cy="822960"/>
          </a:xfrm>
          <a:prstGeom prst="rect">
            <a:avLst/>
          </a:prstGeom>
          <a:noFill/>
          <a:ln/>
        </p:spPr>
        <p:txBody>
          <a:bodyPr wrap="square" lIns="0" tIns="0" rIns="0" bIns="0" rtlCol="0" anchor="ctr"/>
          <a:lstStyle/>
          <a:p>
            <a:pPr indent="0" marL="0">
              <a:buNone/>
            </a:pPr>
            <a:r>
              <a:rPr lang="en-US" sz="1350" i="1" dirty="0">
                <a:solidFill>
                  <a:srgbClr val="FFFFFF"/>
                </a:solidFill>
                <a:latin typeface="Arial" pitchFamily="34" charset="0"/>
                <a:ea typeface="Arial" pitchFamily="34" charset="-122"/>
                <a:cs typeface="Arial" pitchFamily="34" charset="-120"/>
              </a:rPr>
              <a:t>Ask it to work through the steps first. Laying out the reasoning makes the final answer far more reliable.</a:t>
            </a:r>
            <a:endParaRPr lang="en-US" sz="1350" dirty="0"/>
          </a:p>
        </p:txBody>
      </p:sp>
      <p:sp>
        <p:nvSpPr>
          <p:cNvPr id="10" name="Shape 8"/>
          <p:cNvSpPr/>
          <p:nvPr/>
        </p:nvSpPr>
        <p:spPr>
          <a:xfrm>
            <a:off x="640080" y="3611880"/>
            <a:ext cx="10881360" cy="1920240"/>
          </a:xfrm>
          <a:prstGeom prst="roundRect">
            <a:avLst>
              <a:gd name="adj" fmla="val 4286"/>
            </a:avLst>
          </a:prstGeom>
          <a:solidFill>
            <a:srgbClr val="F0FDFA"/>
          </a:solidFill>
          <a:ln/>
          <a:effectLst>
            <a:outerShdw sx="100000" sy="100000" kx="0" ky="0" algn="bl" rotWithShape="0" blurRad="88900" dist="38100" dir="5400000">
              <a:srgbClr val="0F2A33">
                <a:alpha val="16000"/>
              </a:srgbClr>
            </a:outerShdw>
          </a:effectLst>
        </p:spPr>
      </p:sp>
      <p:sp>
        <p:nvSpPr>
          <p:cNvPr id="11" name="Shape 9"/>
          <p:cNvSpPr/>
          <p:nvPr/>
        </p:nvSpPr>
        <p:spPr>
          <a:xfrm>
            <a:off x="914400" y="4069080"/>
            <a:ext cx="822960" cy="82296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2" name="Image 0" descr="preencoded.png">    </p:cNvPr>
          <p:cNvPicPr>
            <a:picLocks noChangeAspect="1"/>
          </p:cNvPicPr>
          <p:nvPr/>
        </p:nvPicPr>
        <p:blipFill>
          <a:blip r:embed="rId1"/>
          <a:stretch>
            <a:fillRect/>
          </a:stretch>
        </p:blipFill>
        <p:spPr>
          <a:xfrm>
            <a:off x="1128370" y="4283050"/>
            <a:ext cx="395021" cy="395021"/>
          </a:xfrm>
          <a:prstGeom prst="rect">
            <a:avLst/>
          </a:prstGeom>
        </p:spPr>
      </p:pic>
      <p:sp>
        <p:nvSpPr>
          <p:cNvPr id="13" name="Text 10"/>
          <p:cNvSpPr/>
          <p:nvPr/>
        </p:nvSpPr>
        <p:spPr>
          <a:xfrm>
            <a:off x="1965960" y="3886200"/>
            <a:ext cx="9144000" cy="411480"/>
          </a:xfrm>
          <a:prstGeom prst="rect">
            <a:avLst/>
          </a:prstGeom>
          <a:noFill/>
          <a:ln/>
        </p:spPr>
        <p:txBody>
          <a:bodyPr wrap="square" lIns="0" tIns="0" rIns="0" bIns="0" rtlCol="0" anchor="ctr"/>
          <a:lstStyle/>
          <a:p>
            <a:pPr indent="0" marL="0">
              <a:buNone/>
            </a:pPr>
            <a:r>
              <a:rPr lang="en-US" sz="1800" b="1" dirty="0">
                <a:solidFill>
                  <a:srgbClr val="0D9488"/>
                </a:solidFill>
                <a:latin typeface="Arial" pitchFamily="34" charset="0"/>
                <a:ea typeface="Arial" pitchFamily="34" charset="-122"/>
                <a:cs typeface="Arial" pitchFamily="34" charset="-120"/>
              </a:rPr>
              <a:t>Why this works</a:t>
            </a:r>
            <a:endParaRPr lang="en-US" sz="1800" dirty="0"/>
          </a:p>
        </p:txBody>
      </p:sp>
      <p:sp>
        <p:nvSpPr>
          <p:cNvPr id="14" name="Text 11"/>
          <p:cNvSpPr/>
          <p:nvPr/>
        </p:nvSpPr>
        <p:spPr>
          <a:xfrm>
            <a:off x="1965960" y="4343400"/>
            <a:ext cx="9235440" cy="1097280"/>
          </a:xfrm>
          <a:prstGeom prst="rect">
            <a:avLst/>
          </a:prstGeom>
          <a:noFill/>
          <a:ln/>
        </p:spPr>
        <p:txBody>
          <a:bodyPr wrap="square" lIns="0" tIns="0" rIns="0" bIns="0" rtlCol="0" anchor="ctr"/>
          <a:lstStyle/>
          <a:p>
            <a:pPr indent="0" marL="0">
              <a:buNone/>
            </a:pPr>
            <a:r>
              <a:rPr lang="en-US" sz="1450" dirty="0">
                <a:solidFill>
                  <a:srgbClr val="1E293B"/>
                </a:solidFill>
                <a:latin typeface="Arial" pitchFamily="34" charset="0"/>
                <a:ea typeface="Arial" pitchFamily="34" charset="-122"/>
                <a:cs typeface="Arial" pitchFamily="34" charset="-120"/>
              </a:rPr>
              <a:t>A model generates one token at a time, using everything before it. When it writes out the reasoning, those words become context that guides the next words. It is literally thinking on the page. This is the foundation under planning and ReAct: both are reasoning, structured.</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CHAIN OF THOUGHT</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Four words that boost accuracy: think step by step</a:t>
            </a:r>
            <a:endParaRPr lang="en-US" sz="3000" dirty="0"/>
          </a:p>
        </p:txBody>
      </p:sp>
      <p:sp>
        <p:nvSpPr>
          <p:cNvPr id="4" name="Shape 2"/>
          <p:cNvSpPr/>
          <p:nvPr/>
        </p:nvSpPr>
        <p:spPr>
          <a:xfrm>
            <a:off x="640080" y="1783080"/>
            <a:ext cx="10881360" cy="1097280"/>
          </a:xfrm>
          <a:prstGeom prst="roundRect">
            <a:avLst>
              <a:gd name="adj" fmla="val 7500"/>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1993392"/>
            <a:ext cx="713232" cy="713232"/>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99840" y="2178832"/>
            <a:ext cx="342351" cy="342351"/>
          </a:xfrm>
          <a:prstGeom prst="rect">
            <a:avLst/>
          </a:prstGeom>
        </p:spPr>
      </p:pic>
      <p:sp>
        <p:nvSpPr>
          <p:cNvPr id="7" name="Text 4"/>
          <p:cNvSpPr/>
          <p:nvPr/>
        </p:nvSpPr>
        <p:spPr>
          <a:xfrm>
            <a:off x="1874520" y="1874520"/>
            <a:ext cx="9418320" cy="914400"/>
          </a:xfrm>
          <a:prstGeom prst="rect">
            <a:avLst/>
          </a:prstGeom>
          <a:noFill/>
          <a:ln/>
        </p:spPr>
        <p:txBody>
          <a:bodyPr wrap="square" lIns="0" tIns="0" rIns="0" bIns="0" rtlCol="0" anchor="ctr"/>
          <a:lstStyle/>
          <a:p>
            <a:pPr indent="0" marL="0">
              <a:buNone/>
            </a:pPr>
            <a:r>
              <a:rPr lang="en-US" sz="1600" b="1" dirty="0">
                <a:solidFill>
                  <a:srgbClr val="5EEAD4"/>
                </a:solidFill>
                <a:latin typeface="Arial" pitchFamily="34" charset="0"/>
                <a:ea typeface="Arial" pitchFamily="34" charset="-122"/>
                <a:cs typeface="Arial" pitchFamily="34" charset="-120"/>
              </a:rPr>
              <a:t>Chain of Thought </a:t>
            </a:r>
            <a:pPr indent="0" marL="0">
              <a:buNone/>
            </a:pPr>
            <a:r>
              <a:rPr lang="en-US" sz="1600" dirty="0">
                <a:solidFill>
                  <a:srgbClr val="FFFFFF"/>
                </a:solidFill>
                <a:latin typeface="Arial" pitchFamily="34" charset="0"/>
                <a:ea typeface="Arial" pitchFamily="34" charset="-122"/>
                <a:cs typeface="Arial" pitchFamily="34" charset="-120"/>
              </a:rPr>
              <a:t>means asking the model to reason through the steps before stating an answer, instead of jumping straight to it.</a:t>
            </a:r>
            <a:endParaRPr lang="en-US" sz="1600" dirty="0"/>
          </a:p>
        </p:txBody>
      </p:sp>
      <p:sp>
        <p:nvSpPr>
          <p:cNvPr id="8" name="Shape 5"/>
          <p:cNvSpPr/>
          <p:nvPr/>
        </p:nvSpPr>
        <p:spPr>
          <a:xfrm>
            <a:off x="640080" y="3154680"/>
            <a:ext cx="10881360" cy="713232"/>
          </a:xfrm>
          <a:prstGeom prst="roundRect">
            <a:avLst>
              <a:gd name="adj" fmla="val 8974"/>
            </a:avLst>
          </a:prstGeom>
          <a:solidFill>
            <a:srgbClr val="F1F5F9"/>
          </a:solidFill>
          <a:ln/>
          <a:effectLst>
            <a:outerShdw sx="100000" sy="100000" kx="0" ky="0" algn="bl" rotWithShape="0" blurRad="88900" dist="38100" dir="5400000">
              <a:srgbClr val="0F2A33">
                <a:alpha val="16000"/>
              </a:srgbClr>
            </a:outerShdw>
          </a:effectLst>
        </p:spPr>
      </p:sp>
      <p:sp>
        <p:nvSpPr>
          <p:cNvPr id="9" name="Text 6"/>
          <p:cNvSpPr/>
          <p:nvPr/>
        </p:nvSpPr>
        <p:spPr>
          <a:xfrm>
            <a:off x="914400" y="3154680"/>
            <a:ext cx="3017520" cy="713232"/>
          </a:xfrm>
          <a:prstGeom prst="rect">
            <a:avLst/>
          </a:prstGeom>
          <a:noFill/>
          <a:ln/>
        </p:spPr>
        <p:txBody>
          <a:bodyPr wrap="square" lIns="0" tIns="0" rIns="0" bIns="0" rtlCol="0" anchor="ctr"/>
          <a:lstStyle/>
          <a:p>
            <a:pPr indent="0" marL="0">
              <a:buNone/>
            </a:pPr>
            <a:r>
              <a:rPr lang="en-US" sz="1550" b="1" dirty="0">
                <a:solidFill>
                  <a:srgbClr val="0D9488"/>
                </a:solidFill>
                <a:latin typeface="Arial" pitchFamily="34" charset="0"/>
                <a:ea typeface="Arial" pitchFamily="34" charset="-122"/>
                <a:cs typeface="Arial" pitchFamily="34" charset="-120"/>
              </a:rPr>
              <a:t>Spell out steps</a:t>
            </a:r>
            <a:endParaRPr lang="en-US" sz="1550" dirty="0"/>
          </a:p>
        </p:txBody>
      </p:sp>
      <p:sp>
        <p:nvSpPr>
          <p:cNvPr id="10" name="Text 7"/>
          <p:cNvSpPr/>
          <p:nvPr/>
        </p:nvSpPr>
        <p:spPr>
          <a:xfrm>
            <a:off x="4023360" y="3154680"/>
            <a:ext cx="7315200" cy="713232"/>
          </a:xfrm>
          <a:prstGeom prst="rect">
            <a:avLst/>
          </a:prstGeom>
          <a:noFill/>
          <a:ln/>
        </p:spPr>
        <p:txBody>
          <a:bodyPr wrap="square" lIns="0" tIns="0" rIns="0" bIns="0" rtlCol="0" anchor="ctr"/>
          <a:lstStyle/>
          <a:p>
            <a:pPr indent="0" marL="0">
              <a:buNone/>
            </a:pPr>
            <a:r>
              <a:rPr lang="en-US" sz="1350" dirty="0">
                <a:solidFill>
                  <a:srgbClr val="1E293B"/>
                </a:solidFill>
                <a:latin typeface="Arial" pitchFamily="34" charset="0"/>
                <a:ea typeface="Arial" pitchFamily="34" charset="-122"/>
                <a:cs typeface="Arial" pitchFamily="34" charset="-120"/>
              </a:rPr>
              <a:t>Add think step by step, or ask it to show its working.</a:t>
            </a:r>
            <a:endParaRPr lang="en-US" sz="1350" dirty="0"/>
          </a:p>
        </p:txBody>
      </p:sp>
      <p:sp>
        <p:nvSpPr>
          <p:cNvPr id="11" name="Shape 8"/>
          <p:cNvSpPr/>
          <p:nvPr/>
        </p:nvSpPr>
        <p:spPr>
          <a:xfrm>
            <a:off x="640080" y="3977640"/>
            <a:ext cx="10881360" cy="713232"/>
          </a:xfrm>
          <a:prstGeom prst="roundRect">
            <a:avLst>
              <a:gd name="adj" fmla="val 8974"/>
            </a:avLst>
          </a:prstGeom>
          <a:solidFill>
            <a:srgbClr val="F0FDFA"/>
          </a:solidFill>
          <a:ln/>
          <a:effectLst>
            <a:outerShdw sx="100000" sy="100000" kx="0" ky="0" algn="bl" rotWithShape="0" blurRad="88900" dist="38100" dir="5400000">
              <a:srgbClr val="0F2A33">
                <a:alpha val="16000"/>
              </a:srgbClr>
            </a:outerShdw>
          </a:effectLst>
        </p:spPr>
      </p:sp>
      <p:sp>
        <p:nvSpPr>
          <p:cNvPr id="12" name="Text 9"/>
          <p:cNvSpPr/>
          <p:nvPr/>
        </p:nvSpPr>
        <p:spPr>
          <a:xfrm>
            <a:off x="914400" y="3977640"/>
            <a:ext cx="3017520" cy="713232"/>
          </a:xfrm>
          <a:prstGeom prst="rect">
            <a:avLst/>
          </a:prstGeom>
          <a:noFill/>
          <a:ln/>
        </p:spPr>
        <p:txBody>
          <a:bodyPr wrap="square" lIns="0" tIns="0" rIns="0" bIns="0" rtlCol="0" anchor="ctr"/>
          <a:lstStyle/>
          <a:p>
            <a:pPr indent="0" marL="0">
              <a:buNone/>
            </a:pPr>
            <a:r>
              <a:rPr lang="en-US" sz="1550" b="1" dirty="0">
                <a:solidFill>
                  <a:srgbClr val="0D9488"/>
                </a:solidFill>
                <a:latin typeface="Arial" pitchFamily="34" charset="0"/>
                <a:ea typeface="Arial" pitchFamily="34" charset="-122"/>
                <a:cs typeface="Arial" pitchFamily="34" charset="-120"/>
              </a:rPr>
              <a:t>Great for</a:t>
            </a:r>
            <a:endParaRPr lang="en-US" sz="1550" dirty="0"/>
          </a:p>
        </p:txBody>
      </p:sp>
      <p:sp>
        <p:nvSpPr>
          <p:cNvPr id="13" name="Text 10"/>
          <p:cNvSpPr/>
          <p:nvPr/>
        </p:nvSpPr>
        <p:spPr>
          <a:xfrm>
            <a:off x="4023360" y="3977640"/>
            <a:ext cx="7315200" cy="713232"/>
          </a:xfrm>
          <a:prstGeom prst="rect">
            <a:avLst/>
          </a:prstGeom>
          <a:noFill/>
          <a:ln/>
        </p:spPr>
        <p:txBody>
          <a:bodyPr wrap="square" lIns="0" tIns="0" rIns="0" bIns="0" rtlCol="0" anchor="ctr"/>
          <a:lstStyle/>
          <a:p>
            <a:pPr indent="0" marL="0">
              <a:buNone/>
            </a:pPr>
            <a:r>
              <a:rPr lang="en-US" sz="1350" dirty="0">
                <a:solidFill>
                  <a:srgbClr val="1E293B"/>
                </a:solidFill>
                <a:latin typeface="Arial" pitchFamily="34" charset="0"/>
                <a:ea typeface="Arial" pitchFamily="34" charset="-122"/>
                <a:cs typeface="Arial" pitchFamily="34" charset="-120"/>
              </a:rPr>
              <a:t>Maths, logic, multi-part questions, anything with intermediate steps.</a:t>
            </a:r>
            <a:endParaRPr lang="en-US" sz="1350" dirty="0"/>
          </a:p>
        </p:txBody>
      </p:sp>
      <p:sp>
        <p:nvSpPr>
          <p:cNvPr id="14" name="Shape 11"/>
          <p:cNvSpPr/>
          <p:nvPr/>
        </p:nvSpPr>
        <p:spPr>
          <a:xfrm>
            <a:off x="640080" y="4800600"/>
            <a:ext cx="10881360" cy="713232"/>
          </a:xfrm>
          <a:prstGeom prst="roundRect">
            <a:avLst>
              <a:gd name="adj" fmla="val 8974"/>
            </a:avLst>
          </a:prstGeom>
          <a:solidFill>
            <a:srgbClr val="F1F5F9"/>
          </a:solidFill>
          <a:ln/>
          <a:effectLst>
            <a:outerShdw sx="100000" sy="100000" kx="0" ky="0" algn="bl" rotWithShape="0" blurRad="88900" dist="38100" dir="5400000">
              <a:srgbClr val="0F2A33">
                <a:alpha val="16000"/>
              </a:srgbClr>
            </a:outerShdw>
          </a:effectLst>
        </p:spPr>
      </p:sp>
      <p:sp>
        <p:nvSpPr>
          <p:cNvPr id="15" name="Text 12"/>
          <p:cNvSpPr/>
          <p:nvPr/>
        </p:nvSpPr>
        <p:spPr>
          <a:xfrm>
            <a:off x="914400" y="4800600"/>
            <a:ext cx="3017520" cy="713232"/>
          </a:xfrm>
          <a:prstGeom prst="rect">
            <a:avLst/>
          </a:prstGeom>
          <a:noFill/>
          <a:ln/>
        </p:spPr>
        <p:txBody>
          <a:bodyPr wrap="square" lIns="0" tIns="0" rIns="0" bIns="0" rtlCol="0" anchor="ctr"/>
          <a:lstStyle/>
          <a:p>
            <a:pPr indent="0" marL="0">
              <a:buNone/>
            </a:pPr>
            <a:r>
              <a:rPr lang="en-US" sz="1550" b="1" dirty="0">
                <a:solidFill>
                  <a:srgbClr val="0D9488"/>
                </a:solidFill>
                <a:latin typeface="Arial" pitchFamily="34" charset="0"/>
                <a:ea typeface="Arial" pitchFamily="34" charset="-122"/>
                <a:cs typeface="Arial" pitchFamily="34" charset="-120"/>
              </a:rPr>
              <a:t>The cost</a:t>
            </a:r>
            <a:endParaRPr lang="en-US" sz="1550" dirty="0"/>
          </a:p>
        </p:txBody>
      </p:sp>
      <p:sp>
        <p:nvSpPr>
          <p:cNvPr id="16" name="Text 13"/>
          <p:cNvSpPr/>
          <p:nvPr/>
        </p:nvSpPr>
        <p:spPr>
          <a:xfrm>
            <a:off x="4023360" y="4800600"/>
            <a:ext cx="7315200" cy="713232"/>
          </a:xfrm>
          <a:prstGeom prst="rect">
            <a:avLst/>
          </a:prstGeom>
          <a:noFill/>
          <a:ln/>
        </p:spPr>
        <p:txBody>
          <a:bodyPr wrap="square" lIns="0" tIns="0" rIns="0" bIns="0" rtlCol="0" anchor="ctr"/>
          <a:lstStyle/>
          <a:p>
            <a:pPr indent="0" marL="0">
              <a:buNone/>
            </a:pPr>
            <a:r>
              <a:rPr lang="en-US" sz="1350" dirty="0">
                <a:solidFill>
                  <a:srgbClr val="1E293B"/>
                </a:solidFill>
                <a:latin typeface="Arial" pitchFamily="34" charset="0"/>
                <a:ea typeface="Arial" pitchFamily="34" charset="-122"/>
                <a:cs typeface="Arial" pitchFamily="34" charset="-120"/>
              </a:rPr>
              <a:t>Longer output, so a little slower and a few more tokens. Usually well worth it.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CHAIN OF THOUGHT  -  CODE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Ask for the steps, then the answer</a:t>
            </a:r>
            <a:endParaRPr lang="en-US" sz="3000" dirty="0"/>
          </a:p>
        </p:txBody>
      </p:sp>
      <p:sp>
        <p:nvSpPr>
          <p:cNvPr id="4" name="Shape 2"/>
          <p:cNvSpPr/>
          <p:nvPr/>
        </p:nvSpPr>
        <p:spPr>
          <a:xfrm>
            <a:off x="640080" y="1737360"/>
            <a:ext cx="7498080" cy="4023360"/>
          </a:xfrm>
          <a:prstGeom prst="roundRect">
            <a:avLst>
              <a:gd name="adj" fmla="val 1364"/>
            </a:avLst>
          </a:prstGeom>
          <a:solidFill>
            <a:srgbClr val="0B2229"/>
          </a:solidFill>
          <a:ln/>
          <a:effectLst>
            <a:outerShdw sx="100000" sy="100000" kx="0" ky="0" algn="bl" rotWithShape="0" blurRad="88900" dist="38100" dir="5400000">
              <a:srgbClr val="0F2A33">
                <a:alpha val="16000"/>
              </a:srgbClr>
            </a:outerShdw>
          </a:effectLst>
        </p:spPr>
      </p:sp>
      <p:sp>
        <p:nvSpPr>
          <p:cNvPr id="5" name="Text 3"/>
          <p:cNvSpPr/>
          <p:nvPr/>
        </p:nvSpPr>
        <p:spPr>
          <a:xfrm>
            <a:off x="841248" y="1883664"/>
            <a:ext cx="7095744" cy="3730752"/>
          </a:xfrm>
          <a:prstGeom prst="rect">
            <a:avLst/>
          </a:prstGeom>
          <a:noFill/>
          <a:ln/>
        </p:spPr>
        <p:txBody>
          <a:bodyPr wrap="square" lIns="0" tIns="0" rIns="0" bIns="0" rtlCol="0" anchor="t"/>
          <a:lstStyle/>
          <a:p>
            <a:pPr indent="0" marL="0">
              <a:lnSpc>
                <a:spcPct val="106000"/>
              </a:lnSpc>
              <a:buNone/>
            </a:pPr>
            <a:r>
              <a:rPr lang="en-US" sz="1250" dirty="0">
                <a:solidFill>
                  <a:srgbClr val="5EEAD4"/>
                </a:solidFill>
                <a:latin typeface="Courier New" pitchFamily="34" charset="0"/>
                <a:ea typeface="Courier New" pitchFamily="34" charset="-122"/>
                <a:cs typeface="Courier New" pitchFamily="34" charset="-120"/>
              </a:rPr>
              <a:t>import </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ollama</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7DD3C8"/>
                </a:solidFill>
                <a:latin typeface="Courier New" pitchFamily="34" charset="0"/>
                <a:ea typeface="Courier New" pitchFamily="34" charset="-122"/>
                <a:cs typeface="Courier New" pitchFamily="34" charset="-120"/>
              </a:rPr>
              <a:t># a small word problem that trips up a snap answer</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prompt = (</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"A shop sells pens at 12 rupees each. "</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"I buy 7 and pay with a 100 note. "</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"What is my change? "</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"Think step by step, then give the final answer."</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r = ollama.chat(MODEL,</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messages=[{</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"role"</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"user"</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"content"</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:prompt}])</a:t>
            </a:r>
            <a:endParaRPr lang="en-US" sz="1250" dirty="0"/>
          </a:p>
          <a:p>
            <a:pPr indent="0" marL="0">
              <a:lnSpc>
                <a:spcPct val="106000"/>
              </a:lnSpc>
              <a:buNone/>
            </a:pPr>
            <a:r>
              <a:rPr lang="en-US" sz="1250" dirty="0">
                <a:solidFill>
                  <a:srgbClr val="5EEAD4"/>
                </a:solidFill>
                <a:latin typeface="Courier New" pitchFamily="34" charset="0"/>
                <a:ea typeface="Courier New" pitchFamily="34" charset="-122"/>
                <a:cs typeface="Courier New" pitchFamily="34" charset="-120"/>
              </a:rPr>
              <a:t>print</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(r.message.content)</a:t>
            </a:r>
            <a:pPr indent="0" marL="0">
              <a:lnSpc>
                <a:spcPct val="106000"/>
              </a:lnSpc>
              <a:buNone/>
            </a:pPr>
            <a:r>
              <a:rPr lang="en-US" sz="1250" dirty="0">
                <a:solidFill>
                  <a:srgbClr val="7DD3C8"/>
                </a:solidFill>
                <a:latin typeface="Courier New" pitchFamily="34" charset="0"/>
                <a:ea typeface="Courier New" pitchFamily="34" charset="-122"/>
                <a:cs typeface="Courier New" pitchFamily="34" charset="-120"/>
              </a:rPr>
              <a:t>  # shows the working, then the change</a:t>
            </a:r>
            <a:endParaRPr lang="en-US" sz="1250" dirty="0"/>
          </a:p>
        </p:txBody>
      </p:sp>
      <p:sp>
        <p:nvSpPr>
          <p:cNvPr id="6" name="Shape 4"/>
          <p:cNvSpPr/>
          <p:nvPr/>
        </p:nvSpPr>
        <p:spPr>
          <a:xfrm>
            <a:off x="8366760" y="1737360"/>
            <a:ext cx="3154680" cy="4023360"/>
          </a:xfrm>
          <a:prstGeom prst="roundRect">
            <a:avLst>
              <a:gd name="adj" fmla="val 2609"/>
            </a:avLst>
          </a:prstGeom>
          <a:solidFill>
            <a:srgbClr val="F0FDFA"/>
          </a:solidFill>
          <a:ln/>
          <a:effectLst>
            <a:outerShdw sx="100000" sy="100000" kx="0" ky="0" algn="bl" rotWithShape="0" blurRad="88900" dist="38100" dir="5400000">
              <a:srgbClr val="0F2A33">
                <a:alpha val="16000"/>
              </a:srgbClr>
            </a:outerShdw>
          </a:effectLst>
        </p:spPr>
      </p:sp>
      <p:sp>
        <p:nvSpPr>
          <p:cNvPr id="7" name="Text 5"/>
          <p:cNvSpPr/>
          <p:nvPr/>
        </p:nvSpPr>
        <p:spPr>
          <a:xfrm>
            <a:off x="8595360" y="1920240"/>
            <a:ext cx="2743200" cy="365760"/>
          </a:xfrm>
          <a:prstGeom prst="rect">
            <a:avLst/>
          </a:prstGeom>
          <a:noFill/>
          <a:ln/>
        </p:spPr>
        <p:txBody>
          <a:bodyPr wrap="square" lIns="0" tIns="0" rIns="0" bIns="0" rtlCol="0" anchor="ctr"/>
          <a:lstStyle/>
          <a:p>
            <a:pPr indent="0" marL="0">
              <a:buNone/>
            </a:pPr>
            <a:r>
              <a:rPr lang="en-US" sz="1600" b="1" dirty="0">
                <a:solidFill>
                  <a:srgbClr val="0D9488"/>
                </a:solidFill>
                <a:latin typeface="Arial" pitchFamily="34" charset="0"/>
                <a:ea typeface="Arial" pitchFamily="34" charset="-122"/>
                <a:cs typeface="Arial" pitchFamily="34" charset="-120"/>
              </a:rPr>
              <a:t>Notice</a:t>
            </a:r>
            <a:endParaRPr lang="en-US" sz="1600" dirty="0"/>
          </a:p>
        </p:txBody>
      </p:sp>
      <p:sp>
        <p:nvSpPr>
          <p:cNvPr id="8" name="Text 6"/>
          <p:cNvSpPr/>
          <p:nvPr/>
        </p:nvSpPr>
        <p:spPr>
          <a:xfrm>
            <a:off x="8641080" y="2331720"/>
            <a:ext cx="2743200" cy="32918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E293B"/>
                </a:solidFill>
                <a:latin typeface="Arial" pitchFamily="34" charset="0"/>
                <a:ea typeface="Arial" pitchFamily="34" charset="-122"/>
                <a:cs typeface="Arial" pitchFamily="34" charset="-120"/>
              </a:rPr>
              <a:t>The only change is the instruction to reason first.</a:t>
            </a:r>
            <a:endParaRPr lang="en-US" sz="1250" dirty="0"/>
          </a:p>
          <a:p>
            <a:pPr marL="342900" indent="-342900">
              <a:spcAft>
                <a:spcPts val="1000"/>
              </a:spcAft>
              <a:buSzPct val="100000"/>
              <a:buChar char="•"/>
            </a:pPr>
            <a:r>
              <a:rPr lang="en-US" sz="1250" dirty="0">
                <a:solidFill>
                  <a:srgbClr val="1E293B"/>
                </a:solidFill>
                <a:latin typeface="Arial" pitchFamily="34" charset="0"/>
                <a:ea typeface="Arial" pitchFamily="34" charset="-122"/>
                <a:cs typeface="Arial" pitchFamily="34" charset="-120"/>
              </a:rPr>
              <a:t>The model writes 7 times 12 is 84, then 100 minus 84 is 16.</a:t>
            </a:r>
            <a:endParaRPr lang="en-US" sz="1250" dirty="0"/>
          </a:p>
          <a:p>
            <a:pPr marL="342900" indent="-342900">
              <a:spcAft>
                <a:spcPts val="1000"/>
              </a:spcAft>
              <a:buSzPct val="100000"/>
              <a:buChar char="•"/>
            </a:pPr>
            <a:r>
              <a:rPr lang="en-US" sz="1250" dirty="0">
                <a:solidFill>
                  <a:srgbClr val="1E293B"/>
                </a:solidFill>
                <a:latin typeface="Arial" pitchFamily="34" charset="0"/>
                <a:ea typeface="Arial" pitchFamily="34" charset="-122"/>
                <a:cs typeface="Arial" pitchFamily="34" charset="-120"/>
              </a:rPr>
              <a:t>Seeing the steps lets you catch a wrong one.</a:t>
            </a:r>
            <a:endParaRPr lang="en-US" sz="1250" dirty="0"/>
          </a:p>
          <a:p>
            <a:pPr marL="342900" indent="-342900">
              <a:spcAft>
                <a:spcPts val="1000"/>
              </a:spcAft>
              <a:buSzPct val="100000"/>
              <a:buChar char="•"/>
            </a:pPr>
            <a:r>
              <a:rPr lang="en-US" sz="1250" dirty="0">
                <a:solidFill>
                  <a:srgbClr val="1E293B"/>
                </a:solidFill>
                <a:latin typeface="Arial" pitchFamily="34" charset="0"/>
                <a:ea typeface="Arial" pitchFamily="34" charset="-122"/>
                <a:cs typeface="Arial" pitchFamily="34" charset="-120"/>
              </a:rPr>
              <a:t>If you only want the number, ask it to end with Answer: X.</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SELF-CONSISTENCY</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Ask several times, take the majority answer</a:t>
            </a:r>
            <a:endParaRPr lang="en-US" sz="3000" dirty="0"/>
          </a:p>
        </p:txBody>
      </p:sp>
      <p:sp>
        <p:nvSpPr>
          <p:cNvPr id="4" name="Shape 2"/>
          <p:cNvSpPr/>
          <p:nvPr/>
        </p:nvSpPr>
        <p:spPr>
          <a:xfrm>
            <a:off x="640080" y="2651760"/>
            <a:ext cx="1737360" cy="822960"/>
          </a:xfrm>
          <a:prstGeom prst="roundRect">
            <a:avLst>
              <a:gd name="adj" fmla="val 10000"/>
            </a:avLst>
          </a:prstGeom>
          <a:solidFill>
            <a:srgbClr val="F1F5F9"/>
          </a:solidFill>
          <a:ln/>
          <a:effectLst>
            <a:outerShdw sx="100000" sy="100000" kx="0" ky="0" algn="bl" rotWithShape="0" blurRad="88900" dist="38100" dir="5400000">
              <a:srgbClr val="0F2A33">
                <a:alpha val="16000"/>
              </a:srgbClr>
            </a:outerShdw>
          </a:effectLst>
        </p:spPr>
      </p:sp>
      <p:sp>
        <p:nvSpPr>
          <p:cNvPr id="5" name="Text 3"/>
          <p:cNvSpPr/>
          <p:nvPr/>
        </p:nvSpPr>
        <p:spPr>
          <a:xfrm>
            <a:off x="640080" y="2651760"/>
            <a:ext cx="1737360" cy="822960"/>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Question</a:t>
            </a:r>
            <a:endParaRPr lang="en-US" sz="1300" dirty="0"/>
          </a:p>
        </p:txBody>
      </p:sp>
      <p:sp>
        <p:nvSpPr>
          <p:cNvPr id="6" name="Shape 4"/>
          <p:cNvSpPr/>
          <p:nvPr/>
        </p:nvSpPr>
        <p:spPr>
          <a:xfrm>
            <a:off x="2423160" y="3063240"/>
            <a:ext cx="822960" cy="-896112"/>
          </a:xfrm>
          <a:prstGeom prst="line">
            <a:avLst/>
          </a:prstGeom>
          <a:noFill/>
          <a:ln w="25400">
            <a:solidFill>
              <a:srgbClr val="0D9488"/>
            </a:solidFill>
            <a:prstDash val="solid"/>
          </a:ln>
        </p:spPr>
      </p:sp>
      <p:sp>
        <p:nvSpPr>
          <p:cNvPr id="7" name="Shape 5"/>
          <p:cNvSpPr/>
          <p:nvPr/>
        </p:nvSpPr>
        <p:spPr>
          <a:xfrm>
            <a:off x="3246120" y="2167128"/>
            <a:ext cx="365760" cy="0"/>
          </a:xfrm>
          <a:prstGeom prst="line">
            <a:avLst/>
          </a:prstGeom>
          <a:noFill/>
          <a:ln w="28575">
            <a:solidFill>
              <a:srgbClr val="0D9488"/>
            </a:solidFill>
            <a:prstDash val="solid"/>
            <a:tailEnd type="triangle"/>
          </a:ln>
        </p:spPr>
      </p:sp>
      <p:sp>
        <p:nvSpPr>
          <p:cNvPr id="8" name="Shape 6"/>
          <p:cNvSpPr/>
          <p:nvPr/>
        </p:nvSpPr>
        <p:spPr>
          <a:xfrm>
            <a:off x="3703320" y="1874520"/>
            <a:ext cx="2743200" cy="585216"/>
          </a:xfrm>
          <a:prstGeom prst="roundRect">
            <a:avLst>
              <a:gd name="adj" fmla="val 12500"/>
            </a:avLst>
          </a:prstGeom>
          <a:solidFill>
            <a:srgbClr val="F0FDFA"/>
          </a:solidFill>
          <a:ln/>
          <a:effectLst>
            <a:outerShdw sx="100000" sy="100000" kx="0" ky="0" algn="bl" rotWithShape="0" blurRad="88900" dist="38100" dir="5400000">
              <a:srgbClr val="0F2A33">
                <a:alpha val="16000"/>
              </a:srgbClr>
            </a:outerShdw>
          </a:effectLst>
        </p:spPr>
      </p:sp>
      <p:sp>
        <p:nvSpPr>
          <p:cNvPr id="9" name="Text 7"/>
          <p:cNvSpPr/>
          <p:nvPr/>
        </p:nvSpPr>
        <p:spPr>
          <a:xfrm>
            <a:off x="3703320" y="1874520"/>
            <a:ext cx="2743200" cy="585216"/>
          </a:xfrm>
          <a:prstGeom prst="rect">
            <a:avLst/>
          </a:prstGeom>
          <a:noFill/>
          <a:ln/>
        </p:spPr>
        <p:txBody>
          <a:bodyPr wrap="square" lIns="0" tIns="0" rIns="0" bIns="0" rtlCol="0" anchor="ctr"/>
          <a:lstStyle/>
          <a:p>
            <a:pPr algn="ctr" indent="0" marL="0">
              <a:buNone/>
            </a:pPr>
            <a:r>
              <a:rPr lang="en-US" sz="1200" b="1" dirty="0">
                <a:solidFill>
                  <a:srgbClr val="1E293B"/>
                </a:solidFill>
                <a:latin typeface="Arial" pitchFamily="34" charset="0"/>
                <a:ea typeface="Arial" pitchFamily="34" charset="-122"/>
                <a:cs typeface="Arial" pitchFamily="34" charset="-120"/>
              </a:rPr>
              <a:t>Reasoning sample</a:t>
            </a:r>
            <a:endParaRPr lang="en-US" sz="1200" dirty="0"/>
          </a:p>
        </p:txBody>
      </p:sp>
      <p:sp>
        <p:nvSpPr>
          <p:cNvPr id="10" name="Shape 8"/>
          <p:cNvSpPr/>
          <p:nvPr/>
        </p:nvSpPr>
        <p:spPr>
          <a:xfrm>
            <a:off x="2423160" y="3063240"/>
            <a:ext cx="822960" cy="-118872"/>
          </a:xfrm>
          <a:prstGeom prst="line">
            <a:avLst/>
          </a:prstGeom>
          <a:noFill/>
          <a:ln w="25400">
            <a:solidFill>
              <a:srgbClr val="0D9488"/>
            </a:solidFill>
            <a:prstDash val="solid"/>
          </a:ln>
        </p:spPr>
      </p:sp>
      <p:sp>
        <p:nvSpPr>
          <p:cNvPr id="11" name="Shape 9"/>
          <p:cNvSpPr/>
          <p:nvPr/>
        </p:nvSpPr>
        <p:spPr>
          <a:xfrm>
            <a:off x="3246120" y="2944368"/>
            <a:ext cx="365760" cy="0"/>
          </a:xfrm>
          <a:prstGeom prst="line">
            <a:avLst/>
          </a:prstGeom>
          <a:noFill/>
          <a:ln w="28575">
            <a:solidFill>
              <a:srgbClr val="0D9488"/>
            </a:solidFill>
            <a:prstDash val="solid"/>
            <a:tailEnd type="triangle"/>
          </a:ln>
        </p:spPr>
      </p:sp>
      <p:sp>
        <p:nvSpPr>
          <p:cNvPr id="12" name="Shape 10"/>
          <p:cNvSpPr/>
          <p:nvPr/>
        </p:nvSpPr>
        <p:spPr>
          <a:xfrm>
            <a:off x="3703320" y="2651760"/>
            <a:ext cx="2743200" cy="585216"/>
          </a:xfrm>
          <a:prstGeom prst="roundRect">
            <a:avLst>
              <a:gd name="adj" fmla="val 12500"/>
            </a:avLst>
          </a:prstGeom>
          <a:solidFill>
            <a:srgbClr val="F0FDFA"/>
          </a:solidFill>
          <a:ln/>
          <a:effectLst>
            <a:outerShdw sx="100000" sy="100000" kx="0" ky="0" algn="bl" rotWithShape="0" blurRad="88900" dist="38100" dir="5400000">
              <a:srgbClr val="0F2A33">
                <a:alpha val="16000"/>
              </a:srgbClr>
            </a:outerShdw>
          </a:effectLst>
        </p:spPr>
      </p:sp>
      <p:sp>
        <p:nvSpPr>
          <p:cNvPr id="13" name="Text 11"/>
          <p:cNvSpPr/>
          <p:nvPr/>
        </p:nvSpPr>
        <p:spPr>
          <a:xfrm>
            <a:off x="3703320" y="2651760"/>
            <a:ext cx="2743200" cy="585216"/>
          </a:xfrm>
          <a:prstGeom prst="rect">
            <a:avLst/>
          </a:prstGeom>
          <a:noFill/>
          <a:ln/>
        </p:spPr>
        <p:txBody>
          <a:bodyPr wrap="square" lIns="0" tIns="0" rIns="0" bIns="0" rtlCol="0" anchor="ctr"/>
          <a:lstStyle/>
          <a:p>
            <a:pPr algn="ctr" indent="0" marL="0">
              <a:buNone/>
            </a:pPr>
            <a:r>
              <a:rPr lang="en-US" sz="1200" b="1" dirty="0">
                <a:solidFill>
                  <a:srgbClr val="1E293B"/>
                </a:solidFill>
                <a:latin typeface="Arial" pitchFamily="34" charset="0"/>
                <a:ea typeface="Arial" pitchFamily="34" charset="-122"/>
                <a:cs typeface="Arial" pitchFamily="34" charset="-120"/>
              </a:rPr>
              <a:t>Reasoning sample</a:t>
            </a:r>
            <a:endParaRPr lang="en-US" sz="1200" dirty="0"/>
          </a:p>
        </p:txBody>
      </p:sp>
      <p:sp>
        <p:nvSpPr>
          <p:cNvPr id="14" name="Shape 12"/>
          <p:cNvSpPr/>
          <p:nvPr/>
        </p:nvSpPr>
        <p:spPr>
          <a:xfrm>
            <a:off x="2423160" y="3063240"/>
            <a:ext cx="822960" cy="658368"/>
          </a:xfrm>
          <a:prstGeom prst="line">
            <a:avLst/>
          </a:prstGeom>
          <a:noFill/>
          <a:ln w="25400">
            <a:solidFill>
              <a:srgbClr val="0D9488"/>
            </a:solidFill>
            <a:prstDash val="solid"/>
          </a:ln>
        </p:spPr>
      </p:sp>
      <p:sp>
        <p:nvSpPr>
          <p:cNvPr id="15" name="Shape 13"/>
          <p:cNvSpPr/>
          <p:nvPr/>
        </p:nvSpPr>
        <p:spPr>
          <a:xfrm>
            <a:off x="3246120" y="3721608"/>
            <a:ext cx="365760" cy="0"/>
          </a:xfrm>
          <a:prstGeom prst="line">
            <a:avLst/>
          </a:prstGeom>
          <a:noFill/>
          <a:ln w="28575">
            <a:solidFill>
              <a:srgbClr val="0D9488"/>
            </a:solidFill>
            <a:prstDash val="solid"/>
            <a:tailEnd type="triangle"/>
          </a:ln>
        </p:spPr>
      </p:sp>
      <p:sp>
        <p:nvSpPr>
          <p:cNvPr id="16" name="Shape 14"/>
          <p:cNvSpPr/>
          <p:nvPr/>
        </p:nvSpPr>
        <p:spPr>
          <a:xfrm>
            <a:off x="3703320" y="3429000"/>
            <a:ext cx="2743200" cy="585216"/>
          </a:xfrm>
          <a:prstGeom prst="roundRect">
            <a:avLst>
              <a:gd name="adj" fmla="val 12500"/>
            </a:avLst>
          </a:prstGeom>
          <a:solidFill>
            <a:srgbClr val="F0FDFA"/>
          </a:solidFill>
          <a:ln/>
          <a:effectLst>
            <a:outerShdw sx="100000" sy="100000" kx="0" ky="0" algn="bl" rotWithShape="0" blurRad="88900" dist="38100" dir="5400000">
              <a:srgbClr val="0F2A33">
                <a:alpha val="16000"/>
              </a:srgbClr>
            </a:outerShdw>
          </a:effectLst>
        </p:spPr>
      </p:sp>
      <p:sp>
        <p:nvSpPr>
          <p:cNvPr id="17" name="Text 15"/>
          <p:cNvSpPr/>
          <p:nvPr/>
        </p:nvSpPr>
        <p:spPr>
          <a:xfrm>
            <a:off x="3703320" y="3429000"/>
            <a:ext cx="2743200" cy="585216"/>
          </a:xfrm>
          <a:prstGeom prst="rect">
            <a:avLst/>
          </a:prstGeom>
          <a:noFill/>
          <a:ln/>
        </p:spPr>
        <p:txBody>
          <a:bodyPr wrap="square" lIns="0" tIns="0" rIns="0" bIns="0" rtlCol="0" anchor="ctr"/>
          <a:lstStyle/>
          <a:p>
            <a:pPr algn="ctr" indent="0" marL="0">
              <a:buNone/>
            </a:pPr>
            <a:r>
              <a:rPr lang="en-US" sz="1200" b="1" dirty="0">
                <a:solidFill>
                  <a:srgbClr val="1E293B"/>
                </a:solidFill>
                <a:latin typeface="Arial" pitchFamily="34" charset="0"/>
                <a:ea typeface="Arial" pitchFamily="34" charset="-122"/>
                <a:cs typeface="Arial" pitchFamily="34" charset="-120"/>
              </a:rPr>
              <a:t>Reasoning sample</a:t>
            </a:r>
            <a:endParaRPr lang="en-US" sz="1200" dirty="0"/>
          </a:p>
        </p:txBody>
      </p:sp>
      <p:sp>
        <p:nvSpPr>
          <p:cNvPr id="18" name="Shape 16"/>
          <p:cNvSpPr/>
          <p:nvPr/>
        </p:nvSpPr>
        <p:spPr>
          <a:xfrm>
            <a:off x="6446520" y="2167128"/>
            <a:ext cx="868680" cy="987552"/>
          </a:xfrm>
          <a:prstGeom prst="line">
            <a:avLst/>
          </a:prstGeom>
          <a:noFill/>
          <a:ln w="25400">
            <a:solidFill>
              <a:srgbClr val="F59E0B"/>
            </a:solidFill>
            <a:prstDash val="solid"/>
          </a:ln>
        </p:spPr>
      </p:sp>
      <p:sp>
        <p:nvSpPr>
          <p:cNvPr id="19" name="Shape 17"/>
          <p:cNvSpPr/>
          <p:nvPr/>
        </p:nvSpPr>
        <p:spPr>
          <a:xfrm>
            <a:off x="6446520" y="2944368"/>
            <a:ext cx="868680" cy="210312"/>
          </a:xfrm>
          <a:prstGeom prst="line">
            <a:avLst/>
          </a:prstGeom>
          <a:noFill/>
          <a:ln w="25400">
            <a:solidFill>
              <a:srgbClr val="F59E0B"/>
            </a:solidFill>
            <a:prstDash val="solid"/>
          </a:ln>
        </p:spPr>
      </p:sp>
      <p:sp>
        <p:nvSpPr>
          <p:cNvPr id="20" name="Shape 18"/>
          <p:cNvSpPr/>
          <p:nvPr/>
        </p:nvSpPr>
        <p:spPr>
          <a:xfrm>
            <a:off x="6446520" y="3721608"/>
            <a:ext cx="868680" cy="-566928"/>
          </a:xfrm>
          <a:prstGeom prst="line">
            <a:avLst/>
          </a:prstGeom>
          <a:noFill/>
          <a:ln w="25400">
            <a:solidFill>
              <a:srgbClr val="F59E0B"/>
            </a:solidFill>
            <a:prstDash val="solid"/>
          </a:ln>
        </p:spPr>
      </p:sp>
      <p:sp>
        <p:nvSpPr>
          <p:cNvPr id="21" name="Shape 19"/>
          <p:cNvSpPr/>
          <p:nvPr/>
        </p:nvSpPr>
        <p:spPr>
          <a:xfrm>
            <a:off x="7315200" y="3154680"/>
            <a:ext cx="365760" cy="0"/>
          </a:xfrm>
          <a:prstGeom prst="line">
            <a:avLst/>
          </a:prstGeom>
          <a:noFill/>
          <a:ln w="28575">
            <a:solidFill>
              <a:srgbClr val="F59E0B"/>
            </a:solidFill>
            <a:prstDash val="solid"/>
            <a:tailEnd type="triangle"/>
          </a:ln>
        </p:spPr>
      </p:sp>
      <p:sp>
        <p:nvSpPr>
          <p:cNvPr id="22" name="Shape 20"/>
          <p:cNvSpPr/>
          <p:nvPr/>
        </p:nvSpPr>
        <p:spPr>
          <a:xfrm>
            <a:off x="7772400" y="2743200"/>
            <a:ext cx="1554480" cy="822960"/>
          </a:xfrm>
          <a:prstGeom prst="roundRect">
            <a:avLst>
              <a:gd name="adj" fmla="val 10000"/>
            </a:avLst>
          </a:prstGeom>
          <a:solidFill>
            <a:srgbClr val="0F2A33"/>
          </a:solidFill>
          <a:ln/>
          <a:effectLst>
            <a:outerShdw sx="100000" sy="100000" kx="0" ky="0" algn="bl" rotWithShape="0" blurRad="88900" dist="38100" dir="5400000">
              <a:srgbClr val="0F2A33">
                <a:alpha val="16000"/>
              </a:srgbClr>
            </a:outerShdw>
          </a:effectLst>
        </p:spPr>
      </p:sp>
      <p:sp>
        <p:nvSpPr>
          <p:cNvPr id="23" name="Text 21"/>
          <p:cNvSpPr/>
          <p:nvPr/>
        </p:nvSpPr>
        <p:spPr>
          <a:xfrm>
            <a:off x="7772400" y="2743200"/>
            <a:ext cx="1554480" cy="822960"/>
          </a:xfrm>
          <a:prstGeom prst="rect">
            <a:avLst/>
          </a:prstGeom>
          <a:noFill/>
          <a:ln/>
        </p:spPr>
        <p:txBody>
          <a:bodyPr wrap="square" lIns="0" tIns="0" rIns="0" bIns="0" rtlCol="0" anchor="ctr"/>
          <a:lstStyle/>
          <a:p>
            <a:pPr algn="ctr" indent="0" marL="0">
              <a:buNone/>
            </a:pPr>
            <a:r>
              <a:rPr lang="en-US" sz="1400" b="1" dirty="0">
                <a:solidFill>
                  <a:srgbClr val="5EEAD4"/>
                </a:solidFill>
                <a:latin typeface="Arial" pitchFamily="34" charset="0"/>
                <a:ea typeface="Arial" pitchFamily="34" charset="-122"/>
                <a:cs typeface="Arial" pitchFamily="34" charset="-120"/>
              </a:rPr>
              <a:t>Vote</a:t>
            </a:r>
            <a:endParaRPr lang="en-US" sz="1400" dirty="0"/>
          </a:p>
        </p:txBody>
      </p:sp>
      <p:sp>
        <p:nvSpPr>
          <p:cNvPr id="24" name="Shape 22"/>
          <p:cNvSpPr/>
          <p:nvPr/>
        </p:nvSpPr>
        <p:spPr>
          <a:xfrm>
            <a:off x="9372600" y="3154680"/>
            <a:ext cx="365760" cy="0"/>
          </a:xfrm>
          <a:prstGeom prst="line">
            <a:avLst/>
          </a:prstGeom>
          <a:noFill/>
          <a:ln w="28575">
            <a:solidFill>
              <a:srgbClr val="F59E0B"/>
            </a:solidFill>
            <a:prstDash val="solid"/>
            <a:tailEnd type="triangle"/>
          </a:ln>
        </p:spPr>
      </p:sp>
      <p:sp>
        <p:nvSpPr>
          <p:cNvPr id="25" name="Shape 23"/>
          <p:cNvSpPr/>
          <p:nvPr/>
        </p:nvSpPr>
        <p:spPr>
          <a:xfrm>
            <a:off x="9784080" y="2743200"/>
            <a:ext cx="1737360" cy="822960"/>
          </a:xfrm>
          <a:prstGeom prst="roundRect">
            <a:avLst>
              <a:gd name="adj" fmla="val 10000"/>
            </a:avLst>
          </a:prstGeom>
          <a:solidFill>
            <a:srgbClr val="0D9488"/>
          </a:solidFill>
          <a:ln/>
          <a:effectLst>
            <a:outerShdw sx="100000" sy="100000" kx="0" ky="0" algn="bl" rotWithShape="0" blurRad="88900" dist="38100" dir="5400000">
              <a:srgbClr val="0F2A33">
                <a:alpha val="16000"/>
              </a:srgbClr>
            </a:outerShdw>
          </a:effectLst>
        </p:spPr>
      </p:sp>
      <p:sp>
        <p:nvSpPr>
          <p:cNvPr id="26" name="Text 24"/>
          <p:cNvSpPr/>
          <p:nvPr/>
        </p:nvSpPr>
        <p:spPr>
          <a:xfrm>
            <a:off x="9784080" y="2743200"/>
            <a:ext cx="173736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Answer</a:t>
            </a:r>
            <a:endParaRPr lang="en-US" sz="1400" dirty="0"/>
          </a:p>
        </p:txBody>
      </p:sp>
      <p:sp>
        <p:nvSpPr>
          <p:cNvPr id="27" name="Text 25"/>
          <p:cNvSpPr/>
          <p:nvPr/>
        </p:nvSpPr>
        <p:spPr>
          <a:xfrm>
            <a:off x="640080" y="4800600"/>
            <a:ext cx="10881360" cy="822960"/>
          </a:xfrm>
          <a:prstGeom prst="rect">
            <a:avLst/>
          </a:prstGeom>
          <a:noFill/>
          <a:ln/>
        </p:spPr>
        <p:txBody>
          <a:bodyPr wrap="square" lIns="0" tIns="0" rIns="0" bIns="0" rtlCol="0" anchor="ctr"/>
          <a:lstStyle/>
          <a:p>
            <a:pPr indent="0" marL="0">
              <a:buNone/>
            </a:pPr>
            <a:r>
              <a:rPr lang="en-US" sz="1450" b="1" dirty="0">
                <a:solidFill>
                  <a:srgbClr val="1E293B"/>
                </a:solidFill>
                <a:latin typeface="Arial" pitchFamily="34" charset="0"/>
                <a:ea typeface="Arial" pitchFamily="34" charset="-122"/>
                <a:cs typeface="Arial" pitchFamily="34" charset="-120"/>
              </a:rPr>
              <a:t>The intuition:  </a:t>
            </a:r>
            <a:pPr indent="0" marL="0">
              <a:buNone/>
            </a:pPr>
            <a:r>
              <a:rPr lang="en-US" sz="1450" dirty="0">
                <a:solidFill>
                  <a:srgbClr val="64748B"/>
                </a:solidFill>
                <a:latin typeface="Arial" pitchFamily="34" charset="0"/>
                <a:ea typeface="Arial" pitchFamily="34" charset="-122"/>
                <a:cs typeface="Arial" pitchFamily="34" charset="-120"/>
              </a:rPr>
              <a:t>a model can reason its way to a wrong answer once, but it is less likely to make the same mistake five times. The answer most paths agree on is usually right.</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TREE OF THOUGHTS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When the model must explore, not just walk a line</a:t>
            </a:r>
            <a:endParaRPr lang="en-US" sz="3000" dirty="0"/>
          </a:p>
        </p:txBody>
      </p:sp>
      <p:sp>
        <p:nvSpPr>
          <p:cNvPr id="4" name="Shape 2"/>
          <p:cNvSpPr/>
          <p:nvPr/>
        </p:nvSpPr>
        <p:spPr>
          <a:xfrm>
            <a:off x="640080" y="1828800"/>
            <a:ext cx="5212080" cy="3657600"/>
          </a:xfrm>
          <a:prstGeom prst="roundRect">
            <a:avLst>
              <a:gd name="adj" fmla="val 2250"/>
            </a:avLst>
          </a:prstGeom>
          <a:solidFill>
            <a:srgbClr val="F1F5F9"/>
          </a:solidFill>
          <a:ln/>
          <a:effectLst>
            <a:outerShdw sx="100000" sy="100000" kx="0" ky="0" algn="bl" rotWithShape="0" blurRad="88900" dist="38100" dir="5400000">
              <a:srgbClr val="0F2A33">
                <a:alpha val="16000"/>
              </a:srgbClr>
            </a:outerShdw>
          </a:effectLst>
        </p:spPr>
      </p:sp>
      <p:sp>
        <p:nvSpPr>
          <p:cNvPr id="5" name="Shape 3"/>
          <p:cNvSpPr/>
          <p:nvPr/>
        </p:nvSpPr>
        <p:spPr>
          <a:xfrm>
            <a:off x="914400" y="2103120"/>
            <a:ext cx="777240" cy="7772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16482" y="2305202"/>
            <a:ext cx="373075" cy="373075"/>
          </a:xfrm>
          <a:prstGeom prst="rect">
            <a:avLst/>
          </a:prstGeom>
        </p:spPr>
      </p:pic>
      <p:sp>
        <p:nvSpPr>
          <p:cNvPr id="7" name="Text 4"/>
          <p:cNvSpPr/>
          <p:nvPr/>
        </p:nvSpPr>
        <p:spPr>
          <a:xfrm>
            <a:off x="914400" y="3017520"/>
            <a:ext cx="4663440" cy="411480"/>
          </a:xfrm>
          <a:prstGeom prst="rect">
            <a:avLst/>
          </a:prstGeom>
          <a:noFill/>
          <a:ln/>
        </p:spPr>
        <p:txBody>
          <a:bodyPr wrap="square" lIns="0" tIns="0" rIns="0" bIns="0" rtlCol="0" anchor="ctr"/>
          <a:lstStyle/>
          <a:p>
            <a:pPr indent="0" marL="0">
              <a:buNone/>
            </a:pPr>
            <a:r>
              <a:rPr lang="en-US" sz="1800" b="1" dirty="0">
                <a:solidFill>
                  <a:srgbClr val="1E293B"/>
                </a:solidFill>
                <a:latin typeface="Arial" pitchFamily="34" charset="0"/>
                <a:ea typeface="Arial" pitchFamily="34" charset="-122"/>
                <a:cs typeface="Arial" pitchFamily="34" charset="-120"/>
              </a:rPr>
              <a:t>The idea</a:t>
            </a:r>
            <a:endParaRPr lang="en-US" sz="1800" dirty="0"/>
          </a:p>
        </p:txBody>
      </p:sp>
      <p:sp>
        <p:nvSpPr>
          <p:cNvPr id="8" name="Text 5"/>
          <p:cNvSpPr/>
          <p:nvPr/>
        </p:nvSpPr>
        <p:spPr>
          <a:xfrm>
            <a:off x="914400" y="3474720"/>
            <a:ext cx="4754880" cy="164592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Instead of one chain, the model branches: it tries several next thoughts, judges which look promising, and explores those further. Like searching a tree of possibilities.</a:t>
            </a:r>
            <a:endParaRPr lang="en-US" sz="1400" dirty="0"/>
          </a:p>
        </p:txBody>
      </p:sp>
      <p:sp>
        <p:nvSpPr>
          <p:cNvPr id="9" name="Shape 6"/>
          <p:cNvSpPr/>
          <p:nvPr/>
        </p:nvSpPr>
        <p:spPr>
          <a:xfrm>
            <a:off x="6309360" y="1828800"/>
            <a:ext cx="5212080" cy="3657600"/>
          </a:xfrm>
          <a:prstGeom prst="roundRect">
            <a:avLst>
              <a:gd name="adj" fmla="val 2250"/>
            </a:avLst>
          </a:prstGeom>
          <a:solidFill>
            <a:srgbClr val="0F2A33"/>
          </a:solidFill>
          <a:ln/>
          <a:effectLst>
            <a:outerShdw sx="100000" sy="100000" kx="0" ky="0" algn="bl" rotWithShape="0" blurRad="88900" dist="38100" dir="5400000">
              <a:srgbClr val="0F2A33">
                <a:alpha val="16000"/>
              </a:srgbClr>
            </a:outerShdw>
          </a:effectLst>
        </p:spPr>
      </p:sp>
      <p:sp>
        <p:nvSpPr>
          <p:cNvPr id="10" name="Text 7"/>
          <p:cNvSpPr/>
          <p:nvPr/>
        </p:nvSpPr>
        <p:spPr>
          <a:xfrm>
            <a:off x="6583680" y="2057400"/>
            <a:ext cx="4663440" cy="411480"/>
          </a:xfrm>
          <a:prstGeom prst="rect">
            <a:avLst/>
          </a:prstGeom>
          <a:noFill/>
          <a:ln/>
        </p:spPr>
        <p:txBody>
          <a:bodyPr wrap="square" lIns="0" tIns="0" rIns="0" bIns="0" rtlCol="0" anchor="ctr"/>
          <a:lstStyle/>
          <a:p>
            <a:pPr indent="0" marL="0">
              <a:buNone/>
            </a:pPr>
            <a:r>
              <a:rPr lang="en-US" sz="1800" b="1" dirty="0">
                <a:solidFill>
                  <a:srgbClr val="5EEAD4"/>
                </a:solidFill>
                <a:latin typeface="Arial" pitchFamily="34" charset="0"/>
                <a:ea typeface="Arial" pitchFamily="34" charset="-122"/>
                <a:cs typeface="Arial" pitchFamily="34" charset="-120"/>
              </a:rPr>
              <a:t>For this course</a:t>
            </a:r>
            <a:endParaRPr lang="en-US" sz="1800" dirty="0"/>
          </a:p>
        </p:txBody>
      </p:sp>
      <p:sp>
        <p:nvSpPr>
          <p:cNvPr id="11" name="Text 8"/>
          <p:cNvSpPr/>
          <p:nvPr/>
        </p:nvSpPr>
        <p:spPr>
          <a:xfrm>
            <a:off x="6629400" y="2606040"/>
            <a:ext cx="4663440" cy="274320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FFFFFF"/>
                </a:solidFill>
                <a:latin typeface="Arial" pitchFamily="34" charset="0"/>
                <a:ea typeface="Arial" pitchFamily="34" charset="-122"/>
                <a:cs typeface="Arial" pitchFamily="34" charset="-120"/>
              </a:rPr>
              <a:t>Powerful for puzzles and search-like problems.</a:t>
            </a:r>
            <a:endParaRPr lang="en-US" sz="1400" dirty="0"/>
          </a:p>
          <a:p>
            <a:pPr marL="342900" indent="-342900">
              <a:spcAft>
                <a:spcPts val="1200"/>
              </a:spcAft>
              <a:buSzPct val="100000"/>
              <a:buChar char="•"/>
            </a:pPr>
            <a:r>
              <a:rPr lang="en-US" sz="1400" dirty="0">
                <a:solidFill>
                  <a:srgbClr val="FFFFFF"/>
                </a:solidFill>
                <a:latin typeface="Arial" pitchFamily="34" charset="0"/>
                <a:ea typeface="Arial" pitchFamily="34" charset="-122"/>
                <a:cs typeface="Arial" pitchFamily="34" charset="-120"/>
              </a:rPr>
              <a:t>Expensive: many model calls to explore branches.</a:t>
            </a:r>
            <a:endParaRPr lang="en-US" sz="1400" dirty="0"/>
          </a:p>
          <a:p>
            <a:pPr marL="342900" indent="-342900">
              <a:spcAft>
                <a:spcPts val="1200"/>
              </a:spcAft>
              <a:buSzPct val="100000"/>
              <a:buChar char="•"/>
            </a:pPr>
            <a:r>
              <a:rPr lang="en-US" sz="1400" dirty="0">
                <a:solidFill>
                  <a:srgbClr val="FFFFFF"/>
                </a:solidFill>
                <a:latin typeface="Arial" pitchFamily="34" charset="0"/>
                <a:ea typeface="Arial" pitchFamily="34" charset="-122"/>
                <a:cs typeface="Arial" pitchFamily="34" charset="-120"/>
              </a:rPr>
              <a:t>You rarely need it for everyday agents.</a:t>
            </a:r>
            <a:endParaRPr lang="en-US" sz="1400" dirty="0"/>
          </a:p>
          <a:p>
            <a:pPr marL="342900" indent="-342900">
              <a:spcAft>
                <a:spcPts val="1200"/>
              </a:spcAft>
              <a:buSzPct val="100000"/>
              <a:buChar char="•"/>
            </a:pPr>
            <a:r>
              <a:rPr lang="en-US" sz="1400" dirty="0">
                <a:solidFill>
                  <a:srgbClr val="FFFFFF"/>
                </a:solidFill>
                <a:latin typeface="Arial" pitchFamily="34" charset="0"/>
                <a:ea typeface="Arial" pitchFamily="34" charset="-122"/>
                <a:cs typeface="Arial" pitchFamily="34" charset="-120"/>
              </a:rPr>
              <a:t>Know the name and the idea. Chain of thought and self-consistency cover most real cases.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REASONING  -  TAKEAWAYS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Cheap thinking buys a lot of accuracy</a:t>
            </a:r>
            <a:endParaRPr lang="en-US" sz="3000" dirty="0"/>
          </a:p>
        </p:txBody>
      </p:sp>
      <p:sp>
        <p:nvSpPr>
          <p:cNvPr id="4" name="Shape 2"/>
          <p:cNvSpPr/>
          <p:nvPr/>
        </p:nvSpPr>
        <p:spPr>
          <a:xfrm>
            <a:off x="640080" y="1828800"/>
            <a:ext cx="5349240" cy="3383280"/>
          </a:xfrm>
          <a:prstGeom prst="roundRect">
            <a:avLst>
              <a:gd name="adj" fmla="val 2432"/>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68680" y="2057400"/>
            <a:ext cx="548640" cy="5486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11326" y="2200046"/>
            <a:ext cx="263347" cy="263347"/>
          </a:xfrm>
          <a:prstGeom prst="rect">
            <a:avLst/>
          </a:prstGeom>
        </p:spPr>
      </p:pic>
      <p:sp>
        <p:nvSpPr>
          <p:cNvPr id="7" name="Text 4"/>
          <p:cNvSpPr/>
          <p:nvPr/>
        </p:nvSpPr>
        <p:spPr>
          <a:xfrm>
            <a:off x="1554480" y="2121408"/>
            <a:ext cx="4297680" cy="411480"/>
          </a:xfrm>
          <a:prstGeom prst="rect">
            <a:avLst/>
          </a:prstGeom>
          <a:noFill/>
          <a:ln/>
        </p:spPr>
        <p:txBody>
          <a:bodyPr wrap="square" lIns="0" tIns="0" rIns="0" bIns="0" rtlCol="0" anchor="ctr"/>
          <a:lstStyle/>
          <a:p>
            <a:pPr indent="0" marL="0">
              <a:buNone/>
            </a:pPr>
            <a:r>
              <a:rPr lang="en-US" sz="1700" b="1" dirty="0">
                <a:solidFill>
                  <a:srgbClr val="0D9488"/>
                </a:solidFill>
                <a:latin typeface="Arial" pitchFamily="34" charset="0"/>
                <a:ea typeface="Arial" pitchFamily="34" charset="-122"/>
                <a:cs typeface="Arial" pitchFamily="34" charset="-120"/>
              </a:rPr>
              <a:t>Do</a:t>
            </a:r>
            <a:endParaRPr lang="en-US" sz="1700" dirty="0"/>
          </a:p>
        </p:txBody>
      </p:sp>
      <p:sp>
        <p:nvSpPr>
          <p:cNvPr id="8" name="Text 5"/>
          <p:cNvSpPr/>
          <p:nvPr/>
        </p:nvSpPr>
        <p:spPr>
          <a:xfrm>
            <a:off x="914400" y="2743200"/>
            <a:ext cx="4846320" cy="228600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Ask for step by step reasoning on hard problems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Use self-consistency when an answer really matters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Make the model end in a fixed format you can parse</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Read the reasoning to debug wrong answers</a:t>
            </a:r>
            <a:endParaRPr lang="en-US" sz="1350" dirty="0"/>
          </a:p>
        </p:txBody>
      </p:sp>
      <p:sp>
        <p:nvSpPr>
          <p:cNvPr id="9" name="Shape 6"/>
          <p:cNvSpPr/>
          <p:nvPr/>
        </p:nvSpPr>
        <p:spPr>
          <a:xfrm>
            <a:off x="6172200" y="1828800"/>
            <a:ext cx="5349240" cy="3383280"/>
          </a:xfrm>
          <a:prstGeom prst="roundRect">
            <a:avLst>
              <a:gd name="adj" fmla="val 2432"/>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6400800" y="2057400"/>
            <a:ext cx="548640" cy="548640"/>
          </a:xfrm>
          <a:prstGeom prst="ellipse">
            <a:avLst/>
          </a:prstGeom>
          <a:solidFill>
            <a:srgbClr val="0F2A33"/>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6543446" y="2200046"/>
            <a:ext cx="263347" cy="263347"/>
          </a:xfrm>
          <a:prstGeom prst="rect">
            <a:avLst/>
          </a:prstGeom>
        </p:spPr>
      </p:pic>
      <p:sp>
        <p:nvSpPr>
          <p:cNvPr id="12" name="Text 8"/>
          <p:cNvSpPr/>
          <p:nvPr/>
        </p:nvSpPr>
        <p:spPr>
          <a:xfrm>
            <a:off x="7086600" y="2121408"/>
            <a:ext cx="4297680" cy="411480"/>
          </a:xfrm>
          <a:prstGeom prst="rect">
            <a:avLst/>
          </a:prstGeom>
          <a:noFill/>
          <a:ln/>
        </p:spPr>
        <p:txBody>
          <a:bodyPr wrap="square" lIns="0" tIns="0" rIns="0" bIns="0" rtlCol="0" anchor="ctr"/>
          <a:lstStyle/>
          <a:p>
            <a:pPr indent="0" marL="0">
              <a:buNone/>
            </a:pPr>
            <a:r>
              <a:rPr lang="en-US" sz="1700" b="1" dirty="0">
                <a:solidFill>
                  <a:srgbClr val="1E293B"/>
                </a:solidFill>
                <a:latin typeface="Arial" pitchFamily="34" charset="0"/>
                <a:ea typeface="Arial" pitchFamily="34" charset="-122"/>
                <a:cs typeface="Arial" pitchFamily="34" charset="-120"/>
              </a:rPr>
              <a:t>Watch out for</a:t>
            </a:r>
            <a:endParaRPr lang="en-US" sz="1700" dirty="0"/>
          </a:p>
        </p:txBody>
      </p:sp>
      <p:sp>
        <p:nvSpPr>
          <p:cNvPr id="13" name="Text 9"/>
          <p:cNvSpPr/>
          <p:nvPr/>
        </p:nvSpPr>
        <p:spPr>
          <a:xfrm>
            <a:off x="6446520" y="2743200"/>
            <a:ext cx="4846320" cy="228600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More tokens means more cost and latency</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Self-consistency multiplies the calls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Reasoning can sound confident but still be wrong</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Tree of Thoughts is rarely worth its cost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13343B"/>
          </a:solidFill>
          <a:ln/>
        </p:spPr>
      </p:sp>
      <p:sp>
        <p:nvSpPr>
          <p:cNvPr id="3" name="Shape 1"/>
          <p:cNvSpPr/>
          <p:nvPr/>
        </p:nvSpPr>
        <p:spPr>
          <a:xfrm>
            <a:off x="10607040" y="4206240"/>
            <a:ext cx="3840480" cy="3840480"/>
          </a:xfrm>
          <a:prstGeom prst="ellipse">
            <a:avLst/>
          </a:prstGeom>
          <a:solidFill>
            <a:srgbClr val="13343B"/>
          </a:solidFill>
          <a:ln/>
        </p:spPr>
      </p:sp>
      <p:sp>
        <p:nvSpPr>
          <p:cNvPr id="4" name="Text 2"/>
          <p:cNvSpPr/>
          <p:nvPr/>
        </p:nvSpPr>
        <p:spPr>
          <a:xfrm>
            <a:off x="822960" y="2240280"/>
            <a:ext cx="8229600" cy="365760"/>
          </a:xfrm>
          <a:prstGeom prst="rect">
            <a:avLst/>
          </a:prstGeom>
          <a:noFill/>
          <a:ln/>
        </p:spPr>
        <p:txBody>
          <a:bodyPr wrap="square" rtlCol="0" anchor="ctr"/>
          <a:lstStyle/>
          <a:p>
            <a:pPr indent="0" marL="0">
              <a:buNone/>
            </a:pPr>
            <a:r>
              <a:rPr lang="en-US" sz="1500" b="1" spc="400" kern="0" dirty="0">
                <a:solidFill>
                  <a:srgbClr val="F59E0B"/>
                </a:solidFill>
                <a:latin typeface="Arial" pitchFamily="34" charset="0"/>
                <a:ea typeface="Arial" pitchFamily="34" charset="-122"/>
                <a:cs typeface="Arial" pitchFamily="34" charset="-120"/>
              </a:rPr>
              <a:t>PART 2  -  CHAPTER 6</a:t>
            </a:r>
            <a:endParaRPr lang="en-US" sz="1500" dirty="0"/>
          </a:p>
        </p:txBody>
      </p:sp>
      <p:sp>
        <p:nvSpPr>
          <p:cNvPr id="5" name="Text 3"/>
          <p:cNvSpPr/>
          <p:nvPr/>
        </p:nvSpPr>
        <p:spPr>
          <a:xfrm>
            <a:off x="777240" y="2606040"/>
            <a:ext cx="10058400" cy="1371600"/>
          </a:xfrm>
          <a:prstGeom prst="rect">
            <a:avLst/>
          </a:prstGeom>
          <a:noFill/>
          <a:ln/>
        </p:spPr>
        <p:txBody>
          <a:bodyPr wrap="square" rtlCol="0" anchor="ctr"/>
          <a:lstStyle/>
          <a:p>
            <a:pPr indent="0" marL="0">
              <a:buNone/>
            </a:pPr>
            <a:r>
              <a:rPr lang="en-US" sz="4600" b="1" dirty="0">
                <a:solidFill>
                  <a:srgbClr val="FFFFFF"/>
                </a:solidFill>
                <a:latin typeface="Arial" pitchFamily="34" charset="0"/>
                <a:ea typeface="Arial" pitchFamily="34" charset="-122"/>
                <a:cs typeface="Arial" pitchFamily="34" charset="-120"/>
              </a:rPr>
              <a:t>Planning</a:t>
            </a:r>
            <a:endParaRPr lang="en-US" sz="4600" dirty="0"/>
          </a:p>
        </p:txBody>
      </p:sp>
      <p:sp>
        <p:nvSpPr>
          <p:cNvPr id="6" name="Text 4"/>
          <p:cNvSpPr/>
          <p:nvPr/>
        </p:nvSpPr>
        <p:spPr>
          <a:xfrm>
            <a:off x="822960" y="3977640"/>
            <a:ext cx="10058400" cy="457200"/>
          </a:xfrm>
          <a:prstGeom prst="rect">
            <a:avLst/>
          </a:prstGeom>
          <a:noFill/>
          <a:ln/>
        </p:spPr>
        <p:txBody>
          <a:bodyPr wrap="square" rtlCol="0" anchor="ctr"/>
          <a:lstStyle/>
          <a:p>
            <a:pPr indent="0" marL="0">
              <a:buNone/>
            </a:pPr>
            <a:r>
              <a:rPr lang="en-US" sz="1600" i="1" dirty="0">
                <a:solidFill>
                  <a:srgbClr val="5EEAD4"/>
                </a:solidFill>
                <a:latin typeface="Arial" pitchFamily="34" charset="0"/>
                <a:ea typeface="Arial" pitchFamily="34" charset="-122"/>
                <a:cs typeface="Arial" pitchFamily="34" charset="-120"/>
              </a:rPr>
              <a:t>The model breaks a goal into its own steps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THE IDEA</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From a goal to a sequence of steps</a:t>
            </a:r>
            <a:endParaRPr lang="en-US" sz="3000" dirty="0"/>
          </a:p>
        </p:txBody>
      </p:sp>
      <p:sp>
        <p:nvSpPr>
          <p:cNvPr id="4" name="Shape 2"/>
          <p:cNvSpPr/>
          <p:nvPr/>
        </p:nvSpPr>
        <p:spPr>
          <a:xfrm>
            <a:off x="640080" y="1783080"/>
            <a:ext cx="10881360" cy="1143000"/>
          </a:xfrm>
          <a:prstGeom prst="roundRect">
            <a:avLst>
              <a:gd name="adj" fmla="val 7200"/>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1993392"/>
            <a:ext cx="731520" cy="7315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04595" y="2183587"/>
            <a:ext cx="351130" cy="351130"/>
          </a:xfrm>
          <a:prstGeom prst="rect">
            <a:avLst/>
          </a:prstGeom>
        </p:spPr>
      </p:pic>
      <p:sp>
        <p:nvSpPr>
          <p:cNvPr id="7" name="Text 4"/>
          <p:cNvSpPr/>
          <p:nvPr/>
        </p:nvSpPr>
        <p:spPr>
          <a:xfrm>
            <a:off x="1874520" y="1874520"/>
            <a:ext cx="9418320" cy="1005840"/>
          </a:xfrm>
          <a:prstGeom prst="rect">
            <a:avLst/>
          </a:prstGeom>
          <a:noFill/>
          <a:ln/>
        </p:spPr>
        <p:txBody>
          <a:bodyPr wrap="square" lIns="0" tIns="0" rIns="0" bIns="0" rtlCol="0" anchor="ctr"/>
          <a:lstStyle/>
          <a:p>
            <a:pPr indent="0" marL="0">
              <a:buNone/>
            </a:pPr>
            <a:r>
              <a:rPr lang="en-US" sz="1600" b="1" dirty="0">
                <a:solidFill>
                  <a:srgbClr val="5EEAD4"/>
                </a:solidFill>
                <a:latin typeface="Arial" pitchFamily="34" charset="0"/>
                <a:ea typeface="Arial" pitchFamily="34" charset="-122"/>
                <a:cs typeface="Arial" pitchFamily="34" charset="-120"/>
              </a:rPr>
              <a:t>Planning </a:t>
            </a:r>
            <a:pPr indent="0" marL="0">
              <a:buNone/>
            </a:pPr>
            <a:r>
              <a:rPr lang="en-US" sz="1600" dirty="0">
                <a:solidFill>
                  <a:srgbClr val="FFFFFF"/>
                </a:solidFill>
                <a:latin typeface="Arial" pitchFamily="34" charset="0"/>
                <a:ea typeface="Arial" pitchFamily="34" charset="-122"/>
                <a:cs typeface="Arial" pitchFamily="34" charset="-120"/>
              </a:rPr>
              <a:t>is asking the model to break a big goal into an ordered list of smaller steps, before doing any of them.</a:t>
            </a:r>
            <a:endParaRPr lang="en-US" sz="1600" dirty="0"/>
          </a:p>
        </p:txBody>
      </p:sp>
      <p:sp>
        <p:nvSpPr>
          <p:cNvPr id="8" name="Shape 5"/>
          <p:cNvSpPr/>
          <p:nvPr/>
        </p:nvSpPr>
        <p:spPr>
          <a:xfrm>
            <a:off x="640080" y="3200400"/>
            <a:ext cx="5212080" cy="2286000"/>
          </a:xfrm>
          <a:prstGeom prst="roundRect">
            <a:avLst>
              <a:gd name="adj" fmla="val 3600"/>
            </a:avLst>
          </a:prstGeom>
          <a:solidFill>
            <a:srgbClr val="F1F5F9"/>
          </a:solidFill>
          <a:ln/>
          <a:effectLst>
            <a:outerShdw sx="100000" sy="100000" kx="0" ky="0" algn="bl" rotWithShape="0" blurRad="88900" dist="38100" dir="5400000">
              <a:srgbClr val="0F2A33">
                <a:alpha val="16000"/>
              </a:srgbClr>
            </a:outerShdw>
          </a:effectLst>
        </p:spPr>
      </p:sp>
      <p:sp>
        <p:nvSpPr>
          <p:cNvPr id="9" name="Text 6"/>
          <p:cNvSpPr/>
          <p:nvPr/>
        </p:nvSpPr>
        <p:spPr>
          <a:xfrm>
            <a:off x="914400" y="3383280"/>
            <a:ext cx="4663440" cy="365760"/>
          </a:xfrm>
          <a:prstGeom prst="rect">
            <a:avLst/>
          </a:prstGeom>
          <a:noFill/>
          <a:ln/>
        </p:spPr>
        <p:txBody>
          <a:bodyPr wrap="square" lIns="0" tIns="0" rIns="0" bIns="0" rtlCol="0" anchor="ctr"/>
          <a:lstStyle/>
          <a:p>
            <a:pPr indent="0" marL="0">
              <a:buNone/>
            </a:pPr>
            <a:r>
              <a:rPr lang="en-US" sz="1500" b="1" dirty="0">
                <a:solidFill>
                  <a:srgbClr val="64748B"/>
                </a:solidFill>
                <a:latin typeface="Arial" pitchFamily="34" charset="0"/>
                <a:ea typeface="Arial" pitchFamily="34" charset="-122"/>
                <a:cs typeface="Arial" pitchFamily="34" charset="-120"/>
              </a:rPr>
              <a:t>Goal</a:t>
            </a:r>
            <a:endParaRPr lang="en-US" sz="1500" dirty="0"/>
          </a:p>
        </p:txBody>
      </p:sp>
      <p:sp>
        <p:nvSpPr>
          <p:cNvPr id="10" name="Text 7"/>
          <p:cNvSpPr/>
          <p:nvPr/>
        </p:nvSpPr>
        <p:spPr>
          <a:xfrm>
            <a:off x="914400" y="3749040"/>
            <a:ext cx="4754880" cy="731520"/>
          </a:xfrm>
          <a:prstGeom prst="rect">
            <a:avLst/>
          </a:prstGeom>
          <a:noFill/>
          <a:ln/>
        </p:spPr>
        <p:txBody>
          <a:bodyPr wrap="square" lIns="0" tIns="0" rIns="0" bIns="0" rtlCol="0" anchor="ctr"/>
          <a:lstStyle/>
          <a:p>
            <a:pPr indent="0" marL="0">
              <a:buNone/>
            </a:pPr>
            <a:r>
              <a:rPr lang="en-US" sz="1400" i="1" dirty="0">
                <a:solidFill>
                  <a:srgbClr val="1E293B"/>
                </a:solidFill>
                <a:latin typeface="Arial" pitchFamily="34" charset="0"/>
                <a:ea typeface="Arial" pitchFamily="34" charset="-122"/>
                <a:cs typeface="Arial" pitchFamily="34" charset="-120"/>
              </a:rPr>
              <a:t>Plan a 3-day trip to Jaipur on a small budget.</a:t>
            </a:r>
            <a:endParaRPr lang="en-US" sz="1400" dirty="0"/>
          </a:p>
        </p:txBody>
      </p:sp>
      <p:sp>
        <p:nvSpPr>
          <p:cNvPr id="11" name="Shape 8"/>
          <p:cNvSpPr/>
          <p:nvPr/>
        </p:nvSpPr>
        <p:spPr>
          <a:xfrm>
            <a:off x="6309360" y="3200400"/>
            <a:ext cx="5212080" cy="2286000"/>
          </a:xfrm>
          <a:prstGeom prst="roundRect">
            <a:avLst>
              <a:gd name="adj" fmla="val 3600"/>
            </a:avLst>
          </a:prstGeom>
          <a:solidFill>
            <a:srgbClr val="F0FDFA"/>
          </a:solidFill>
          <a:ln/>
          <a:effectLst>
            <a:outerShdw sx="100000" sy="100000" kx="0" ky="0" algn="bl" rotWithShape="0" blurRad="88900" dist="38100" dir="5400000">
              <a:srgbClr val="0F2A33">
                <a:alpha val="16000"/>
              </a:srgbClr>
            </a:outerShdw>
          </a:effectLst>
        </p:spPr>
      </p:sp>
      <p:sp>
        <p:nvSpPr>
          <p:cNvPr id="12" name="Text 9"/>
          <p:cNvSpPr/>
          <p:nvPr/>
        </p:nvSpPr>
        <p:spPr>
          <a:xfrm>
            <a:off x="6583680" y="3383280"/>
            <a:ext cx="4663440" cy="365760"/>
          </a:xfrm>
          <a:prstGeom prst="rect">
            <a:avLst/>
          </a:prstGeom>
          <a:noFill/>
          <a:ln/>
        </p:spPr>
        <p:txBody>
          <a:bodyPr wrap="square" lIns="0" tIns="0" rIns="0" bIns="0" rtlCol="0" anchor="ctr"/>
          <a:lstStyle/>
          <a:p>
            <a:pPr indent="0" marL="0">
              <a:buNone/>
            </a:pPr>
            <a:r>
              <a:rPr lang="en-US" sz="1500" b="1" dirty="0">
                <a:solidFill>
                  <a:srgbClr val="0D9488"/>
                </a:solidFill>
                <a:latin typeface="Arial" pitchFamily="34" charset="0"/>
                <a:ea typeface="Arial" pitchFamily="34" charset="-122"/>
                <a:cs typeface="Arial" pitchFamily="34" charset="-120"/>
              </a:rPr>
              <a:t>Plan</a:t>
            </a:r>
            <a:endParaRPr lang="en-US" sz="1500" dirty="0"/>
          </a:p>
        </p:txBody>
      </p:sp>
      <p:sp>
        <p:nvSpPr>
          <p:cNvPr id="13" name="Text 10"/>
          <p:cNvSpPr/>
          <p:nvPr/>
        </p:nvSpPr>
        <p:spPr>
          <a:xfrm>
            <a:off x="6583680" y="3749040"/>
            <a:ext cx="4754880" cy="1645920"/>
          </a:xfrm>
          <a:prstGeom prst="rect">
            <a:avLst/>
          </a:prstGeom>
          <a:noFill/>
          <a:ln/>
        </p:spPr>
        <p:txBody>
          <a:bodyPr wrap="square" lIns="0" tIns="0" rIns="0" bIns="0" rtlCol="0" anchor="ctr"/>
          <a:lstStyle/>
          <a:p>
            <a:pPr indent="0" marL="0">
              <a:spcAft>
                <a:spcPts val="500"/>
              </a:spcAft>
              <a:buNone/>
            </a:pPr>
            <a:r>
              <a:rPr lang="en-US" sz="1300" dirty="0">
                <a:solidFill>
                  <a:srgbClr val="1E293B"/>
                </a:solidFill>
                <a:latin typeface="Arial" pitchFamily="34" charset="0"/>
                <a:ea typeface="Arial" pitchFamily="34" charset="-122"/>
                <a:cs typeface="Arial" pitchFamily="34" charset="-120"/>
              </a:rPr>
              <a:t>1. Find cheap travel dates and transport</a:t>
            </a:r>
            <a:endParaRPr lang="en-US" sz="1300" dirty="0"/>
          </a:p>
          <a:p>
            <a:pPr indent="0" marL="0">
              <a:spcAft>
                <a:spcPts val="500"/>
              </a:spcAft>
              <a:buNone/>
            </a:pPr>
            <a:r>
              <a:rPr lang="en-US" sz="1300" dirty="0">
                <a:solidFill>
                  <a:srgbClr val="1E293B"/>
                </a:solidFill>
                <a:latin typeface="Arial" pitchFamily="34" charset="0"/>
                <a:ea typeface="Arial" pitchFamily="34" charset="-122"/>
                <a:cs typeface="Arial" pitchFamily="34" charset="-120"/>
              </a:rPr>
              <a:t>2. Pick budget stays near the old city</a:t>
            </a:r>
            <a:endParaRPr lang="en-US" sz="1300" dirty="0"/>
          </a:p>
          <a:p>
            <a:pPr indent="0" marL="0">
              <a:spcAft>
                <a:spcPts val="500"/>
              </a:spcAft>
              <a:buNone/>
            </a:pPr>
            <a:r>
              <a:rPr lang="en-US" sz="1300" dirty="0">
                <a:solidFill>
                  <a:srgbClr val="1E293B"/>
                </a:solidFill>
                <a:latin typeface="Arial" pitchFamily="34" charset="0"/>
                <a:ea typeface="Arial" pitchFamily="34" charset="-122"/>
                <a:cs typeface="Arial" pitchFamily="34" charset="-120"/>
              </a:rPr>
              <a:t>3. List free or low-cost sights per day</a:t>
            </a:r>
            <a:endParaRPr lang="en-US" sz="1300" dirty="0"/>
          </a:p>
          <a:p>
            <a:pPr indent="0" marL="0">
              <a:spcAft>
                <a:spcPts val="500"/>
              </a:spcAft>
              <a:buNone/>
            </a:pPr>
            <a:r>
              <a:rPr lang="en-US" sz="1300" dirty="0">
                <a:solidFill>
                  <a:srgbClr val="1E293B"/>
                </a:solidFill>
                <a:latin typeface="Arial" pitchFamily="34" charset="0"/>
                <a:ea typeface="Arial" pitchFamily="34" charset="-122"/>
                <a:cs typeface="Arial" pitchFamily="34" charset="-120"/>
              </a:rPr>
              <a:t>4. Build a day-by-day schedule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PLAN THEN EXECUTE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Make the plan first, then work the steps</a:t>
            </a:r>
            <a:endParaRPr lang="en-US" sz="3000" dirty="0"/>
          </a:p>
        </p:txBody>
      </p:sp>
      <p:sp>
        <p:nvSpPr>
          <p:cNvPr id="4" name="Shape 2"/>
          <p:cNvSpPr/>
          <p:nvPr/>
        </p:nvSpPr>
        <p:spPr>
          <a:xfrm>
            <a:off x="640080" y="2468880"/>
            <a:ext cx="1828800" cy="914400"/>
          </a:xfrm>
          <a:prstGeom prst="roundRect">
            <a:avLst>
              <a:gd name="adj" fmla="val 9000"/>
            </a:avLst>
          </a:prstGeom>
          <a:solidFill>
            <a:srgbClr val="F1F5F9"/>
          </a:solidFill>
          <a:ln/>
          <a:effectLst>
            <a:outerShdw sx="100000" sy="100000" kx="0" ky="0" algn="bl" rotWithShape="0" blurRad="88900" dist="38100" dir="5400000">
              <a:srgbClr val="0F2A33">
                <a:alpha val="16000"/>
              </a:srgbClr>
            </a:outerShdw>
          </a:effectLst>
        </p:spPr>
      </p:sp>
      <p:sp>
        <p:nvSpPr>
          <p:cNvPr id="5" name="Text 3"/>
          <p:cNvSpPr/>
          <p:nvPr/>
        </p:nvSpPr>
        <p:spPr>
          <a:xfrm>
            <a:off x="640080" y="2468880"/>
            <a:ext cx="1828800" cy="914400"/>
          </a:xfrm>
          <a:prstGeom prst="rect">
            <a:avLst/>
          </a:prstGeom>
          <a:noFill/>
          <a:ln/>
        </p:spPr>
        <p:txBody>
          <a:bodyPr wrap="square" lIns="0" tIns="0" rIns="0" bIns="0" rtlCol="0" anchor="ctr"/>
          <a:lstStyle/>
          <a:p>
            <a:pPr algn="ctr" indent="0" marL="0">
              <a:buNone/>
            </a:pPr>
            <a:r>
              <a:rPr lang="en-US" sz="1500" b="1" dirty="0">
                <a:solidFill>
                  <a:srgbClr val="1E293B"/>
                </a:solidFill>
                <a:latin typeface="Arial" pitchFamily="34" charset="0"/>
                <a:ea typeface="Arial" pitchFamily="34" charset="-122"/>
                <a:cs typeface="Arial" pitchFamily="34" charset="-120"/>
              </a:rPr>
              <a:t>Goal</a:t>
            </a:r>
            <a:endParaRPr lang="en-US" sz="1500" dirty="0"/>
          </a:p>
        </p:txBody>
      </p:sp>
      <p:sp>
        <p:nvSpPr>
          <p:cNvPr id="6" name="Shape 4"/>
          <p:cNvSpPr/>
          <p:nvPr/>
        </p:nvSpPr>
        <p:spPr>
          <a:xfrm>
            <a:off x="2514600" y="2926080"/>
            <a:ext cx="457200" cy="0"/>
          </a:xfrm>
          <a:prstGeom prst="line">
            <a:avLst/>
          </a:prstGeom>
          <a:noFill/>
          <a:ln w="28575">
            <a:solidFill>
              <a:srgbClr val="0D9488"/>
            </a:solidFill>
            <a:prstDash val="solid"/>
            <a:tailEnd type="triangle"/>
          </a:ln>
        </p:spPr>
      </p:sp>
      <p:sp>
        <p:nvSpPr>
          <p:cNvPr id="7" name="Shape 5"/>
          <p:cNvSpPr/>
          <p:nvPr/>
        </p:nvSpPr>
        <p:spPr>
          <a:xfrm>
            <a:off x="3063240" y="2377440"/>
            <a:ext cx="2286000" cy="1097280"/>
          </a:xfrm>
          <a:prstGeom prst="roundRect">
            <a:avLst>
              <a:gd name="adj" fmla="val 7500"/>
            </a:avLst>
          </a:prstGeom>
          <a:solidFill>
            <a:srgbClr val="0F2A33"/>
          </a:solidFill>
          <a:ln/>
          <a:effectLst>
            <a:outerShdw sx="100000" sy="100000" kx="0" ky="0" algn="bl" rotWithShape="0" blurRad="88900" dist="38100" dir="5400000">
              <a:srgbClr val="0F2A33">
                <a:alpha val="16000"/>
              </a:srgbClr>
            </a:outerShdw>
          </a:effectLst>
        </p:spPr>
      </p:sp>
      <p:sp>
        <p:nvSpPr>
          <p:cNvPr id="8" name="Shape 6"/>
          <p:cNvSpPr/>
          <p:nvPr/>
        </p:nvSpPr>
        <p:spPr>
          <a:xfrm>
            <a:off x="3291840" y="2606040"/>
            <a:ext cx="640080" cy="64008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9" name="Image 0" descr="preencoded.png">    </p:cNvPr>
          <p:cNvPicPr>
            <a:picLocks noChangeAspect="1"/>
          </p:cNvPicPr>
          <p:nvPr/>
        </p:nvPicPr>
        <p:blipFill>
          <a:blip r:embed="rId1"/>
          <a:stretch>
            <a:fillRect/>
          </a:stretch>
        </p:blipFill>
        <p:spPr>
          <a:xfrm>
            <a:off x="3458261" y="2772461"/>
            <a:ext cx="307238" cy="307238"/>
          </a:xfrm>
          <a:prstGeom prst="rect">
            <a:avLst/>
          </a:prstGeom>
        </p:spPr>
      </p:pic>
      <p:sp>
        <p:nvSpPr>
          <p:cNvPr id="10" name="Text 7"/>
          <p:cNvSpPr/>
          <p:nvPr/>
        </p:nvSpPr>
        <p:spPr>
          <a:xfrm>
            <a:off x="4023360" y="2697480"/>
            <a:ext cx="128016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Plan</a:t>
            </a:r>
            <a:endParaRPr lang="en-US" sz="1600" dirty="0"/>
          </a:p>
        </p:txBody>
      </p:sp>
      <p:sp>
        <p:nvSpPr>
          <p:cNvPr id="11" name="Shape 8"/>
          <p:cNvSpPr/>
          <p:nvPr/>
        </p:nvSpPr>
        <p:spPr>
          <a:xfrm>
            <a:off x="5394960" y="2926080"/>
            <a:ext cx="457200" cy="0"/>
          </a:xfrm>
          <a:prstGeom prst="line">
            <a:avLst/>
          </a:prstGeom>
          <a:noFill/>
          <a:ln w="28575">
            <a:solidFill>
              <a:srgbClr val="F59E0B"/>
            </a:solidFill>
            <a:prstDash val="solid"/>
            <a:tailEnd type="triangle"/>
          </a:ln>
        </p:spPr>
      </p:sp>
      <p:sp>
        <p:nvSpPr>
          <p:cNvPr id="12" name="Shape 9"/>
          <p:cNvSpPr/>
          <p:nvPr/>
        </p:nvSpPr>
        <p:spPr>
          <a:xfrm>
            <a:off x="5943600" y="1965960"/>
            <a:ext cx="2743200" cy="566928"/>
          </a:xfrm>
          <a:prstGeom prst="roundRect">
            <a:avLst>
              <a:gd name="adj" fmla="val 12903"/>
            </a:avLst>
          </a:prstGeom>
          <a:solidFill>
            <a:srgbClr val="F0FDFA"/>
          </a:solidFill>
          <a:ln/>
          <a:effectLst>
            <a:outerShdw sx="100000" sy="100000" kx="0" ky="0" algn="bl" rotWithShape="0" blurRad="88900" dist="38100" dir="5400000">
              <a:srgbClr val="0F2A33">
                <a:alpha val="16000"/>
              </a:srgbClr>
            </a:outerShdw>
          </a:effectLst>
        </p:spPr>
      </p:sp>
      <p:sp>
        <p:nvSpPr>
          <p:cNvPr id="13" name="Text 10"/>
          <p:cNvSpPr/>
          <p:nvPr/>
        </p:nvSpPr>
        <p:spPr>
          <a:xfrm>
            <a:off x="5943600" y="1965960"/>
            <a:ext cx="2743200" cy="566928"/>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Step 1</a:t>
            </a:r>
            <a:endParaRPr lang="en-US" sz="1300" dirty="0"/>
          </a:p>
        </p:txBody>
      </p:sp>
      <p:sp>
        <p:nvSpPr>
          <p:cNvPr id="14" name="Shape 11"/>
          <p:cNvSpPr/>
          <p:nvPr/>
        </p:nvSpPr>
        <p:spPr>
          <a:xfrm>
            <a:off x="7315200" y="2532888"/>
            <a:ext cx="0" cy="146304"/>
          </a:xfrm>
          <a:prstGeom prst="line">
            <a:avLst/>
          </a:prstGeom>
          <a:noFill/>
          <a:ln w="28575">
            <a:solidFill>
              <a:srgbClr val="64748B"/>
            </a:solidFill>
            <a:prstDash val="solid"/>
            <a:tailEnd type="triangle"/>
          </a:ln>
        </p:spPr>
      </p:sp>
      <p:sp>
        <p:nvSpPr>
          <p:cNvPr id="15" name="Shape 12"/>
          <p:cNvSpPr/>
          <p:nvPr/>
        </p:nvSpPr>
        <p:spPr>
          <a:xfrm>
            <a:off x="5943600" y="2679192"/>
            <a:ext cx="2743200" cy="566928"/>
          </a:xfrm>
          <a:prstGeom prst="roundRect">
            <a:avLst>
              <a:gd name="adj" fmla="val 12903"/>
            </a:avLst>
          </a:prstGeom>
          <a:solidFill>
            <a:srgbClr val="F0FDFA"/>
          </a:solidFill>
          <a:ln/>
          <a:effectLst>
            <a:outerShdw sx="100000" sy="100000" kx="0" ky="0" algn="bl" rotWithShape="0" blurRad="88900" dist="38100" dir="5400000">
              <a:srgbClr val="0F2A33">
                <a:alpha val="16000"/>
              </a:srgbClr>
            </a:outerShdw>
          </a:effectLst>
        </p:spPr>
      </p:sp>
      <p:sp>
        <p:nvSpPr>
          <p:cNvPr id="16" name="Text 13"/>
          <p:cNvSpPr/>
          <p:nvPr/>
        </p:nvSpPr>
        <p:spPr>
          <a:xfrm>
            <a:off x="5943600" y="2679192"/>
            <a:ext cx="2743200" cy="566928"/>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Step 2</a:t>
            </a:r>
            <a:endParaRPr lang="en-US" sz="1300" dirty="0"/>
          </a:p>
        </p:txBody>
      </p:sp>
      <p:sp>
        <p:nvSpPr>
          <p:cNvPr id="17" name="Shape 14"/>
          <p:cNvSpPr/>
          <p:nvPr/>
        </p:nvSpPr>
        <p:spPr>
          <a:xfrm>
            <a:off x="7315200" y="3246120"/>
            <a:ext cx="0" cy="146304"/>
          </a:xfrm>
          <a:prstGeom prst="line">
            <a:avLst/>
          </a:prstGeom>
          <a:noFill/>
          <a:ln w="28575">
            <a:solidFill>
              <a:srgbClr val="64748B"/>
            </a:solidFill>
            <a:prstDash val="solid"/>
            <a:tailEnd type="triangle"/>
          </a:ln>
        </p:spPr>
      </p:sp>
      <p:sp>
        <p:nvSpPr>
          <p:cNvPr id="18" name="Shape 15"/>
          <p:cNvSpPr/>
          <p:nvPr/>
        </p:nvSpPr>
        <p:spPr>
          <a:xfrm>
            <a:off x="5943600" y="3392424"/>
            <a:ext cx="2743200" cy="566928"/>
          </a:xfrm>
          <a:prstGeom prst="roundRect">
            <a:avLst>
              <a:gd name="adj" fmla="val 12903"/>
            </a:avLst>
          </a:prstGeom>
          <a:solidFill>
            <a:srgbClr val="F0FDFA"/>
          </a:solidFill>
          <a:ln/>
          <a:effectLst>
            <a:outerShdw sx="100000" sy="100000" kx="0" ky="0" algn="bl" rotWithShape="0" blurRad="88900" dist="38100" dir="5400000">
              <a:srgbClr val="0F2A33">
                <a:alpha val="16000"/>
              </a:srgbClr>
            </a:outerShdw>
          </a:effectLst>
        </p:spPr>
      </p:sp>
      <p:sp>
        <p:nvSpPr>
          <p:cNvPr id="19" name="Text 16"/>
          <p:cNvSpPr/>
          <p:nvPr/>
        </p:nvSpPr>
        <p:spPr>
          <a:xfrm>
            <a:off x="5943600" y="3392424"/>
            <a:ext cx="2743200" cy="566928"/>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Step 3</a:t>
            </a:r>
            <a:endParaRPr lang="en-US" sz="1300" dirty="0"/>
          </a:p>
        </p:txBody>
      </p:sp>
      <p:sp>
        <p:nvSpPr>
          <p:cNvPr id="20" name="Shape 17"/>
          <p:cNvSpPr/>
          <p:nvPr/>
        </p:nvSpPr>
        <p:spPr>
          <a:xfrm>
            <a:off x="8778240" y="2926080"/>
            <a:ext cx="457200" cy="0"/>
          </a:xfrm>
          <a:prstGeom prst="line">
            <a:avLst/>
          </a:prstGeom>
          <a:noFill/>
          <a:ln w="28575">
            <a:solidFill>
              <a:srgbClr val="F59E0B"/>
            </a:solidFill>
            <a:prstDash val="solid"/>
            <a:tailEnd type="triangle"/>
          </a:ln>
        </p:spPr>
      </p:sp>
      <p:sp>
        <p:nvSpPr>
          <p:cNvPr id="21" name="Shape 18"/>
          <p:cNvSpPr/>
          <p:nvPr/>
        </p:nvSpPr>
        <p:spPr>
          <a:xfrm>
            <a:off x="9326880" y="2377440"/>
            <a:ext cx="2194560" cy="1097280"/>
          </a:xfrm>
          <a:prstGeom prst="roundRect">
            <a:avLst>
              <a:gd name="adj" fmla="val 7500"/>
            </a:avLst>
          </a:prstGeom>
          <a:solidFill>
            <a:srgbClr val="0D9488"/>
          </a:solidFill>
          <a:ln/>
          <a:effectLst>
            <a:outerShdw sx="100000" sy="100000" kx="0" ky="0" algn="bl" rotWithShape="0" blurRad="88900" dist="38100" dir="5400000">
              <a:srgbClr val="0F2A33">
                <a:alpha val="16000"/>
              </a:srgbClr>
            </a:outerShdw>
          </a:effectLst>
        </p:spPr>
      </p:sp>
      <p:sp>
        <p:nvSpPr>
          <p:cNvPr id="22" name="Text 19"/>
          <p:cNvSpPr/>
          <p:nvPr/>
        </p:nvSpPr>
        <p:spPr>
          <a:xfrm>
            <a:off x="9326880" y="2377440"/>
            <a:ext cx="2194560"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Result</a:t>
            </a:r>
            <a:endParaRPr lang="en-US" sz="1500" dirty="0"/>
          </a:p>
        </p:txBody>
      </p:sp>
      <p:sp>
        <p:nvSpPr>
          <p:cNvPr id="23" name="Text 20"/>
          <p:cNvSpPr/>
          <p:nvPr/>
        </p:nvSpPr>
        <p:spPr>
          <a:xfrm>
            <a:off x="640080" y="4572000"/>
            <a:ext cx="10881360" cy="731520"/>
          </a:xfrm>
          <a:prstGeom prst="rect">
            <a:avLst/>
          </a:prstGeom>
          <a:noFill/>
          <a:ln/>
        </p:spPr>
        <p:txBody>
          <a:bodyPr wrap="square" lIns="0" tIns="0" rIns="0" bIns="0" rtlCol="0" anchor="ctr"/>
          <a:lstStyle/>
          <a:p>
            <a:pPr indent="0" marL="0">
              <a:buNone/>
            </a:pPr>
            <a:r>
              <a:rPr lang="en-US" sz="1450" b="1" dirty="0">
                <a:solidFill>
                  <a:srgbClr val="1E293B"/>
                </a:solidFill>
                <a:latin typeface="Arial" pitchFamily="34" charset="0"/>
                <a:ea typeface="Arial" pitchFamily="34" charset="-122"/>
                <a:cs typeface="Arial" pitchFamily="34" charset="-120"/>
              </a:rPr>
              <a:t>Each step can feed the next.  </a:t>
            </a:r>
            <a:pPr indent="0" marL="0">
              <a:buNone/>
            </a:pPr>
            <a:r>
              <a:rPr lang="en-US" sz="1450" dirty="0">
                <a:solidFill>
                  <a:srgbClr val="64748B"/>
                </a:solidFill>
                <a:latin typeface="Arial" pitchFamily="34" charset="0"/>
                <a:ea typeface="Arial" pitchFamily="34" charset="-122"/>
                <a:cs typeface="Arial" pitchFamily="34" charset="-120"/>
              </a:rPr>
              <a:t>The output of step 1 becomes context for step 2, just like prompt chaining, except the model wrote the steps itself.</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PLANNING  -  CODE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Generate a plan, then run each step</a:t>
            </a:r>
            <a:endParaRPr lang="en-US" sz="3000" dirty="0"/>
          </a:p>
        </p:txBody>
      </p:sp>
      <p:sp>
        <p:nvSpPr>
          <p:cNvPr id="4" name="Shape 2"/>
          <p:cNvSpPr/>
          <p:nvPr/>
        </p:nvSpPr>
        <p:spPr>
          <a:xfrm>
            <a:off x="640080" y="1737360"/>
            <a:ext cx="7498080" cy="4023360"/>
          </a:xfrm>
          <a:prstGeom prst="roundRect">
            <a:avLst>
              <a:gd name="adj" fmla="val 1364"/>
            </a:avLst>
          </a:prstGeom>
          <a:solidFill>
            <a:srgbClr val="0B2229"/>
          </a:solidFill>
          <a:ln/>
          <a:effectLst>
            <a:outerShdw sx="100000" sy="100000" kx="0" ky="0" algn="bl" rotWithShape="0" blurRad="88900" dist="38100" dir="5400000">
              <a:srgbClr val="0F2A33">
                <a:alpha val="16000"/>
              </a:srgbClr>
            </a:outerShdw>
          </a:effectLst>
        </p:spPr>
      </p:sp>
      <p:sp>
        <p:nvSpPr>
          <p:cNvPr id="5" name="Text 3"/>
          <p:cNvSpPr/>
          <p:nvPr/>
        </p:nvSpPr>
        <p:spPr>
          <a:xfrm>
            <a:off x="841248" y="1883664"/>
            <a:ext cx="7095744" cy="3730752"/>
          </a:xfrm>
          <a:prstGeom prst="rect">
            <a:avLst/>
          </a:prstGeom>
          <a:noFill/>
          <a:ln/>
        </p:spPr>
        <p:txBody>
          <a:bodyPr wrap="square" lIns="0" tIns="0" rIns="0" bIns="0" rtlCol="0" anchor="t"/>
          <a:lstStyle/>
          <a:p>
            <a:pPr indent="0" marL="0">
              <a:lnSpc>
                <a:spcPct val="106000"/>
              </a:lnSpc>
              <a:buNone/>
            </a:pPr>
            <a:r>
              <a:rPr lang="en-US" sz="1250" dirty="0">
                <a:solidFill>
                  <a:srgbClr val="5EEAD4"/>
                </a:solidFill>
                <a:latin typeface="Courier New" pitchFamily="34" charset="0"/>
                <a:ea typeface="Courier New" pitchFamily="34" charset="-122"/>
                <a:cs typeface="Courier New" pitchFamily="34" charset="-120"/>
              </a:rPr>
              <a:t>import </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ollama</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5EEAD4"/>
                </a:solidFill>
                <a:latin typeface="Courier New" pitchFamily="34" charset="0"/>
                <a:ea typeface="Courier New" pitchFamily="34" charset="-122"/>
                <a:cs typeface="Courier New" pitchFamily="34" charset="-120"/>
              </a:rPr>
              <a:t>def </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make_plan</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(goal: </a:t>
            </a:r>
            <a:pPr indent="0" marL="0">
              <a:lnSpc>
                <a:spcPct val="106000"/>
              </a:lnSpc>
              <a:buNone/>
            </a:pPr>
            <a:r>
              <a:rPr lang="en-US" sz="1250" dirty="0">
                <a:solidFill>
                  <a:srgbClr val="14B8A6"/>
                </a:solidFill>
                <a:latin typeface="Courier New" pitchFamily="34" charset="0"/>
                <a:ea typeface="Courier New" pitchFamily="34" charset="-122"/>
                <a:cs typeface="Courier New" pitchFamily="34" charset="-120"/>
              </a:rPr>
              <a:t>str</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-&gt; </a:t>
            </a:r>
            <a:pPr indent="0" marL="0">
              <a:lnSpc>
                <a:spcPct val="106000"/>
              </a:lnSpc>
              <a:buNone/>
            </a:pPr>
            <a:r>
              <a:rPr lang="en-US" sz="1250" dirty="0">
                <a:solidFill>
                  <a:srgbClr val="14B8A6"/>
                </a:solidFill>
                <a:latin typeface="Courier New" pitchFamily="34" charset="0"/>
                <a:ea typeface="Courier New" pitchFamily="34" charset="-122"/>
                <a:cs typeface="Courier New" pitchFamily="34" charset="-120"/>
              </a:rPr>
              <a:t>str</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r = ollama.chat(MODEL, messages=[{</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"role"</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"user"</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"content"</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f"Break this goal into a short numbered "</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f"list of steps.\n{goal}"</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a:t>
            </a:r>
            <a:endParaRPr lang="en-US" sz="1250" dirty="0"/>
          </a:p>
          <a:p>
            <a:pPr indent="0" marL="0">
              <a:lnSpc>
                <a:spcPct val="106000"/>
              </a:lnSpc>
              <a:buNone/>
            </a:pPr>
            <a:r>
              <a:rPr lang="en-US" sz="1250" dirty="0">
                <a:solidFill>
                  <a:srgbClr val="5EEAD4"/>
                </a:solidFill>
                <a:latin typeface="Courier New" pitchFamily="34" charset="0"/>
                <a:ea typeface="Courier New" pitchFamily="34" charset="-122"/>
                <a:cs typeface="Courier New" pitchFamily="34" charset="-120"/>
              </a:rPr>
              <a:t>    return </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r.message.content</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plan = make_plan(</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"Compare the weather in Pune and Mumbai"</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a:t>
            </a:r>
            <a:endParaRPr lang="en-US" sz="1250" dirty="0"/>
          </a:p>
          <a:p>
            <a:pPr indent="0" marL="0">
              <a:lnSpc>
                <a:spcPct val="106000"/>
              </a:lnSpc>
              <a:buNone/>
            </a:pPr>
            <a:r>
              <a:rPr lang="en-US" sz="1250" dirty="0">
                <a:solidFill>
                  <a:srgbClr val="5EEAD4"/>
                </a:solidFill>
                <a:latin typeface="Courier New" pitchFamily="34" charset="0"/>
                <a:ea typeface="Courier New" pitchFamily="34" charset="-122"/>
                <a:cs typeface="Courier New" pitchFamily="34" charset="-120"/>
              </a:rPr>
              <a:t>print</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(plan)</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7DD3C8"/>
                </a:solidFill>
                <a:latin typeface="Courier New" pitchFamily="34" charset="0"/>
                <a:ea typeface="Courier New" pitchFamily="34" charset="-122"/>
                <a:cs typeface="Courier New" pitchFamily="34" charset="-120"/>
              </a:rPr>
              <a:t># then loop over the steps, carrying results forward</a:t>
            </a:r>
            <a:endParaRPr lang="en-US" sz="1250" dirty="0"/>
          </a:p>
          <a:p>
            <a:pPr indent="0" marL="0">
              <a:lnSpc>
                <a:spcPct val="106000"/>
              </a:lnSpc>
              <a:buNone/>
            </a:pPr>
            <a:r>
              <a:rPr lang="en-US" sz="1250" dirty="0">
                <a:solidFill>
                  <a:srgbClr val="7DD3C8"/>
                </a:solidFill>
                <a:latin typeface="Courier New" pitchFamily="34" charset="0"/>
                <a:ea typeface="Courier New" pitchFamily="34" charset="-122"/>
                <a:cs typeface="Courier New" pitchFamily="34" charset="-120"/>
              </a:rPr>
              <a:t># (in ReAct, the model does this loop itself, next part)</a:t>
            </a:r>
            <a:endParaRPr lang="en-US" sz="1250" dirty="0"/>
          </a:p>
        </p:txBody>
      </p:sp>
      <p:sp>
        <p:nvSpPr>
          <p:cNvPr id="6" name="Shape 4"/>
          <p:cNvSpPr/>
          <p:nvPr/>
        </p:nvSpPr>
        <p:spPr>
          <a:xfrm>
            <a:off x="8366760" y="1737360"/>
            <a:ext cx="3154680" cy="4023360"/>
          </a:xfrm>
          <a:prstGeom prst="roundRect">
            <a:avLst>
              <a:gd name="adj" fmla="val 2609"/>
            </a:avLst>
          </a:prstGeom>
          <a:solidFill>
            <a:srgbClr val="F0FDFA"/>
          </a:solidFill>
          <a:ln/>
          <a:effectLst>
            <a:outerShdw sx="100000" sy="100000" kx="0" ky="0" algn="bl" rotWithShape="0" blurRad="88900" dist="38100" dir="5400000">
              <a:srgbClr val="0F2A33">
                <a:alpha val="16000"/>
              </a:srgbClr>
            </a:outerShdw>
          </a:effectLst>
        </p:spPr>
      </p:sp>
      <p:sp>
        <p:nvSpPr>
          <p:cNvPr id="7" name="Text 5"/>
          <p:cNvSpPr/>
          <p:nvPr/>
        </p:nvSpPr>
        <p:spPr>
          <a:xfrm>
            <a:off x="8595360" y="1920240"/>
            <a:ext cx="2743200" cy="365760"/>
          </a:xfrm>
          <a:prstGeom prst="rect">
            <a:avLst/>
          </a:prstGeom>
          <a:noFill/>
          <a:ln/>
        </p:spPr>
        <p:txBody>
          <a:bodyPr wrap="square" lIns="0" tIns="0" rIns="0" bIns="0" rtlCol="0" anchor="ctr"/>
          <a:lstStyle/>
          <a:p>
            <a:pPr indent="0" marL="0">
              <a:buNone/>
            </a:pPr>
            <a:r>
              <a:rPr lang="en-US" sz="1600" b="1" dirty="0">
                <a:solidFill>
                  <a:srgbClr val="0D9488"/>
                </a:solidFill>
                <a:latin typeface="Arial" pitchFamily="34" charset="0"/>
                <a:ea typeface="Arial" pitchFamily="34" charset="-122"/>
                <a:cs typeface="Arial" pitchFamily="34" charset="-120"/>
              </a:rPr>
              <a:t>Notice</a:t>
            </a:r>
            <a:endParaRPr lang="en-US" sz="1600" dirty="0"/>
          </a:p>
        </p:txBody>
      </p:sp>
      <p:sp>
        <p:nvSpPr>
          <p:cNvPr id="8" name="Text 6"/>
          <p:cNvSpPr/>
          <p:nvPr/>
        </p:nvSpPr>
        <p:spPr>
          <a:xfrm>
            <a:off x="8641080" y="2331720"/>
            <a:ext cx="2743200" cy="3291840"/>
          </a:xfrm>
          <a:prstGeom prst="rect">
            <a:avLst/>
          </a:prstGeom>
          <a:noFill/>
          <a:ln/>
        </p:spPr>
        <p:txBody>
          <a:bodyPr wrap="square" lIns="0" tIns="0" rIns="0" bIns="0" rtlCol="0" anchor="ctr"/>
          <a:lstStyle/>
          <a:p>
            <a:pPr marL="342900" indent="-342900">
              <a:spcAft>
                <a:spcPts val="1100"/>
              </a:spcAft>
              <a:buSzPct val="100000"/>
              <a:buChar char="•"/>
            </a:pPr>
            <a:r>
              <a:rPr lang="en-US" sz="1250" dirty="0">
                <a:solidFill>
                  <a:srgbClr val="1E293B"/>
                </a:solidFill>
                <a:latin typeface="Arial" pitchFamily="34" charset="0"/>
                <a:ea typeface="Arial" pitchFamily="34" charset="-122"/>
                <a:cs typeface="Arial" pitchFamily="34" charset="-120"/>
              </a:rPr>
              <a:t>make_plan returns a list of steps as text.</a:t>
            </a:r>
            <a:endParaRPr lang="en-US" sz="1250" dirty="0"/>
          </a:p>
          <a:p>
            <a:pPr marL="342900" indent="-342900">
              <a:spcAft>
                <a:spcPts val="1100"/>
              </a:spcAft>
              <a:buSzPct val="100000"/>
              <a:buChar char="•"/>
            </a:pPr>
            <a:r>
              <a:rPr lang="en-US" sz="1250" dirty="0">
                <a:solidFill>
                  <a:srgbClr val="1E293B"/>
                </a:solidFill>
                <a:latin typeface="Arial" pitchFamily="34" charset="0"/>
                <a:ea typeface="Arial" pitchFamily="34" charset="-122"/>
                <a:cs typeface="Arial" pitchFamily="34" charset="-120"/>
              </a:rPr>
              <a:t>You then execute each step in order.</a:t>
            </a:r>
            <a:endParaRPr lang="en-US" sz="1250" dirty="0"/>
          </a:p>
          <a:p>
            <a:pPr marL="342900" indent="-342900">
              <a:spcAft>
                <a:spcPts val="1100"/>
              </a:spcAft>
              <a:buSzPct val="100000"/>
              <a:buChar char="•"/>
            </a:pPr>
            <a:r>
              <a:rPr lang="en-US" sz="1250" dirty="0">
                <a:solidFill>
                  <a:srgbClr val="1E293B"/>
                </a:solidFill>
                <a:latin typeface="Arial" pitchFamily="34" charset="0"/>
                <a:ea typeface="Arial" pitchFamily="34" charset="-122"/>
                <a:cs typeface="Arial" pitchFamily="34" charset="-120"/>
              </a:rPr>
              <a:t>A plain plan is rigid: it cannot adapt mid-task.</a:t>
            </a:r>
            <a:endParaRPr lang="en-US" sz="1250" dirty="0"/>
          </a:p>
          <a:p>
            <a:pPr marL="342900" indent="-342900">
              <a:spcAft>
                <a:spcPts val="1100"/>
              </a:spcAft>
              <a:buSzPct val="100000"/>
              <a:buChar char="•"/>
            </a:pPr>
            <a:r>
              <a:rPr lang="en-US" sz="1250" dirty="0">
                <a:solidFill>
                  <a:srgbClr val="1E293B"/>
                </a:solidFill>
                <a:latin typeface="Arial" pitchFamily="34" charset="0"/>
                <a:ea typeface="Arial" pitchFamily="34" charset="-122"/>
                <a:cs typeface="Arial" pitchFamily="34" charset="-120"/>
              </a:rPr>
              <a:t>ReAct fixes that by planning and acting together.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TWO FLAVOURS OF PLANNING</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Plan once, or plan as you go</a:t>
            </a:r>
            <a:endParaRPr lang="en-US" sz="3000" dirty="0"/>
          </a:p>
        </p:txBody>
      </p:sp>
      <p:sp>
        <p:nvSpPr>
          <p:cNvPr id="4" name="Shape 2"/>
          <p:cNvSpPr/>
          <p:nvPr/>
        </p:nvSpPr>
        <p:spPr>
          <a:xfrm>
            <a:off x="640080" y="1783080"/>
            <a:ext cx="5349240" cy="3749040"/>
          </a:xfrm>
          <a:prstGeom prst="roundRect">
            <a:avLst>
              <a:gd name="adj" fmla="val 2195"/>
            </a:avLst>
          </a:prstGeom>
          <a:solidFill>
            <a:srgbClr val="F1F5F9"/>
          </a:solidFill>
          <a:ln/>
          <a:effectLst>
            <a:outerShdw sx="100000" sy="100000" kx="0" ky="0" algn="bl" rotWithShape="0" blurRad="88900" dist="38100" dir="5400000">
              <a:srgbClr val="0F2A33">
                <a:alpha val="16000"/>
              </a:srgbClr>
            </a:outerShdw>
          </a:effectLst>
        </p:spPr>
      </p:sp>
      <p:sp>
        <p:nvSpPr>
          <p:cNvPr id="5" name="Shape 3"/>
          <p:cNvSpPr/>
          <p:nvPr/>
        </p:nvSpPr>
        <p:spPr>
          <a:xfrm>
            <a:off x="932688" y="2057400"/>
            <a:ext cx="731520" cy="7315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22883" y="2247595"/>
            <a:ext cx="351130" cy="351130"/>
          </a:xfrm>
          <a:prstGeom prst="rect">
            <a:avLst/>
          </a:prstGeom>
        </p:spPr>
      </p:pic>
      <p:sp>
        <p:nvSpPr>
          <p:cNvPr id="7" name="Text 4"/>
          <p:cNvSpPr/>
          <p:nvPr/>
        </p:nvSpPr>
        <p:spPr>
          <a:xfrm>
            <a:off x="1874520" y="2194560"/>
            <a:ext cx="3931920" cy="457200"/>
          </a:xfrm>
          <a:prstGeom prst="rect">
            <a:avLst/>
          </a:prstGeom>
          <a:noFill/>
          <a:ln/>
        </p:spPr>
        <p:txBody>
          <a:bodyPr wrap="square" lIns="0" tIns="0" rIns="0" bIns="0" rtlCol="0" anchor="ctr"/>
          <a:lstStyle/>
          <a:p>
            <a:pPr indent="0" marL="0">
              <a:buNone/>
            </a:pPr>
            <a:r>
              <a:rPr lang="en-US" sz="1900" b="1" dirty="0">
                <a:solidFill>
                  <a:srgbClr val="1E293B"/>
                </a:solidFill>
                <a:latin typeface="Arial" pitchFamily="34" charset="0"/>
                <a:ea typeface="Arial" pitchFamily="34" charset="-122"/>
                <a:cs typeface="Arial" pitchFamily="34" charset="-120"/>
              </a:rPr>
              <a:t>Static plan</a:t>
            </a:r>
            <a:endParaRPr lang="en-US" sz="1900" dirty="0"/>
          </a:p>
        </p:txBody>
      </p:sp>
      <p:sp>
        <p:nvSpPr>
          <p:cNvPr id="8" name="Text 5"/>
          <p:cNvSpPr/>
          <p:nvPr/>
        </p:nvSpPr>
        <p:spPr>
          <a:xfrm>
            <a:off x="960120" y="2926080"/>
            <a:ext cx="4709160" cy="64008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Make the whole plan up front, then execute it without changing it.</a:t>
            </a:r>
            <a:endParaRPr lang="en-US" sz="1350" dirty="0"/>
          </a:p>
        </p:txBody>
      </p:sp>
      <p:sp>
        <p:nvSpPr>
          <p:cNvPr id="9" name="Text 6"/>
          <p:cNvSpPr/>
          <p:nvPr/>
        </p:nvSpPr>
        <p:spPr>
          <a:xfrm>
            <a:off x="1005840" y="3657600"/>
            <a:ext cx="4617720" cy="173736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E293B"/>
                </a:solidFill>
                <a:latin typeface="Arial" pitchFamily="34" charset="0"/>
                <a:ea typeface="Arial" pitchFamily="34" charset="-122"/>
                <a:cs typeface="Arial" pitchFamily="34" charset="-120"/>
              </a:rPr>
              <a:t>Simple and predictable</a:t>
            </a:r>
            <a:endParaRPr lang="en-US" sz="1350" dirty="0"/>
          </a:p>
          <a:p>
            <a:pPr marL="342900" indent="-342900">
              <a:spcAft>
                <a:spcPts val="800"/>
              </a:spcAft>
              <a:buSzPct val="100000"/>
              <a:buChar char="•"/>
            </a:pPr>
            <a:r>
              <a:rPr lang="en-US" sz="1350" dirty="0">
                <a:solidFill>
                  <a:srgbClr val="1E293B"/>
                </a:solidFill>
                <a:latin typeface="Arial" pitchFamily="34" charset="0"/>
                <a:ea typeface="Arial" pitchFamily="34" charset="-122"/>
                <a:cs typeface="Arial" pitchFamily="34" charset="-120"/>
              </a:rPr>
              <a:t>Good when steps are knowable in advance</a:t>
            </a:r>
            <a:endParaRPr lang="en-US" sz="1350" dirty="0"/>
          </a:p>
          <a:p>
            <a:pPr marL="342900" indent="-342900">
              <a:spcAft>
                <a:spcPts val="800"/>
              </a:spcAft>
              <a:buSzPct val="100000"/>
              <a:buChar char="•"/>
            </a:pPr>
            <a:r>
              <a:rPr lang="en-US" sz="1350" dirty="0">
                <a:solidFill>
                  <a:srgbClr val="1E293B"/>
                </a:solidFill>
                <a:latin typeface="Arial" pitchFamily="34" charset="0"/>
                <a:ea typeface="Arial" pitchFamily="34" charset="-122"/>
                <a:cs typeface="Arial" pitchFamily="34" charset="-120"/>
              </a:rPr>
              <a:t>Cannot adapt if reality differs from the plan</a:t>
            </a:r>
            <a:endParaRPr lang="en-US" sz="1350" dirty="0"/>
          </a:p>
        </p:txBody>
      </p:sp>
      <p:sp>
        <p:nvSpPr>
          <p:cNvPr id="10" name="Shape 7"/>
          <p:cNvSpPr/>
          <p:nvPr/>
        </p:nvSpPr>
        <p:spPr>
          <a:xfrm>
            <a:off x="6263640" y="1783080"/>
            <a:ext cx="5349240" cy="3749040"/>
          </a:xfrm>
          <a:prstGeom prst="roundRect">
            <a:avLst>
              <a:gd name="adj" fmla="val 2195"/>
            </a:avLst>
          </a:prstGeom>
          <a:solidFill>
            <a:srgbClr val="F1F5F9"/>
          </a:solidFill>
          <a:ln/>
          <a:effectLst>
            <a:outerShdw sx="100000" sy="100000" kx="0" ky="0" algn="bl" rotWithShape="0" blurRad="88900" dist="38100" dir="5400000">
              <a:srgbClr val="0F2A33">
                <a:alpha val="16000"/>
              </a:srgbClr>
            </a:outerShdw>
          </a:effectLst>
        </p:spPr>
      </p:sp>
      <p:sp>
        <p:nvSpPr>
          <p:cNvPr id="11" name="Shape 8"/>
          <p:cNvSpPr/>
          <p:nvPr/>
        </p:nvSpPr>
        <p:spPr>
          <a:xfrm>
            <a:off x="6556248" y="2057400"/>
            <a:ext cx="731520" cy="7315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2" name="Image 1" descr="preencoded.png">    </p:cNvPr>
          <p:cNvPicPr>
            <a:picLocks noChangeAspect="1"/>
          </p:cNvPicPr>
          <p:nvPr/>
        </p:nvPicPr>
        <p:blipFill>
          <a:blip r:embed="rId2"/>
          <a:stretch>
            <a:fillRect/>
          </a:stretch>
        </p:blipFill>
        <p:spPr>
          <a:xfrm>
            <a:off x="6746443" y="2247595"/>
            <a:ext cx="351130" cy="351130"/>
          </a:xfrm>
          <a:prstGeom prst="rect">
            <a:avLst/>
          </a:prstGeom>
        </p:spPr>
      </p:pic>
      <p:sp>
        <p:nvSpPr>
          <p:cNvPr id="13" name="Text 9"/>
          <p:cNvSpPr/>
          <p:nvPr/>
        </p:nvSpPr>
        <p:spPr>
          <a:xfrm>
            <a:off x="7498080" y="2194560"/>
            <a:ext cx="3931920" cy="457200"/>
          </a:xfrm>
          <a:prstGeom prst="rect">
            <a:avLst/>
          </a:prstGeom>
          <a:noFill/>
          <a:ln/>
        </p:spPr>
        <p:txBody>
          <a:bodyPr wrap="square" lIns="0" tIns="0" rIns="0" bIns="0" rtlCol="0" anchor="ctr"/>
          <a:lstStyle/>
          <a:p>
            <a:pPr indent="0" marL="0">
              <a:buNone/>
            </a:pPr>
            <a:r>
              <a:rPr lang="en-US" sz="1900" b="1" dirty="0">
                <a:solidFill>
                  <a:srgbClr val="1E293B"/>
                </a:solidFill>
                <a:latin typeface="Arial" pitchFamily="34" charset="0"/>
                <a:ea typeface="Arial" pitchFamily="34" charset="-122"/>
                <a:cs typeface="Arial" pitchFamily="34" charset="-120"/>
              </a:rPr>
              <a:t>Dynamic replanning</a:t>
            </a:r>
            <a:endParaRPr lang="en-US" sz="1900" dirty="0"/>
          </a:p>
        </p:txBody>
      </p:sp>
      <p:sp>
        <p:nvSpPr>
          <p:cNvPr id="14" name="Text 10"/>
          <p:cNvSpPr/>
          <p:nvPr/>
        </p:nvSpPr>
        <p:spPr>
          <a:xfrm>
            <a:off x="6583680" y="2926080"/>
            <a:ext cx="4709160" cy="64008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Plan a step, act, see the result, then decide the next step.</a:t>
            </a:r>
            <a:endParaRPr lang="en-US" sz="1350" dirty="0"/>
          </a:p>
        </p:txBody>
      </p:sp>
      <p:sp>
        <p:nvSpPr>
          <p:cNvPr id="15" name="Text 11"/>
          <p:cNvSpPr/>
          <p:nvPr/>
        </p:nvSpPr>
        <p:spPr>
          <a:xfrm>
            <a:off x="6629400" y="3657600"/>
            <a:ext cx="4617720" cy="173736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E293B"/>
                </a:solidFill>
                <a:latin typeface="Arial" pitchFamily="34" charset="0"/>
                <a:ea typeface="Arial" pitchFamily="34" charset="-122"/>
                <a:cs typeface="Arial" pitchFamily="34" charset="-120"/>
              </a:rPr>
              <a:t>Adapts to what it learns</a:t>
            </a:r>
            <a:endParaRPr lang="en-US" sz="1350" dirty="0"/>
          </a:p>
          <a:p>
            <a:pPr marL="342900" indent="-342900">
              <a:spcAft>
                <a:spcPts val="800"/>
              </a:spcAft>
              <a:buSzPct val="100000"/>
              <a:buChar char="•"/>
            </a:pPr>
            <a:r>
              <a:rPr lang="en-US" sz="1350" dirty="0">
                <a:solidFill>
                  <a:srgbClr val="1E293B"/>
                </a:solidFill>
                <a:latin typeface="Arial" pitchFamily="34" charset="0"/>
                <a:ea typeface="Arial" pitchFamily="34" charset="-122"/>
                <a:cs typeface="Arial" pitchFamily="34" charset="-120"/>
              </a:rPr>
              <a:t>Handles surprises and errors</a:t>
            </a:r>
            <a:endParaRPr lang="en-US" sz="1350" dirty="0"/>
          </a:p>
          <a:p>
            <a:pPr marL="342900" indent="-342900">
              <a:spcAft>
                <a:spcPts val="800"/>
              </a:spcAft>
              <a:buSzPct val="100000"/>
              <a:buChar char="•"/>
            </a:pPr>
            <a:r>
              <a:rPr lang="en-US" sz="1350" dirty="0">
                <a:solidFill>
                  <a:srgbClr val="1E293B"/>
                </a:solidFill>
                <a:latin typeface="Arial" pitchFamily="34" charset="0"/>
                <a:ea typeface="Arial" pitchFamily="34" charset="-122"/>
                <a:cs typeface="Arial" pitchFamily="34" charset="-120"/>
              </a:rPr>
              <a:t>More calls, less predictable</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PLANNING  -  TAKEAWAYS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Let the model write the chain, within limits</a:t>
            </a:r>
            <a:endParaRPr lang="en-US" sz="3000" dirty="0"/>
          </a:p>
        </p:txBody>
      </p:sp>
      <p:sp>
        <p:nvSpPr>
          <p:cNvPr id="4" name="Shape 2"/>
          <p:cNvSpPr/>
          <p:nvPr/>
        </p:nvSpPr>
        <p:spPr>
          <a:xfrm>
            <a:off x="640080" y="1828800"/>
            <a:ext cx="5349240" cy="3383280"/>
          </a:xfrm>
          <a:prstGeom prst="roundRect">
            <a:avLst>
              <a:gd name="adj" fmla="val 2432"/>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68680" y="2057400"/>
            <a:ext cx="548640" cy="5486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11326" y="2200046"/>
            <a:ext cx="263347" cy="263347"/>
          </a:xfrm>
          <a:prstGeom prst="rect">
            <a:avLst/>
          </a:prstGeom>
        </p:spPr>
      </p:pic>
      <p:sp>
        <p:nvSpPr>
          <p:cNvPr id="7" name="Text 4"/>
          <p:cNvSpPr/>
          <p:nvPr/>
        </p:nvSpPr>
        <p:spPr>
          <a:xfrm>
            <a:off x="1554480" y="2121408"/>
            <a:ext cx="4297680" cy="411480"/>
          </a:xfrm>
          <a:prstGeom prst="rect">
            <a:avLst/>
          </a:prstGeom>
          <a:noFill/>
          <a:ln/>
        </p:spPr>
        <p:txBody>
          <a:bodyPr wrap="square" lIns="0" tIns="0" rIns="0" bIns="0" rtlCol="0" anchor="ctr"/>
          <a:lstStyle/>
          <a:p>
            <a:pPr indent="0" marL="0">
              <a:buNone/>
            </a:pPr>
            <a:r>
              <a:rPr lang="en-US" sz="1700" b="1" dirty="0">
                <a:solidFill>
                  <a:srgbClr val="0D9488"/>
                </a:solidFill>
                <a:latin typeface="Arial" pitchFamily="34" charset="0"/>
                <a:ea typeface="Arial" pitchFamily="34" charset="-122"/>
                <a:cs typeface="Arial" pitchFamily="34" charset="-120"/>
              </a:rPr>
              <a:t>Do</a:t>
            </a:r>
            <a:endParaRPr lang="en-US" sz="1700" dirty="0"/>
          </a:p>
        </p:txBody>
      </p:sp>
      <p:sp>
        <p:nvSpPr>
          <p:cNvPr id="8" name="Text 5"/>
          <p:cNvSpPr/>
          <p:nvPr/>
        </p:nvSpPr>
        <p:spPr>
          <a:xfrm>
            <a:off x="914400" y="2743200"/>
            <a:ext cx="4846320" cy="228600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Have the model plan before acting on big tasks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Keep plans short, with clear, concrete steps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Carry each step's result forward as context</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Use dynamic replanning when tasks are unpredictable</a:t>
            </a:r>
            <a:endParaRPr lang="en-US" sz="1350" dirty="0"/>
          </a:p>
        </p:txBody>
      </p:sp>
      <p:sp>
        <p:nvSpPr>
          <p:cNvPr id="9" name="Shape 6"/>
          <p:cNvSpPr/>
          <p:nvPr/>
        </p:nvSpPr>
        <p:spPr>
          <a:xfrm>
            <a:off x="6172200" y="1828800"/>
            <a:ext cx="5349240" cy="3383280"/>
          </a:xfrm>
          <a:prstGeom prst="roundRect">
            <a:avLst>
              <a:gd name="adj" fmla="val 2432"/>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6400800" y="2057400"/>
            <a:ext cx="548640" cy="548640"/>
          </a:xfrm>
          <a:prstGeom prst="ellipse">
            <a:avLst/>
          </a:prstGeom>
          <a:solidFill>
            <a:srgbClr val="0F2A33"/>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6543446" y="2200046"/>
            <a:ext cx="263347" cy="263347"/>
          </a:xfrm>
          <a:prstGeom prst="rect">
            <a:avLst/>
          </a:prstGeom>
        </p:spPr>
      </p:pic>
      <p:sp>
        <p:nvSpPr>
          <p:cNvPr id="12" name="Text 8"/>
          <p:cNvSpPr/>
          <p:nvPr/>
        </p:nvSpPr>
        <p:spPr>
          <a:xfrm>
            <a:off x="7086600" y="2121408"/>
            <a:ext cx="4297680" cy="411480"/>
          </a:xfrm>
          <a:prstGeom prst="rect">
            <a:avLst/>
          </a:prstGeom>
          <a:noFill/>
          <a:ln/>
        </p:spPr>
        <p:txBody>
          <a:bodyPr wrap="square" lIns="0" tIns="0" rIns="0" bIns="0" rtlCol="0" anchor="ctr"/>
          <a:lstStyle/>
          <a:p>
            <a:pPr indent="0" marL="0">
              <a:buNone/>
            </a:pPr>
            <a:r>
              <a:rPr lang="en-US" sz="1700" b="1" dirty="0">
                <a:solidFill>
                  <a:srgbClr val="1E293B"/>
                </a:solidFill>
                <a:latin typeface="Arial" pitchFamily="34" charset="0"/>
                <a:ea typeface="Arial" pitchFamily="34" charset="-122"/>
                <a:cs typeface="Arial" pitchFamily="34" charset="-120"/>
              </a:rPr>
              <a:t>Watch out for</a:t>
            </a:r>
            <a:endParaRPr lang="en-US" sz="1700" dirty="0"/>
          </a:p>
        </p:txBody>
      </p:sp>
      <p:sp>
        <p:nvSpPr>
          <p:cNvPr id="13" name="Text 9"/>
          <p:cNvSpPr/>
          <p:nvPr/>
        </p:nvSpPr>
        <p:spPr>
          <a:xfrm>
            <a:off x="6446520" y="2743200"/>
            <a:ext cx="4846320" cy="228600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Over-planning a task a single call could solve</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Plans that are vague or too long to follow</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A static plan stuck on a wrong early assumption</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Steps that quietly depend on each other</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13343B"/>
          </a:solidFill>
          <a:ln/>
        </p:spPr>
      </p:sp>
      <p:sp>
        <p:nvSpPr>
          <p:cNvPr id="3" name="Shape 1"/>
          <p:cNvSpPr/>
          <p:nvPr/>
        </p:nvSpPr>
        <p:spPr>
          <a:xfrm>
            <a:off x="10607040" y="4206240"/>
            <a:ext cx="3840480" cy="3840480"/>
          </a:xfrm>
          <a:prstGeom prst="ellipse">
            <a:avLst/>
          </a:prstGeom>
          <a:solidFill>
            <a:srgbClr val="13343B"/>
          </a:solidFill>
          <a:ln/>
        </p:spPr>
      </p:sp>
      <p:sp>
        <p:nvSpPr>
          <p:cNvPr id="4" name="Text 2"/>
          <p:cNvSpPr/>
          <p:nvPr/>
        </p:nvSpPr>
        <p:spPr>
          <a:xfrm>
            <a:off x="822960" y="2240280"/>
            <a:ext cx="8229600" cy="365760"/>
          </a:xfrm>
          <a:prstGeom prst="rect">
            <a:avLst/>
          </a:prstGeom>
          <a:noFill/>
          <a:ln/>
        </p:spPr>
        <p:txBody>
          <a:bodyPr wrap="square" rtlCol="0" anchor="ctr"/>
          <a:lstStyle/>
          <a:p>
            <a:pPr indent="0" marL="0">
              <a:buNone/>
            </a:pPr>
            <a:r>
              <a:rPr lang="en-US" sz="1500" b="1" spc="400" kern="0" dirty="0">
                <a:solidFill>
                  <a:srgbClr val="0D9488"/>
                </a:solidFill>
                <a:latin typeface="Arial" pitchFamily="34" charset="0"/>
                <a:ea typeface="Arial" pitchFamily="34" charset="-122"/>
                <a:cs typeface="Arial" pitchFamily="34" charset="-120"/>
              </a:rPr>
              <a:t>PART 3  -  THE HEART OF TODAY</a:t>
            </a:r>
            <a:endParaRPr lang="en-US" sz="1500" dirty="0"/>
          </a:p>
        </p:txBody>
      </p:sp>
      <p:sp>
        <p:nvSpPr>
          <p:cNvPr id="5" name="Text 3"/>
          <p:cNvSpPr/>
          <p:nvPr/>
        </p:nvSpPr>
        <p:spPr>
          <a:xfrm>
            <a:off x="777240" y="2606040"/>
            <a:ext cx="10058400" cy="1371600"/>
          </a:xfrm>
          <a:prstGeom prst="rect">
            <a:avLst/>
          </a:prstGeom>
          <a:noFill/>
          <a:ln/>
        </p:spPr>
        <p:txBody>
          <a:bodyPr wrap="square" rtlCol="0" anchor="ctr"/>
          <a:lstStyle/>
          <a:p>
            <a:pPr indent="0" marL="0">
              <a:buNone/>
            </a:pPr>
            <a:r>
              <a:rPr lang="en-US" sz="4600" b="1" dirty="0">
                <a:solidFill>
                  <a:srgbClr val="FFFFFF"/>
                </a:solidFill>
                <a:latin typeface="Arial" pitchFamily="34" charset="0"/>
                <a:ea typeface="Arial" pitchFamily="34" charset="-122"/>
                <a:cs typeface="Arial" pitchFamily="34" charset="-120"/>
              </a:rPr>
              <a:t>ReAct: Reason and Act</a:t>
            </a:r>
            <a:endParaRPr lang="en-US" sz="4600" dirty="0"/>
          </a:p>
        </p:txBody>
      </p:sp>
      <p:sp>
        <p:nvSpPr>
          <p:cNvPr id="6" name="Text 4"/>
          <p:cNvSpPr/>
          <p:nvPr/>
        </p:nvSpPr>
        <p:spPr>
          <a:xfrm>
            <a:off x="822960" y="3977640"/>
            <a:ext cx="10058400" cy="457200"/>
          </a:xfrm>
          <a:prstGeom prst="rect">
            <a:avLst/>
          </a:prstGeom>
          <a:noFill/>
          <a:ln/>
        </p:spPr>
        <p:txBody>
          <a:bodyPr wrap="square" rtlCol="0" anchor="ctr"/>
          <a:lstStyle/>
          <a:p>
            <a:pPr indent="0" marL="0">
              <a:buNone/>
            </a:pPr>
            <a:r>
              <a:rPr lang="en-US" sz="1600" i="1" dirty="0">
                <a:solidFill>
                  <a:srgbClr val="5EEAD4"/>
                </a:solidFill>
                <a:latin typeface="Arial" pitchFamily="34" charset="0"/>
                <a:ea typeface="Arial" pitchFamily="34" charset="-122"/>
                <a:cs typeface="Arial" pitchFamily="34" charset="-120"/>
              </a:rPr>
              <a:t>The model thinks, acts, observes, and repeats on its own</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THE IDEA</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Reasoning and tool use, woven together in a loop</a:t>
            </a:r>
            <a:endParaRPr lang="en-US" sz="3000" dirty="0"/>
          </a:p>
        </p:txBody>
      </p:sp>
      <p:sp>
        <p:nvSpPr>
          <p:cNvPr id="4" name="Shape 2"/>
          <p:cNvSpPr/>
          <p:nvPr/>
        </p:nvSpPr>
        <p:spPr>
          <a:xfrm>
            <a:off x="640080" y="1737360"/>
            <a:ext cx="10881360" cy="1234440"/>
          </a:xfrm>
          <a:prstGeom prst="roundRect">
            <a:avLst>
              <a:gd name="adj" fmla="val 6667"/>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1947672"/>
            <a:ext cx="777240" cy="7772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16482" y="2149754"/>
            <a:ext cx="373075" cy="373075"/>
          </a:xfrm>
          <a:prstGeom prst="rect">
            <a:avLst/>
          </a:prstGeom>
        </p:spPr>
      </p:pic>
      <p:sp>
        <p:nvSpPr>
          <p:cNvPr id="7" name="Text 4"/>
          <p:cNvSpPr/>
          <p:nvPr/>
        </p:nvSpPr>
        <p:spPr>
          <a:xfrm>
            <a:off x="1920240" y="1810512"/>
            <a:ext cx="9326880" cy="1097280"/>
          </a:xfrm>
          <a:prstGeom prst="rect">
            <a:avLst/>
          </a:prstGeom>
          <a:noFill/>
          <a:ln/>
        </p:spPr>
        <p:txBody>
          <a:bodyPr wrap="square" lIns="0" tIns="0" rIns="0" bIns="0" rtlCol="0" anchor="ctr"/>
          <a:lstStyle/>
          <a:p>
            <a:pPr indent="0" marL="0">
              <a:buNone/>
            </a:pPr>
            <a:r>
              <a:rPr lang="en-US" sz="1600" b="1" dirty="0">
                <a:solidFill>
                  <a:srgbClr val="5EEAD4"/>
                </a:solidFill>
                <a:latin typeface="Arial" pitchFamily="34" charset="0"/>
                <a:ea typeface="Arial" pitchFamily="34" charset="-122"/>
                <a:cs typeface="Arial" pitchFamily="34" charset="-120"/>
              </a:rPr>
              <a:t>ReAct = Reason + Act. </a:t>
            </a:r>
            <a:pPr indent="0" marL="0">
              <a:buNone/>
            </a:pPr>
            <a:r>
              <a:rPr lang="en-US" sz="1600" dirty="0">
                <a:solidFill>
                  <a:srgbClr val="FFFFFF"/>
                </a:solidFill>
                <a:latin typeface="Arial" pitchFamily="34" charset="0"/>
                <a:ea typeface="Arial" pitchFamily="34" charset="-122"/>
                <a:cs typeface="Arial" pitchFamily="34" charset="-120"/>
              </a:rPr>
              <a:t>The model thinks about what to do, takes one action with a tool, sees the result, then thinks again. It keeps going until it has the answer.</a:t>
            </a:r>
            <a:endParaRPr lang="en-US" sz="1600" dirty="0"/>
          </a:p>
        </p:txBody>
      </p:sp>
      <p:sp>
        <p:nvSpPr>
          <p:cNvPr id="8" name="Shape 5"/>
          <p:cNvSpPr/>
          <p:nvPr/>
        </p:nvSpPr>
        <p:spPr>
          <a:xfrm>
            <a:off x="640080" y="3246120"/>
            <a:ext cx="3520440" cy="2240280"/>
          </a:xfrm>
          <a:prstGeom prst="roundRect">
            <a:avLst>
              <a:gd name="adj" fmla="val 3673"/>
            </a:avLst>
          </a:prstGeom>
          <a:solidFill>
            <a:srgbClr val="F0FDFA"/>
          </a:solidFill>
          <a:ln/>
          <a:effectLst>
            <a:outerShdw sx="100000" sy="100000" kx="0" ky="0" algn="bl" rotWithShape="0" blurRad="88900" dist="38100" dir="5400000">
              <a:srgbClr val="0F2A33">
                <a:alpha val="16000"/>
              </a:srgbClr>
            </a:outerShdw>
          </a:effectLst>
        </p:spPr>
      </p:sp>
      <p:sp>
        <p:nvSpPr>
          <p:cNvPr id="9" name="Shape 6"/>
          <p:cNvSpPr/>
          <p:nvPr/>
        </p:nvSpPr>
        <p:spPr>
          <a:xfrm>
            <a:off x="914400" y="3520440"/>
            <a:ext cx="731520" cy="73152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0" name="Image 1" descr="preencoded.png">    </p:cNvPr>
          <p:cNvPicPr>
            <a:picLocks noChangeAspect="1"/>
          </p:cNvPicPr>
          <p:nvPr/>
        </p:nvPicPr>
        <p:blipFill>
          <a:blip r:embed="rId2"/>
          <a:stretch>
            <a:fillRect/>
          </a:stretch>
        </p:blipFill>
        <p:spPr>
          <a:xfrm>
            <a:off x="1104595" y="3710635"/>
            <a:ext cx="351130" cy="351130"/>
          </a:xfrm>
          <a:prstGeom prst="rect">
            <a:avLst/>
          </a:prstGeom>
        </p:spPr>
      </p:pic>
      <p:sp>
        <p:nvSpPr>
          <p:cNvPr id="11" name="Text 7"/>
          <p:cNvSpPr/>
          <p:nvPr/>
        </p:nvSpPr>
        <p:spPr>
          <a:xfrm>
            <a:off x="1828800" y="3657600"/>
            <a:ext cx="2194560" cy="457200"/>
          </a:xfrm>
          <a:prstGeom prst="rect">
            <a:avLst/>
          </a:prstGeom>
          <a:noFill/>
          <a:ln/>
        </p:spPr>
        <p:txBody>
          <a:bodyPr wrap="square" lIns="0" tIns="0" rIns="0" bIns="0" rtlCol="0" anchor="ctr"/>
          <a:lstStyle/>
          <a:p>
            <a:pPr indent="0" marL="0">
              <a:buNone/>
            </a:pPr>
            <a:r>
              <a:rPr lang="en-US" sz="1700" b="1" dirty="0">
                <a:solidFill>
                  <a:srgbClr val="1E293B"/>
                </a:solidFill>
                <a:latin typeface="Arial" pitchFamily="34" charset="0"/>
                <a:ea typeface="Arial" pitchFamily="34" charset="-122"/>
                <a:cs typeface="Arial" pitchFamily="34" charset="-120"/>
              </a:rPr>
              <a:t>Reason</a:t>
            </a:r>
            <a:endParaRPr lang="en-US" sz="1700" dirty="0"/>
          </a:p>
        </p:txBody>
      </p:sp>
      <p:sp>
        <p:nvSpPr>
          <p:cNvPr id="12" name="Text 8"/>
          <p:cNvSpPr/>
          <p:nvPr/>
        </p:nvSpPr>
        <p:spPr>
          <a:xfrm>
            <a:off x="914400" y="4434840"/>
            <a:ext cx="301752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Decide the next step based on everything seen so far</a:t>
            </a:r>
            <a:endParaRPr lang="en-US" sz="1300" dirty="0"/>
          </a:p>
        </p:txBody>
      </p:sp>
      <p:sp>
        <p:nvSpPr>
          <p:cNvPr id="13" name="Shape 9"/>
          <p:cNvSpPr/>
          <p:nvPr/>
        </p:nvSpPr>
        <p:spPr>
          <a:xfrm>
            <a:off x="4297680" y="3246120"/>
            <a:ext cx="3520440" cy="2240280"/>
          </a:xfrm>
          <a:prstGeom prst="roundRect">
            <a:avLst>
              <a:gd name="adj" fmla="val 3673"/>
            </a:avLst>
          </a:prstGeom>
          <a:solidFill>
            <a:srgbClr val="F0FDFA"/>
          </a:solidFill>
          <a:ln/>
          <a:effectLst>
            <a:outerShdw sx="100000" sy="100000" kx="0" ky="0" algn="bl" rotWithShape="0" blurRad="88900" dist="38100" dir="5400000">
              <a:srgbClr val="0F2A33">
                <a:alpha val="16000"/>
              </a:srgbClr>
            </a:outerShdw>
          </a:effectLst>
        </p:spPr>
      </p:sp>
      <p:sp>
        <p:nvSpPr>
          <p:cNvPr id="14" name="Shape 10"/>
          <p:cNvSpPr/>
          <p:nvPr/>
        </p:nvSpPr>
        <p:spPr>
          <a:xfrm>
            <a:off x="4572000" y="3520440"/>
            <a:ext cx="731520" cy="73152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5" name="Image 2" descr="preencoded.png">    </p:cNvPr>
          <p:cNvPicPr>
            <a:picLocks noChangeAspect="1"/>
          </p:cNvPicPr>
          <p:nvPr/>
        </p:nvPicPr>
        <p:blipFill>
          <a:blip r:embed="rId3"/>
          <a:stretch>
            <a:fillRect/>
          </a:stretch>
        </p:blipFill>
        <p:spPr>
          <a:xfrm>
            <a:off x="4762195" y="3710635"/>
            <a:ext cx="351130" cy="351130"/>
          </a:xfrm>
          <a:prstGeom prst="rect">
            <a:avLst/>
          </a:prstGeom>
        </p:spPr>
      </p:pic>
      <p:sp>
        <p:nvSpPr>
          <p:cNvPr id="16" name="Text 11"/>
          <p:cNvSpPr/>
          <p:nvPr/>
        </p:nvSpPr>
        <p:spPr>
          <a:xfrm>
            <a:off x="5486400" y="3657600"/>
            <a:ext cx="2194560" cy="457200"/>
          </a:xfrm>
          <a:prstGeom prst="rect">
            <a:avLst/>
          </a:prstGeom>
          <a:noFill/>
          <a:ln/>
        </p:spPr>
        <p:txBody>
          <a:bodyPr wrap="square" lIns="0" tIns="0" rIns="0" bIns="0" rtlCol="0" anchor="ctr"/>
          <a:lstStyle/>
          <a:p>
            <a:pPr indent="0" marL="0">
              <a:buNone/>
            </a:pPr>
            <a:r>
              <a:rPr lang="en-US" sz="1700" b="1" dirty="0">
                <a:solidFill>
                  <a:srgbClr val="1E293B"/>
                </a:solidFill>
                <a:latin typeface="Arial" pitchFamily="34" charset="0"/>
                <a:ea typeface="Arial" pitchFamily="34" charset="-122"/>
                <a:cs typeface="Arial" pitchFamily="34" charset="-120"/>
              </a:rPr>
              <a:t>Act</a:t>
            </a:r>
            <a:endParaRPr lang="en-US" sz="1700" dirty="0"/>
          </a:p>
        </p:txBody>
      </p:sp>
      <p:sp>
        <p:nvSpPr>
          <p:cNvPr id="17" name="Text 12"/>
          <p:cNvSpPr/>
          <p:nvPr/>
        </p:nvSpPr>
        <p:spPr>
          <a:xfrm>
            <a:off x="4572000" y="4434840"/>
            <a:ext cx="301752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Call one tool to gather a fact or change something</a:t>
            </a:r>
            <a:endParaRPr lang="en-US" sz="1300" dirty="0"/>
          </a:p>
        </p:txBody>
      </p:sp>
      <p:sp>
        <p:nvSpPr>
          <p:cNvPr id="18" name="Shape 13"/>
          <p:cNvSpPr/>
          <p:nvPr/>
        </p:nvSpPr>
        <p:spPr>
          <a:xfrm>
            <a:off x="7955280" y="3246120"/>
            <a:ext cx="3520440" cy="2240280"/>
          </a:xfrm>
          <a:prstGeom prst="roundRect">
            <a:avLst>
              <a:gd name="adj" fmla="val 3673"/>
            </a:avLst>
          </a:prstGeom>
          <a:solidFill>
            <a:srgbClr val="F0FDFA"/>
          </a:solidFill>
          <a:ln/>
          <a:effectLst>
            <a:outerShdw sx="100000" sy="100000" kx="0" ky="0" algn="bl" rotWithShape="0" blurRad="88900" dist="38100" dir="5400000">
              <a:srgbClr val="0F2A33">
                <a:alpha val="16000"/>
              </a:srgbClr>
            </a:outerShdw>
          </a:effectLst>
        </p:spPr>
      </p:sp>
      <p:sp>
        <p:nvSpPr>
          <p:cNvPr id="19" name="Shape 14"/>
          <p:cNvSpPr/>
          <p:nvPr/>
        </p:nvSpPr>
        <p:spPr>
          <a:xfrm>
            <a:off x="8229600" y="3520440"/>
            <a:ext cx="731520" cy="73152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20" name="Image 3" descr="preencoded.png">    </p:cNvPr>
          <p:cNvPicPr>
            <a:picLocks noChangeAspect="1"/>
          </p:cNvPicPr>
          <p:nvPr/>
        </p:nvPicPr>
        <p:blipFill>
          <a:blip r:embed="rId4"/>
          <a:stretch>
            <a:fillRect/>
          </a:stretch>
        </p:blipFill>
        <p:spPr>
          <a:xfrm>
            <a:off x="8419795" y="3710635"/>
            <a:ext cx="351130" cy="351130"/>
          </a:xfrm>
          <a:prstGeom prst="rect">
            <a:avLst/>
          </a:prstGeom>
        </p:spPr>
      </p:pic>
      <p:sp>
        <p:nvSpPr>
          <p:cNvPr id="21" name="Text 15"/>
          <p:cNvSpPr/>
          <p:nvPr/>
        </p:nvSpPr>
        <p:spPr>
          <a:xfrm>
            <a:off x="9144000" y="3657600"/>
            <a:ext cx="2194560" cy="457200"/>
          </a:xfrm>
          <a:prstGeom prst="rect">
            <a:avLst/>
          </a:prstGeom>
          <a:noFill/>
          <a:ln/>
        </p:spPr>
        <p:txBody>
          <a:bodyPr wrap="square" lIns="0" tIns="0" rIns="0" bIns="0" rtlCol="0" anchor="ctr"/>
          <a:lstStyle/>
          <a:p>
            <a:pPr indent="0" marL="0">
              <a:buNone/>
            </a:pPr>
            <a:r>
              <a:rPr lang="en-US" sz="1700" b="1" dirty="0">
                <a:solidFill>
                  <a:srgbClr val="1E293B"/>
                </a:solidFill>
                <a:latin typeface="Arial" pitchFamily="34" charset="0"/>
                <a:ea typeface="Arial" pitchFamily="34" charset="-122"/>
                <a:cs typeface="Arial" pitchFamily="34" charset="-120"/>
              </a:rPr>
              <a:t>Observe</a:t>
            </a:r>
            <a:endParaRPr lang="en-US" sz="1700" dirty="0"/>
          </a:p>
        </p:txBody>
      </p:sp>
      <p:sp>
        <p:nvSpPr>
          <p:cNvPr id="22" name="Text 16"/>
          <p:cNvSpPr/>
          <p:nvPr/>
        </p:nvSpPr>
        <p:spPr>
          <a:xfrm>
            <a:off x="8229600" y="4434840"/>
            <a:ext cx="301752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Read the tool result, then loop back to reason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THE REACT LOOP</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Thought, Action, Observation, repeat</a:t>
            </a:r>
            <a:endParaRPr lang="en-US" sz="3000" dirty="0"/>
          </a:p>
        </p:txBody>
      </p:sp>
      <p:sp>
        <p:nvSpPr>
          <p:cNvPr id="4" name="Shape 2"/>
          <p:cNvSpPr/>
          <p:nvPr/>
        </p:nvSpPr>
        <p:spPr>
          <a:xfrm>
            <a:off x="914400" y="2194560"/>
            <a:ext cx="3017520" cy="1371600"/>
          </a:xfrm>
          <a:prstGeom prst="roundRect">
            <a:avLst>
              <a:gd name="adj" fmla="val 6667"/>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1143000" y="2377440"/>
            <a:ext cx="640080" cy="64008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309421" y="2543861"/>
            <a:ext cx="307238" cy="307238"/>
          </a:xfrm>
          <a:prstGeom prst="rect">
            <a:avLst/>
          </a:prstGeom>
        </p:spPr>
      </p:pic>
      <p:sp>
        <p:nvSpPr>
          <p:cNvPr id="7" name="Text 4"/>
          <p:cNvSpPr/>
          <p:nvPr/>
        </p:nvSpPr>
        <p:spPr>
          <a:xfrm>
            <a:off x="1874520" y="2450592"/>
            <a:ext cx="1920240" cy="457200"/>
          </a:xfrm>
          <a:prstGeom prst="rect">
            <a:avLst/>
          </a:prstGeom>
          <a:noFill/>
          <a:ln/>
        </p:spPr>
        <p:txBody>
          <a:bodyPr wrap="square" lIns="0" tIns="0" rIns="0" bIns="0" rtlCol="0" anchor="ctr"/>
          <a:lstStyle/>
          <a:p>
            <a:pPr indent="0" marL="0">
              <a:buNone/>
            </a:pPr>
            <a:r>
              <a:rPr lang="en-US" sz="1700" b="1" dirty="0">
                <a:solidFill>
                  <a:srgbClr val="5EEAD4"/>
                </a:solidFill>
                <a:latin typeface="Arial" pitchFamily="34" charset="0"/>
                <a:ea typeface="Arial" pitchFamily="34" charset="-122"/>
                <a:cs typeface="Arial" pitchFamily="34" charset="-120"/>
              </a:rPr>
              <a:t>Thought</a:t>
            </a:r>
            <a:endParaRPr lang="en-US" sz="1700" dirty="0"/>
          </a:p>
        </p:txBody>
      </p:sp>
      <p:sp>
        <p:nvSpPr>
          <p:cNvPr id="8" name="Text 5"/>
          <p:cNvSpPr/>
          <p:nvPr/>
        </p:nvSpPr>
        <p:spPr>
          <a:xfrm>
            <a:off x="1143000" y="2971800"/>
            <a:ext cx="2606040" cy="45720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what to do next</a:t>
            </a:r>
            <a:endParaRPr lang="en-US" sz="1250" dirty="0"/>
          </a:p>
        </p:txBody>
      </p:sp>
      <p:sp>
        <p:nvSpPr>
          <p:cNvPr id="9" name="Shape 6"/>
          <p:cNvSpPr/>
          <p:nvPr/>
        </p:nvSpPr>
        <p:spPr>
          <a:xfrm>
            <a:off x="4572000" y="2194560"/>
            <a:ext cx="3017520" cy="1371600"/>
          </a:xfrm>
          <a:prstGeom prst="roundRect">
            <a:avLst>
              <a:gd name="adj" fmla="val 6667"/>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4800600" y="2377440"/>
            <a:ext cx="640080" cy="64008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4967021" y="2543861"/>
            <a:ext cx="307238" cy="307238"/>
          </a:xfrm>
          <a:prstGeom prst="rect">
            <a:avLst/>
          </a:prstGeom>
        </p:spPr>
      </p:pic>
      <p:sp>
        <p:nvSpPr>
          <p:cNvPr id="12" name="Text 8"/>
          <p:cNvSpPr/>
          <p:nvPr/>
        </p:nvSpPr>
        <p:spPr>
          <a:xfrm>
            <a:off x="5532120" y="2450592"/>
            <a:ext cx="1920240" cy="457200"/>
          </a:xfrm>
          <a:prstGeom prst="rect">
            <a:avLst/>
          </a:prstGeom>
          <a:noFill/>
          <a:ln/>
        </p:spPr>
        <p:txBody>
          <a:bodyPr wrap="square" lIns="0" tIns="0" rIns="0" bIns="0" rtlCol="0" anchor="ctr"/>
          <a:lstStyle/>
          <a:p>
            <a:pPr indent="0" marL="0">
              <a:buNone/>
            </a:pPr>
            <a:r>
              <a:rPr lang="en-US" sz="1700" b="1" dirty="0">
                <a:solidFill>
                  <a:srgbClr val="1E293B"/>
                </a:solidFill>
                <a:latin typeface="Arial" pitchFamily="34" charset="0"/>
                <a:ea typeface="Arial" pitchFamily="34" charset="-122"/>
                <a:cs typeface="Arial" pitchFamily="34" charset="-120"/>
              </a:rPr>
              <a:t>Action</a:t>
            </a:r>
            <a:endParaRPr lang="en-US" sz="1700" dirty="0"/>
          </a:p>
        </p:txBody>
      </p:sp>
      <p:sp>
        <p:nvSpPr>
          <p:cNvPr id="13" name="Text 9"/>
          <p:cNvSpPr/>
          <p:nvPr/>
        </p:nvSpPr>
        <p:spPr>
          <a:xfrm>
            <a:off x="4800600" y="2971800"/>
            <a:ext cx="2606040" cy="45720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call a tool</a:t>
            </a:r>
            <a:endParaRPr lang="en-US" sz="1250" dirty="0"/>
          </a:p>
        </p:txBody>
      </p:sp>
      <p:sp>
        <p:nvSpPr>
          <p:cNvPr id="14" name="Shape 10"/>
          <p:cNvSpPr/>
          <p:nvPr/>
        </p:nvSpPr>
        <p:spPr>
          <a:xfrm>
            <a:off x="8229600" y="2194560"/>
            <a:ext cx="3017520" cy="1371600"/>
          </a:xfrm>
          <a:prstGeom prst="roundRect">
            <a:avLst>
              <a:gd name="adj" fmla="val 6667"/>
            </a:avLst>
          </a:prstGeom>
          <a:solidFill>
            <a:srgbClr val="F1F5F9"/>
          </a:solidFill>
          <a:ln/>
          <a:effectLst>
            <a:outerShdw sx="100000" sy="100000" kx="0" ky="0" algn="bl" rotWithShape="0" blurRad="88900" dist="38100" dir="5400000">
              <a:srgbClr val="0F2A33">
                <a:alpha val="16000"/>
              </a:srgbClr>
            </a:outerShdw>
          </a:effectLst>
        </p:spPr>
      </p:sp>
      <p:sp>
        <p:nvSpPr>
          <p:cNvPr id="15" name="Shape 11"/>
          <p:cNvSpPr/>
          <p:nvPr/>
        </p:nvSpPr>
        <p:spPr>
          <a:xfrm>
            <a:off x="8458200" y="2377440"/>
            <a:ext cx="640080" cy="64008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6" name="Image 2" descr="preencoded.png">    </p:cNvPr>
          <p:cNvPicPr>
            <a:picLocks noChangeAspect="1"/>
          </p:cNvPicPr>
          <p:nvPr/>
        </p:nvPicPr>
        <p:blipFill>
          <a:blip r:embed="rId3"/>
          <a:stretch>
            <a:fillRect/>
          </a:stretch>
        </p:blipFill>
        <p:spPr>
          <a:xfrm>
            <a:off x="8624621" y="2543861"/>
            <a:ext cx="307238" cy="307238"/>
          </a:xfrm>
          <a:prstGeom prst="rect">
            <a:avLst/>
          </a:prstGeom>
        </p:spPr>
      </p:pic>
      <p:sp>
        <p:nvSpPr>
          <p:cNvPr id="17" name="Text 12"/>
          <p:cNvSpPr/>
          <p:nvPr/>
        </p:nvSpPr>
        <p:spPr>
          <a:xfrm>
            <a:off x="9189720" y="2450592"/>
            <a:ext cx="1920240" cy="457200"/>
          </a:xfrm>
          <a:prstGeom prst="rect">
            <a:avLst/>
          </a:prstGeom>
          <a:noFill/>
          <a:ln/>
        </p:spPr>
        <p:txBody>
          <a:bodyPr wrap="square" lIns="0" tIns="0" rIns="0" bIns="0" rtlCol="0" anchor="ctr"/>
          <a:lstStyle/>
          <a:p>
            <a:pPr indent="0" marL="0">
              <a:buNone/>
            </a:pPr>
            <a:r>
              <a:rPr lang="en-US" sz="1700" b="1" dirty="0">
                <a:solidFill>
                  <a:srgbClr val="1E293B"/>
                </a:solidFill>
                <a:latin typeface="Arial" pitchFamily="34" charset="0"/>
                <a:ea typeface="Arial" pitchFamily="34" charset="-122"/>
                <a:cs typeface="Arial" pitchFamily="34" charset="-120"/>
              </a:rPr>
              <a:t>Observation</a:t>
            </a:r>
            <a:endParaRPr lang="en-US" sz="1700" dirty="0"/>
          </a:p>
        </p:txBody>
      </p:sp>
      <p:sp>
        <p:nvSpPr>
          <p:cNvPr id="18" name="Text 13"/>
          <p:cNvSpPr/>
          <p:nvPr/>
        </p:nvSpPr>
        <p:spPr>
          <a:xfrm>
            <a:off x="8458200" y="2971800"/>
            <a:ext cx="2606040" cy="45720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read the result</a:t>
            </a:r>
            <a:endParaRPr lang="en-US" sz="1250" dirty="0"/>
          </a:p>
        </p:txBody>
      </p:sp>
      <p:sp>
        <p:nvSpPr>
          <p:cNvPr id="19" name="Shape 14"/>
          <p:cNvSpPr/>
          <p:nvPr/>
        </p:nvSpPr>
        <p:spPr>
          <a:xfrm>
            <a:off x="3977640" y="2880360"/>
            <a:ext cx="548640" cy="0"/>
          </a:xfrm>
          <a:prstGeom prst="line">
            <a:avLst/>
          </a:prstGeom>
          <a:noFill/>
          <a:ln w="28575">
            <a:solidFill>
              <a:srgbClr val="0D9488"/>
            </a:solidFill>
            <a:prstDash val="solid"/>
            <a:tailEnd type="triangle"/>
          </a:ln>
        </p:spPr>
      </p:sp>
      <p:sp>
        <p:nvSpPr>
          <p:cNvPr id="20" name="Shape 15"/>
          <p:cNvSpPr/>
          <p:nvPr/>
        </p:nvSpPr>
        <p:spPr>
          <a:xfrm>
            <a:off x="7635240" y="2880360"/>
            <a:ext cx="548640" cy="0"/>
          </a:xfrm>
          <a:prstGeom prst="line">
            <a:avLst/>
          </a:prstGeom>
          <a:noFill/>
          <a:ln w="28575">
            <a:solidFill>
              <a:srgbClr val="0D9488"/>
            </a:solidFill>
            <a:prstDash val="solid"/>
            <a:tailEnd type="triangle"/>
          </a:ln>
        </p:spPr>
      </p:sp>
      <p:sp>
        <p:nvSpPr>
          <p:cNvPr id="21" name="Shape 16"/>
          <p:cNvSpPr/>
          <p:nvPr/>
        </p:nvSpPr>
        <p:spPr>
          <a:xfrm>
            <a:off x="2423160" y="4069080"/>
            <a:ext cx="7269480" cy="0"/>
          </a:xfrm>
          <a:prstGeom prst="line">
            <a:avLst/>
          </a:prstGeom>
          <a:noFill/>
          <a:ln w="28575">
            <a:solidFill>
              <a:srgbClr val="F59E0B"/>
            </a:solidFill>
            <a:prstDash val="solid"/>
            <a:headEnd type="triangle"/>
          </a:ln>
        </p:spPr>
      </p:sp>
      <p:sp>
        <p:nvSpPr>
          <p:cNvPr id="22" name="Shape 17"/>
          <p:cNvSpPr/>
          <p:nvPr/>
        </p:nvSpPr>
        <p:spPr>
          <a:xfrm>
            <a:off x="9692640" y="3566160"/>
            <a:ext cx="0" cy="502920"/>
          </a:xfrm>
          <a:prstGeom prst="line">
            <a:avLst/>
          </a:prstGeom>
          <a:noFill/>
          <a:ln w="28575">
            <a:solidFill>
              <a:srgbClr val="F59E0B"/>
            </a:solidFill>
            <a:prstDash val="solid"/>
          </a:ln>
        </p:spPr>
      </p:sp>
      <p:sp>
        <p:nvSpPr>
          <p:cNvPr id="23" name="Shape 18"/>
          <p:cNvSpPr/>
          <p:nvPr/>
        </p:nvSpPr>
        <p:spPr>
          <a:xfrm>
            <a:off x="2423160" y="3566160"/>
            <a:ext cx="0" cy="502920"/>
          </a:xfrm>
          <a:prstGeom prst="line">
            <a:avLst/>
          </a:prstGeom>
          <a:noFill/>
          <a:ln w="28575">
            <a:solidFill>
              <a:srgbClr val="F59E0B"/>
            </a:solidFill>
            <a:prstDash val="solid"/>
          </a:ln>
        </p:spPr>
      </p:sp>
      <p:sp>
        <p:nvSpPr>
          <p:cNvPr id="24" name="Text 19"/>
          <p:cNvSpPr/>
          <p:nvPr/>
        </p:nvSpPr>
        <p:spPr>
          <a:xfrm>
            <a:off x="2743200" y="4133088"/>
            <a:ext cx="6400800" cy="365760"/>
          </a:xfrm>
          <a:prstGeom prst="rect">
            <a:avLst/>
          </a:prstGeom>
          <a:noFill/>
          <a:ln/>
        </p:spPr>
        <p:txBody>
          <a:bodyPr wrap="square" lIns="0" tIns="0" rIns="0" bIns="0" rtlCol="0" anchor="ctr"/>
          <a:lstStyle/>
          <a:p>
            <a:pPr algn="ctr" indent="0" marL="0">
              <a:buNone/>
            </a:pPr>
            <a:r>
              <a:rPr lang="en-US" sz="1250" i="1" dirty="0">
                <a:solidFill>
                  <a:srgbClr val="F59E0B"/>
                </a:solidFill>
                <a:latin typeface="Arial" pitchFamily="34" charset="0"/>
                <a:ea typeface="Arial" pitchFamily="34" charset="-122"/>
                <a:cs typeface="Arial" pitchFamily="34" charset="-120"/>
              </a:rPr>
              <a:t>loop back: keep going until the goal is met</a:t>
            </a:r>
            <a:endParaRPr lang="en-US" sz="1250" dirty="0"/>
          </a:p>
        </p:txBody>
      </p:sp>
      <p:sp>
        <p:nvSpPr>
          <p:cNvPr id="25" name="Shape 20"/>
          <p:cNvSpPr/>
          <p:nvPr/>
        </p:nvSpPr>
        <p:spPr>
          <a:xfrm>
            <a:off x="2423160" y="3566160"/>
            <a:ext cx="0" cy="0"/>
          </a:xfrm>
          <a:prstGeom prst="line">
            <a:avLst/>
          </a:prstGeom>
          <a:noFill/>
          <a:ln w="28575">
            <a:solidFill>
              <a:srgbClr val="0D9488"/>
            </a:solidFill>
            <a:prstDash val="solid"/>
            <a:tailEnd type="triangle"/>
          </a:ln>
        </p:spPr>
      </p:sp>
      <p:sp>
        <p:nvSpPr>
          <p:cNvPr id="26" name="Shape 21"/>
          <p:cNvSpPr/>
          <p:nvPr/>
        </p:nvSpPr>
        <p:spPr>
          <a:xfrm>
            <a:off x="1188720" y="3566160"/>
            <a:ext cx="0" cy="1005840"/>
          </a:xfrm>
          <a:prstGeom prst="line">
            <a:avLst/>
          </a:prstGeom>
          <a:noFill/>
          <a:ln w="28575">
            <a:solidFill>
              <a:srgbClr val="0D9488"/>
            </a:solidFill>
            <a:prstDash val="solid"/>
            <a:tailEnd type="triangle"/>
          </a:ln>
        </p:spPr>
      </p:sp>
      <p:sp>
        <p:nvSpPr>
          <p:cNvPr id="27" name="Shape 22"/>
          <p:cNvSpPr/>
          <p:nvPr/>
        </p:nvSpPr>
        <p:spPr>
          <a:xfrm>
            <a:off x="365760" y="4617720"/>
            <a:ext cx="2194560" cy="685800"/>
          </a:xfrm>
          <a:prstGeom prst="roundRect">
            <a:avLst>
              <a:gd name="adj" fmla="val 12000"/>
            </a:avLst>
          </a:prstGeom>
          <a:solidFill>
            <a:srgbClr val="0D9488"/>
          </a:solidFill>
          <a:ln/>
          <a:effectLst>
            <a:outerShdw sx="100000" sy="100000" kx="0" ky="0" algn="bl" rotWithShape="0" blurRad="88900" dist="38100" dir="5400000">
              <a:srgbClr val="0F2A33">
                <a:alpha val="16000"/>
              </a:srgbClr>
            </a:outerShdw>
          </a:effectLst>
        </p:spPr>
      </p:sp>
      <p:sp>
        <p:nvSpPr>
          <p:cNvPr id="28" name="Text 23"/>
          <p:cNvSpPr/>
          <p:nvPr/>
        </p:nvSpPr>
        <p:spPr>
          <a:xfrm>
            <a:off x="365760" y="4617720"/>
            <a:ext cx="219456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done -&gt; answer</a:t>
            </a:r>
            <a:endParaRPr lang="en-US" sz="1250" dirty="0"/>
          </a:p>
        </p:txBody>
      </p:sp>
      <p:sp>
        <p:nvSpPr>
          <p:cNvPr id="29" name="Text 24"/>
          <p:cNvSpPr/>
          <p:nvPr/>
        </p:nvSpPr>
        <p:spPr>
          <a:xfrm>
            <a:off x="2834640" y="4709160"/>
            <a:ext cx="8686800" cy="640080"/>
          </a:xfrm>
          <a:prstGeom prst="rect">
            <a:avLst/>
          </a:prstGeom>
          <a:noFill/>
          <a:ln/>
        </p:spPr>
        <p:txBody>
          <a:bodyPr wrap="square" rtlCol="0" anchor="ctr"/>
          <a:lstStyle/>
          <a:p>
            <a:pPr indent="0" marL="0">
              <a:buNone/>
            </a:pPr>
            <a:r>
              <a:rPr lang="en-US" sz="1400" dirty="0">
                <a:solidFill>
                  <a:srgbClr val="64748B"/>
                </a:solidFill>
                <a:latin typeface="Arial" pitchFamily="34" charset="0"/>
                <a:ea typeface="Arial" pitchFamily="34" charset="-122"/>
                <a:cs typeface="Arial" pitchFamily="34" charset="-120"/>
              </a:rPr>
              <a:t>When the model has enough to answer, it stops calling tools and replies. That stop is the model's decision, not yours.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WHAT ACTUALLY CHANGED</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Your Day 1 loop was already most of ReAct</a:t>
            </a:r>
            <a:endParaRPr lang="en-US" sz="3000" dirty="0"/>
          </a:p>
        </p:txBody>
      </p:sp>
      <p:sp>
        <p:nvSpPr>
          <p:cNvPr id="4" name="Shape 2"/>
          <p:cNvSpPr/>
          <p:nvPr/>
        </p:nvSpPr>
        <p:spPr>
          <a:xfrm>
            <a:off x="640080" y="1783080"/>
            <a:ext cx="10881360" cy="868680"/>
          </a:xfrm>
          <a:prstGeom prst="roundRect">
            <a:avLst>
              <a:gd name="adj" fmla="val 7368"/>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68680" y="1984248"/>
            <a:ext cx="457200" cy="457200"/>
          </a:xfrm>
          <a:prstGeom prst="ellipse">
            <a:avLst/>
          </a:prstGeom>
          <a:solidFill>
            <a:srgbClr val="FFFFFF"/>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987552" y="2103120"/>
            <a:ext cx="219456" cy="219456"/>
          </a:xfrm>
          <a:prstGeom prst="rect">
            <a:avLst/>
          </a:prstGeom>
        </p:spPr>
      </p:pic>
      <p:sp>
        <p:nvSpPr>
          <p:cNvPr id="7" name="Text 4"/>
          <p:cNvSpPr/>
          <p:nvPr/>
        </p:nvSpPr>
        <p:spPr>
          <a:xfrm>
            <a:off x="1508760" y="1783080"/>
            <a:ext cx="3291840" cy="868680"/>
          </a:xfrm>
          <a:prstGeom prst="rect">
            <a:avLst/>
          </a:prstGeom>
          <a:noFill/>
          <a:ln/>
        </p:spPr>
        <p:txBody>
          <a:bodyPr wrap="square" lIns="0" tIns="0" rIns="0" bIns="0" rtlCol="0" anchor="ctr"/>
          <a:lstStyle/>
          <a:p>
            <a:pPr indent="0" marL="0">
              <a:buNone/>
            </a:pPr>
            <a:r>
              <a:rPr lang="en-US" sz="1550" b="1" dirty="0">
                <a:solidFill>
                  <a:srgbClr val="0D9488"/>
                </a:solidFill>
                <a:latin typeface="Arial" pitchFamily="34" charset="0"/>
                <a:ea typeface="Arial" pitchFamily="34" charset="-122"/>
                <a:cs typeface="Arial" pitchFamily="34" charset="-120"/>
              </a:rPr>
              <a:t>Day 1 tool loop</a:t>
            </a:r>
            <a:endParaRPr lang="en-US" sz="1550" dirty="0"/>
          </a:p>
        </p:txBody>
      </p:sp>
      <p:sp>
        <p:nvSpPr>
          <p:cNvPr id="8" name="Text 5"/>
          <p:cNvSpPr/>
          <p:nvPr/>
        </p:nvSpPr>
        <p:spPr>
          <a:xfrm>
            <a:off x="4846320" y="1783080"/>
            <a:ext cx="6492240" cy="86868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The model called tools in a loop, but you nudged it and it stopped when out of tool calls.</a:t>
            </a:r>
            <a:endParaRPr lang="en-US" sz="1300" dirty="0"/>
          </a:p>
        </p:txBody>
      </p:sp>
      <p:sp>
        <p:nvSpPr>
          <p:cNvPr id="9" name="Shape 6"/>
          <p:cNvSpPr/>
          <p:nvPr/>
        </p:nvSpPr>
        <p:spPr>
          <a:xfrm>
            <a:off x="640080" y="2761488"/>
            <a:ext cx="10881360" cy="868680"/>
          </a:xfrm>
          <a:prstGeom prst="roundRect">
            <a:avLst>
              <a:gd name="adj" fmla="val 7368"/>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868680" y="2962656"/>
            <a:ext cx="457200" cy="457200"/>
          </a:xfrm>
          <a:prstGeom prst="ellipse">
            <a:avLst/>
          </a:prstGeom>
          <a:solidFill>
            <a:srgbClr val="FFFFFF"/>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987552" y="3081528"/>
            <a:ext cx="219456" cy="219456"/>
          </a:xfrm>
          <a:prstGeom prst="rect">
            <a:avLst/>
          </a:prstGeom>
        </p:spPr>
      </p:pic>
      <p:sp>
        <p:nvSpPr>
          <p:cNvPr id="12" name="Text 8"/>
          <p:cNvSpPr/>
          <p:nvPr/>
        </p:nvSpPr>
        <p:spPr>
          <a:xfrm>
            <a:off x="1508760" y="2761488"/>
            <a:ext cx="3291840" cy="868680"/>
          </a:xfrm>
          <a:prstGeom prst="rect">
            <a:avLst/>
          </a:prstGeom>
          <a:noFill/>
          <a:ln/>
        </p:spPr>
        <p:txBody>
          <a:bodyPr wrap="square" lIns="0" tIns="0" rIns="0" bIns="0" rtlCol="0" anchor="ctr"/>
          <a:lstStyle/>
          <a:p>
            <a:pPr indent="0" marL="0">
              <a:buNone/>
            </a:pPr>
            <a:r>
              <a:rPr lang="en-US" sz="1550" b="1" dirty="0">
                <a:solidFill>
                  <a:srgbClr val="0D9488"/>
                </a:solidFill>
                <a:latin typeface="Arial" pitchFamily="34" charset="0"/>
                <a:ea typeface="Arial" pitchFamily="34" charset="-122"/>
                <a:cs typeface="Arial" pitchFamily="34" charset="-120"/>
              </a:rPr>
              <a:t>Add reasoning</a:t>
            </a:r>
            <a:endParaRPr lang="en-US" sz="1550" dirty="0"/>
          </a:p>
        </p:txBody>
      </p:sp>
      <p:sp>
        <p:nvSpPr>
          <p:cNvPr id="13" name="Text 9"/>
          <p:cNvSpPr/>
          <p:nvPr/>
        </p:nvSpPr>
        <p:spPr>
          <a:xfrm>
            <a:off x="4846320" y="2761488"/>
            <a:ext cx="6492240" cy="86868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A system prompt tells it to think about the next step before acting. Better choices.</a:t>
            </a:r>
            <a:endParaRPr lang="en-US" sz="1300" dirty="0"/>
          </a:p>
        </p:txBody>
      </p:sp>
      <p:sp>
        <p:nvSpPr>
          <p:cNvPr id="14" name="Shape 10"/>
          <p:cNvSpPr/>
          <p:nvPr/>
        </p:nvSpPr>
        <p:spPr>
          <a:xfrm>
            <a:off x="640080" y="3739896"/>
            <a:ext cx="10881360" cy="868680"/>
          </a:xfrm>
          <a:prstGeom prst="roundRect">
            <a:avLst>
              <a:gd name="adj" fmla="val 7368"/>
            </a:avLst>
          </a:prstGeom>
          <a:solidFill>
            <a:srgbClr val="F0FDFA"/>
          </a:solidFill>
          <a:ln/>
          <a:effectLst>
            <a:outerShdw sx="100000" sy="100000" kx="0" ky="0" algn="bl" rotWithShape="0" blurRad="88900" dist="38100" dir="5400000">
              <a:srgbClr val="0F2A33">
                <a:alpha val="16000"/>
              </a:srgbClr>
            </a:outerShdw>
          </a:effectLst>
        </p:spPr>
      </p:sp>
      <p:sp>
        <p:nvSpPr>
          <p:cNvPr id="15" name="Shape 11"/>
          <p:cNvSpPr/>
          <p:nvPr/>
        </p:nvSpPr>
        <p:spPr>
          <a:xfrm>
            <a:off x="868680" y="3941064"/>
            <a:ext cx="457200" cy="457200"/>
          </a:xfrm>
          <a:prstGeom prst="ellipse">
            <a:avLst/>
          </a:prstGeom>
          <a:solidFill>
            <a:srgbClr val="FFFFFF"/>
          </a:solidFill>
          <a:ln/>
          <a:effectLst>
            <a:outerShdw sx="100000" sy="100000" kx="0" ky="0" algn="bl" rotWithShape="0" blurRad="88900" dist="38100" dir="5400000">
              <a:srgbClr val="0F2A33">
                <a:alpha val="16000"/>
              </a:srgbClr>
            </a:outerShdw>
          </a:effectLst>
        </p:spPr>
      </p:sp>
      <p:pic>
        <p:nvPicPr>
          <p:cNvPr id="16" name="Image 2" descr="preencoded.png">    </p:cNvPr>
          <p:cNvPicPr>
            <a:picLocks noChangeAspect="1"/>
          </p:cNvPicPr>
          <p:nvPr/>
        </p:nvPicPr>
        <p:blipFill>
          <a:blip r:embed="rId3"/>
          <a:stretch>
            <a:fillRect/>
          </a:stretch>
        </p:blipFill>
        <p:spPr>
          <a:xfrm>
            <a:off x="987552" y="4059936"/>
            <a:ext cx="219456" cy="219456"/>
          </a:xfrm>
          <a:prstGeom prst="rect">
            <a:avLst/>
          </a:prstGeom>
        </p:spPr>
      </p:pic>
      <p:sp>
        <p:nvSpPr>
          <p:cNvPr id="17" name="Text 12"/>
          <p:cNvSpPr/>
          <p:nvPr/>
        </p:nvSpPr>
        <p:spPr>
          <a:xfrm>
            <a:off x="1508760" y="3739896"/>
            <a:ext cx="3291840" cy="868680"/>
          </a:xfrm>
          <a:prstGeom prst="rect">
            <a:avLst/>
          </a:prstGeom>
          <a:noFill/>
          <a:ln/>
        </p:spPr>
        <p:txBody>
          <a:bodyPr wrap="square" lIns="0" tIns="0" rIns="0" bIns="0" rtlCol="0" anchor="ctr"/>
          <a:lstStyle/>
          <a:p>
            <a:pPr indent="0" marL="0">
              <a:buNone/>
            </a:pPr>
            <a:r>
              <a:rPr lang="en-US" sz="1550" b="1" dirty="0">
                <a:solidFill>
                  <a:srgbClr val="0D9488"/>
                </a:solidFill>
                <a:latin typeface="Arial" pitchFamily="34" charset="0"/>
                <a:ea typeface="Arial" pitchFamily="34" charset="-122"/>
                <a:cs typeface="Arial" pitchFamily="34" charset="-120"/>
              </a:rPr>
              <a:t>Add a goal and a stop</a:t>
            </a:r>
            <a:endParaRPr lang="en-US" sz="1550" dirty="0"/>
          </a:p>
        </p:txBody>
      </p:sp>
      <p:sp>
        <p:nvSpPr>
          <p:cNvPr id="18" name="Text 13"/>
          <p:cNvSpPr/>
          <p:nvPr/>
        </p:nvSpPr>
        <p:spPr>
          <a:xfrm>
            <a:off x="4846320" y="3739896"/>
            <a:ext cx="6492240" cy="86868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The model judges when the goal is met and gives a final answer.</a:t>
            </a:r>
            <a:endParaRPr lang="en-US" sz="1300" dirty="0"/>
          </a:p>
        </p:txBody>
      </p:sp>
      <p:sp>
        <p:nvSpPr>
          <p:cNvPr id="19" name="Shape 14"/>
          <p:cNvSpPr/>
          <p:nvPr/>
        </p:nvSpPr>
        <p:spPr>
          <a:xfrm>
            <a:off x="640080" y="4718304"/>
            <a:ext cx="10881360" cy="868680"/>
          </a:xfrm>
          <a:prstGeom prst="roundRect">
            <a:avLst>
              <a:gd name="adj" fmla="val 7368"/>
            </a:avLst>
          </a:prstGeom>
          <a:solidFill>
            <a:srgbClr val="F1F5F9"/>
          </a:solidFill>
          <a:ln/>
          <a:effectLst>
            <a:outerShdw sx="100000" sy="100000" kx="0" ky="0" algn="bl" rotWithShape="0" blurRad="88900" dist="38100" dir="5400000">
              <a:srgbClr val="0F2A33">
                <a:alpha val="16000"/>
              </a:srgbClr>
            </a:outerShdw>
          </a:effectLst>
        </p:spPr>
      </p:sp>
      <p:sp>
        <p:nvSpPr>
          <p:cNvPr id="20" name="Shape 15"/>
          <p:cNvSpPr/>
          <p:nvPr/>
        </p:nvSpPr>
        <p:spPr>
          <a:xfrm>
            <a:off x="868680" y="4919472"/>
            <a:ext cx="457200" cy="457200"/>
          </a:xfrm>
          <a:prstGeom prst="ellipse">
            <a:avLst/>
          </a:prstGeom>
          <a:solidFill>
            <a:srgbClr val="FFFFFF"/>
          </a:solidFill>
          <a:ln/>
          <a:effectLst>
            <a:outerShdw sx="100000" sy="100000" kx="0" ky="0" algn="bl" rotWithShape="0" blurRad="88900" dist="38100" dir="5400000">
              <a:srgbClr val="0F2A33">
                <a:alpha val="16000"/>
              </a:srgbClr>
            </a:outerShdw>
          </a:effectLst>
        </p:spPr>
      </p:sp>
      <p:pic>
        <p:nvPicPr>
          <p:cNvPr id="21" name="Image 3" descr="preencoded.png">    </p:cNvPr>
          <p:cNvPicPr>
            <a:picLocks noChangeAspect="1"/>
          </p:cNvPicPr>
          <p:nvPr/>
        </p:nvPicPr>
        <p:blipFill>
          <a:blip r:embed="rId4"/>
          <a:stretch>
            <a:fillRect/>
          </a:stretch>
        </p:blipFill>
        <p:spPr>
          <a:xfrm>
            <a:off x="987552" y="5038344"/>
            <a:ext cx="219456" cy="219456"/>
          </a:xfrm>
          <a:prstGeom prst="rect">
            <a:avLst/>
          </a:prstGeom>
        </p:spPr>
      </p:pic>
      <p:sp>
        <p:nvSpPr>
          <p:cNvPr id="22" name="Text 16"/>
          <p:cNvSpPr/>
          <p:nvPr/>
        </p:nvSpPr>
        <p:spPr>
          <a:xfrm>
            <a:off x="1508760" y="4718304"/>
            <a:ext cx="3291840" cy="868680"/>
          </a:xfrm>
          <a:prstGeom prst="rect">
            <a:avLst/>
          </a:prstGeom>
          <a:noFill/>
          <a:ln/>
        </p:spPr>
        <p:txBody>
          <a:bodyPr wrap="square" lIns="0" tIns="0" rIns="0" bIns="0" rtlCol="0" anchor="ctr"/>
          <a:lstStyle/>
          <a:p>
            <a:pPr indent="0" marL="0">
              <a:buNone/>
            </a:pPr>
            <a:r>
              <a:rPr lang="en-US" sz="1550" b="1" dirty="0">
                <a:solidFill>
                  <a:srgbClr val="0D9488"/>
                </a:solidFill>
                <a:latin typeface="Arial" pitchFamily="34" charset="0"/>
                <a:ea typeface="Arial" pitchFamily="34" charset="-122"/>
                <a:cs typeface="Arial" pitchFamily="34" charset="-120"/>
              </a:rPr>
              <a:t>Add a step budget</a:t>
            </a:r>
            <a:endParaRPr lang="en-US" sz="1550" dirty="0"/>
          </a:p>
        </p:txBody>
      </p:sp>
      <p:sp>
        <p:nvSpPr>
          <p:cNvPr id="23" name="Text 17"/>
          <p:cNvSpPr/>
          <p:nvPr/>
        </p:nvSpPr>
        <p:spPr>
          <a:xfrm>
            <a:off x="4846320" y="4718304"/>
            <a:ext cx="6492240" cy="86868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A safety cap so a confused agent cannot loop forever.</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REACT  -  CODE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The Day 1 loop, now self-driving</a:t>
            </a:r>
            <a:endParaRPr lang="en-US" sz="3000" dirty="0"/>
          </a:p>
        </p:txBody>
      </p:sp>
      <p:sp>
        <p:nvSpPr>
          <p:cNvPr id="4" name="Shape 2"/>
          <p:cNvSpPr/>
          <p:nvPr/>
        </p:nvSpPr>
        <p:spPr>
          <a:xfrm>
            <a:off x="640080" y="1691640"/>
            <a:ext cx="7680960" cy="4251960"/>
          </a:xfrm>
          <a:prstGeom prst="roundRect">
            <a:avLst>
              <a:gd name="adj" fmla="val 1290"/>
            </a:avLst>
          </a:prstGeom>
          <a:solidFill>
            <a:srgbClr val="0B2229"/>
          </a:solidFill>
          <a:ln/>
          <a:effectLst>
            <a:outerShdw sx="100000" sy="100000" kx="0" ky="0" algn="bl" rotWithShape="0" blurRad="88900" dist="38100" dir="5400000">
              <a:srgbClr val="0F2A33">
                <a:alpha val="16000"/>
              </a:srgbClr>
            </a:outerShdw>
          </a:effectLst>
        </p:spPr>
      </p:sp>
      <p:sp>
        <p:nvSpPr>
          <p:cNvPr id="5" name="Text 3"/>
          <p:cNvSpPr/>
          <p:nvPr/>
        </p:nvSpPr>
        <p:spPr>
          <a:xfrm>
            <a:off x="841248" y="1837944"/>
            <a:ext cx="7278624" cy="3959352"/>
          </a:xfrm>
          <a:prstGeom prst="rect">
            <a:avLst/>
          </a:prstGeom>
          <a:noFill/>
          <a:ln/>
        </p:spPr>
        <p:txBody>
          <a:bodyPr wrap="square" lIns="0" tIns="0" rIns="0" bIns="0" rtlCol="0" anchor="t"/>
          <a:lstStyle/>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SYSTEM = (</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"You are a careful agent. Think briefly about "</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"what to do, use tools for facts or math, "</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"and stop when you can answer.")</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def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react</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(question, tools_list, tools_map, max_steps=</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8</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msgs =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"role"</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"system"</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"content"</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:SYSTEM},</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"role"</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"user"</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"content"</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:question}]</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    for </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_ </a:t>
            </a:r>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in </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range(max_steps):</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res = ollama.chat(MODEL, messages=msgs, tools=tools_list)</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msgs.append(res.message)</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        if not </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res.message.tool_calls:</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            return </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res.message.content   </a:t>
            </a:r>
            <a:pPr indent="0" marL="0">
              <a:lnSpc>
                <a:spcPct val="106000"/>
              </a:lnSpc>
              <a:buNone/>
            </a:pPr>
            <a:r>
              <a:rPr lang="en-US" sz="1150" dirty="0">
                <a:solidFill>
                  <a:srgbClr val="7DD3C8"/>
                </a:solidFill>
                <a:latin typeface="Courier New" pitchFamily="34" charset="0"/>
                <a:ea typeface="Courier New" pitchFamily="34" charset="-122"/>
                <a:cs typeface="Courier New" pitchFamily="34" charset="-120"/>
              </a:rPr>
              <a:t># model is done</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        for </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c </a:t>
            </a:r>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in </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res.message.tool_calls:</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out = tools_map[c.function.name](**c.function.arguments)</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msgs.append({</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"role"</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"tool"</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"content"</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14B8A6"/>
                </a:solidFill>
                <a:latin typeface="Courier New" pitchFamily="34" charset="0"/>
                <a:ea typeface="Courier New" pitchFamily="34" charset="-122"/>
                <a:cs typeface="Courier New" pitchFamily="34" charset="-120"/>
              </a:rPr>
              <a:t>str</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(out)})</a:t>
            </a:r>
            <a:endParaRPr lang="en-US" sz="1150" dirty="0"/>
          </a:p>
        </p:txBody>
      </p:sp>
      <p:sp>
        <p:nvSpPr>
          <p:cNvPr id="6" name="Shape 4"/>
          <p:cNvSpPr/>
          <p:nvPr/>
        </p:nvSpPr>
        <p:spPr>
          <a:xfrm>
            <a:off x="8503920" y="1691640"/>
            <a:ext cx="3017520" cy="4251960"/>
          </a:xfrm>
          <a:prstGeom prst="roundRect">
            <a:avLst>
              <a:gd name="adj" fmla="val 2727"/>
            </a:avLst>
          </a:prstGeom>
          <a:solidFill>
            <a:srgbClr val="F0FDFA"/>
          </a:solidFill>
          <a:ln/>
          <a:effectLst>
            <a:outerShdw sx="100000" sy="100000" kx="0" ky="0" algn="bl" rotWithShape="0" blurRad="88900" dist="38100" dir="5400000">
              <a:srgbClr val="0F2A33">
                <a:alpha val="16000"/>
              </a:srgbClr>
            </a:outerShdw>
          </a:effectLst>
        </p:spPr>
      </p:sp>
      <p:sp>
        <p:nvSpPr>
          <p:cNvPr id="7" name="Text 5"/>
          <p:cNvSpPr/>
          <p:nvPr/>
        </p:nvSpPr>
        <p:spPr>
          <a:xfrm>
            <a:off x="8686800" y="1874520"/>
            <a:ext cx="2743200" cy="365760"/>
          </a:xfrm>
          <a:prstGeom prst="rect">
            <a:avLst/>
          </a:prstGeom>
          <a:noFill/>
          <a:ln/>
        </p:spPr>
        <p:txBody>
          <a:bodyPr wrap="square" lIns="0" tIns="0" rIns="0" bIns="0" rtlCol="0" anchor="ctr"/>
          <a:lstStyle/>
          <a:p>
            <a:pPr indent="0" marL="0">
              <a:buNone/>
            </a:pPr>
            <a:r>
              <a:rPr lang="en-US" sz="1600" b="1" dirty="0">
                <a:solidFill>
                  <a:srgbClr val="0D9488"/>
                </a:solidFill>
                <a:latin typeface="Arial" pitchFamily="34" charset="0"/>
                <a:ea typeface="Arial" pitchFamily="34" charset="-122"/>
                <a:cs typeface="Arial" pitchFamily="34" charset="-120"/>
              </a:rPr>
              <a:t>Notice</a:t>
            </a:r>
            <a:endParaRPr lang="en-US" sz="1600" dirty="0"/>
          </a:p>
        </p:txBody>
      </p:sp>
      <p:sp>
        <p:nvSpPr>
          <p:cNvPr id="8" name="Text 6"/>
          <p:cNvSpPr/>
          <p:nvPr/>
        </p:nvSpPr>
        <p:spPr>
          <a:xfrm>
            <a:off x="8732520" y="2286000"/>
            <a:ext cx="2697480" cy="347472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1E293B"/>
                </a:solidFill>
                <a:latin typeface="Arial" pitchFamily="34" charset="0"/>
                <a:ea typeface="Arial" pitchFamily="34" charset="-122"/>
                <a:cs typeface="Arial" pitchFamily="34" charset="-120"/>
              </a:rPr>
              <a:t>Same loop as Day 1, plus a system prompt.</a:t>
            </a:r>
            <a:endParaRPr lang="en-US" sz="1200" dirty="0"/>
          </a:p>
          <a:p>
            <a:pPr marL="342900" indent="-342900">
              <a:spcAft>
                <a:spcPts val="1000"/>
              </a:spcAft>
              <a:buSzPct val="100000"/>
              <a:buChar char="•"/>
            </a:pPr>
            <a:r>
              <a:rPr lang="en-US" sz="1200" dirty="0">
                <a:solidFill>
                  <a:srgbClr val="1E293B"/>
                </a:solidFill>
                <a:latin typeface="Arial" pitchFamily="34" charset="0"/>
                <a:ea typeface="Arial" pitchFamily="34" charset="-122"/>
                <a:cs typeface="Arial" pitchFamily="34" charset="-120"/>
              </a:rPr>
              <a:t>No tool calls means the model decided it is done.</a:t>
            </a:r>
            <a:endParaRPr lang="en-US" sz="1200" dirty="0"/>
          </a:p>
          <a:p>
            <a:pPr marL="342900" indent="-342900">
              <a:spcAft>
                <a:spcPts val="1000"/>
              </a:spcAft>
              <a:buSzPct val="100000"/>
              <a:buChar char="•"/>
            </a:pPr>
            <a:r>
              <a:rPr lang="en-US" sz="1200" dirty="0">
                <a:solidFill>
                  <a:srgbClr val="1E293B"/>
                </a:solidFill>
                <a:latin typeface="Arial" pitchFamily="34" charset="0"/>
                <a:ea typeface="Arial" pitchFamily="34" charset="-122"/>
                <a:cs typeface="Arial" pitchFamily="34" charset="-120"/>
              </a:rPr>
              <a:t>max_steps is the safety cap.</a:t>
            </a:r>
            <a:endParaRPr lang="en-US" sz="1200" dirty="0"/>
          </a:p>
          <a:p>
            <a:pPr marL="342900" indent="-342900">
              <a:spcAft>
                <a:spcPts val="1000"/>
              </a:spcAft>
              <a:buSzPct val="100000"/>
              <a:buChar char="•"/>
            </a:pPr>
            <a:r>
              <a:rPr lang="en-US" sz="1200" dirty="0">
                <a:solidFill>
                  <a:srgbClr val="1E293B"/>
                </a:solidFill>
                <a:latin typeface="Arial" pitchFamily="34" charset="0"/>
                <a:ea typeface="Arial" pitchFamily="34" charset="-122"/>
                <a:cs typeface="Arial" pitchFamily="34" charset="-120"/>
              </a:rPr>
              <a:t>It solves multi-step tasks by looping: weather twice, then calculate.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GOAL SETTING AND MONITORING</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Knowing when to stop is half the battle</a:t>
            </a:r>
            <a:endParaRPr lang="en-US" sz="3000" dirty="0"/>
          </a:p>
        </p:txBody>
      </p:sp>
      <p:sp>
        <p:nvSpPr>
          <p:cNvPr id="4" name="Shape 2"/>
          <p:cNvSpPr/>
          <p:nvPr/>
        </p:nvSpPr>
        <p:spPr>
          <a:xfrm>
            <a:off x="640080" y="1737360"/>
            <a:ext cx="10881360" cy="1143000"/>
          </a:xfrm>
          <a:prstGeom prst="roundRect">
            <a:avLst>
              <a:gd name="adj" fmla="val 7200"/>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1947672"/>
            <a:ext cx="731520" cy="7315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04595" y="2137867"/>
            <a:ext cx="351130" cy="351130"/>
          </a:xfrm>
          <a:prstGeom prst="rect">
            <a:avLst/>
          </a:prstGeom>
        </p:spPr>
      </p:pic>
      <p:sp>
        <p:nvSpPr>
          <p:cNvPr id="7" name="Text 4"/>
          <p:cNvSpPr/>
          <p:nvPr/>
        </p:nvSpPr>
        <p:spPr>
          <a:xfrm>
            <a:off x="1874520" y="1810512"/>
            <a:ext cx="9418320" cy="1005840"/>
          </a:xfrm>
          <a:prstGeom prst="rect">
            <a:avLst/>
          </a:prstGeom>
          <a:noFill/>
          <a:ln/>
        </p:spPr>
        <p:txBody>
          <a:bodyPr wrap="square" lIns="0" tIns="0" rIns="0" bIns="0" rtlCol="0" anchor="ctr"/>
          <a:lstStyle/>
          <a:p>
            <a:pPr indent="0" marL="0">
              <a:buNone/>
            </a:pPr>
            <a:r>
              <a:rPr lang="en-US" sz="1600" b="1" dirty="0">
                <a:solidFill>
                  <a:srgbClr val="5EEAD4"/>
                </a:solidFill>
                <a:latin typeface="Arial" pitchFamily="34" charset="0"/>
                <a:ea typeface="Arial" pitchFamily="34" charset="-122"/>
                <a:cs typeface="Arial" pitchFamily="34" charset="-120"/>
              </a:rPr>
              <a:t>An agent that cannot tell when it is finished </a:t>
            </a:r>
            <a:pPr indent="0" marL="0">
              <a:buNone/>
            </a:pPr>
            <a:r>
              <a:rPr lang="en-US" sz="1600" dirty="0">
                <a:solidFill>
                  <a:srgbClr val="FFFFFF"/>
                </a:solidFill>
                <a:latin typeface="Arial" pitchFamily="34" charset="0"/>
                <a:ea typeface="Arial" pitchFamily="34" charset="-122"/>
                <a:cs typeface="Arial" pitchFamily="34" charset="-120"/>
              </a:rPr>
              <a:t>either stops too early or loops forever. Give it a clear goal and a way to check progress.</a:t>
            </a:r>
            <a:endParaRPr lang="en-US" sz="1600" dirty="0"/>
          </a:p>
        </p:txBody>
      </p:sp>
      <p:sp>
        <p:nvSpPr>
          <p:cNvPr id="8" name="Shape 5"/>
          <p:cNvSpPr/>
          <p:nvPr/>
        </p:nvSpPr>
        <p:spPr>
          <a:xfrm>
            <a:off x="640080" y="3108960"/>
            <a:ext cx="10881360" cy="777240"/>
          </a:xfrm>
          <a:prstGeom prst="roundRect">
            <a:avLst>
              <a:gd name="adj" fmla="val 8235"/>
            </a:avLst>
          </a:prstGeom>
          <a:solidFill>
            <a:srgbClr val="F0FDFA"/>
          </a:solidFill>
          <a:ln/>
          <a:effectLst>
            <a:outerShdw sx="100000" sy="100000" kx="0" ky="0" algn="bl" rotWithShape="0" blurRad="88900" dist="38100" dir="5400000">
              <a:srgbClr val="0F2A33">
                <a:alpha val="16000"/>
              </a:srgbClr>
            </a:outerShdw>
          </a:effectLst>
        </p:spPr>
      </p:sp>
      <p:sp>
        <p:nvSpPr>
          <p:cNvPr id="9" name="Shape 6"/>
          <p:cNvSpPr/>
          <p:nvPr/>
        </p:nvSpPr>
        <p:spPr>
          <a:xfrm>
            <a:off x="868680" y="3255264"/>
            <a:ext cx="475488" cy="475488"/>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0" name="Image 1" descr="preencoded.png">    </p:cNvPr>
          <p:cNvPicPr>
            <a:picLocks noChangeAspect="1"/>
          </p:cNvPicPr>
          <p:nvPr/>
        </p:nvPicPr>
        <p:blipFill>
          <a:blip r:embed="rId2"/>
          <a:stretch>
            <a:fillRect/>
          </a:stretch>
        </p:blipFill>
        <p:spPr>
          <a:xfrm>
            <a:off x="992307" y="3378891"/>
            <a:ext cx="228234" cy="228234"/>
          </a:xfrm>
          <a:prstGeom prst="rect">
            <a:avLst/>
          </a:prstGeom>
        </p:spPr>
      </p:pic>
      <p:sp>
        <p:nvSpPr>
          <p:cNvPr id="11" name="Text 7"/>
          <p:cNvSpPr/>
          <p:nvPr/>
        </p:nvSpPr>
        <p:spPr>
          <a:xfrm>
            <a:off x="1554480" y="3108960"/>
            <a:ext cx="3017520" cy="777240"/>
          </a:xfrm>
          <a:prstGeom prst="rect">
            <a:avLst/>
          </a:prstGeom>
          <a:noFill/>
          <a:ln/>
        </p:spPr>
        <p:txBody>
          <a:bodyPr wrap="square" lIns="0" tIns="0" rIns="0" bIns="0" rtlCol="0" anchor="ctr"/>
          <a:lstStyle/>
          <a:p>
            <a:pPr indent="0" marL="0">
              <a:buNone/>
            </a:pPr>
            <a:r>
              <a:rPr lang="en-US" sz="1550" b="1" dirty="0">
                <a:solidFill>
                  <a:srgbClr val="1E293B"/>
                </a:solidFill>
                <a:latin typeface="Arial" pitchFamily="34" charset="0"/>
                <a:ea typeface="Arial" pitchFamily="34" charset="-122"/>
                <a:cs typeface="Arial" pitchFamily="34" charset="-120"/>
              </a:rPr>
              <a:t>A clear goal</a:t>
            </a:r>
            <a:endParaRPr lang="en-US" sz="1550" dirty="0"/>
          </a:p>
        </p:txBody>
      </p:sp>
      <p:sp>
        <p:nvSpPr>
          <p:cNvPr id="12" name="Text 8"/>
          <p:cNvSpPr/>
          <p:nvPr/>
        </p:nvSpPr>
        <p:spPr>
          <a:xfrm>
            <a:off x="4663440" y="3108960"/>
            <a:ext cx="6675120" cy="77724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State exactly what done looks like, so the model can recognise it.</a:t>
            </a:r>
            <a:endParaRPr lang="en-US" sz="1350" dirty="0"/>
          </a:p>
        </p:txBody>
      </p:sp>
      <p:sp>
        <p:nvSpPr>
          <p:cNvPr id="13" name="Shape 9"/>
          <p:cNvSpPr/>
          <p:nvPr/>
        </p:nvSpPr>
        <p:spPr>
          <a:xfrm>
            <a:off x="640080" y="3995928"/>
            <a:ext cx="10881360" cy="777240"/>
          </a:xfrm>
          <a:prstGeom prst="roundRect">
            <a:avLst>
              <a:gd name="adj" fmla="val 8235"/>
            </a:avLst>
          </a:prstGeom>
          <a:solidFill>
            <a:srgbClr val="F1F5F9"/>
          </a:solidFill>
          <a:ln/>
          <a:effectLst>
            <a:outerShdw sx="100000" sy="100000" kx="0" ky="0" algn="bl" rotWithShape="0" blurRad="88900" dist="38100" dir="5400000">
              <a:srgbClr val="0F2A33">
                <a:alpha val="16000"/>
              </a:srgbClr>
            </a:outerShdw>
          </a:effectLst>
        </p:spPr>
      </p:sp>
      <p:sp>
        <p:nvSpPr>
          <p:cNvPr id="14" name="Shape 10"/>
          <p:cNvSpPr/>
          <p:nvPr/>
        </p:nvSpPr>
        <p:spPr>
          <a:xfrm>
            <a:off x="868680" y="4142232"/>
            <a:ext cx="475488" cy="475488"/>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5" name="Image 2" descr="preencoded.png">    </p:cNvPr>
          <p:cNvPicPr>
            <a:picLocks noChangeAspect="1"/>
          </p:cNvPicPr>
          <p:nvPr/>
        </p:nvPicPr>
        <p:blipFill>
          <a:blip r:embed="rId3"/>
          <a:stretch>
            <a:fillRect/>
          </a:stretch>
        </p:blipFill>
        <p:spPr>
          <a:xfrm>
            <a:off x="992307" y="4265859"/>
            <a:ext cx="228234" cy="228234"/>
          </a:xfrm>
          <a:prstGeom prst="rect">
            <a:avLst/>
          </a:prstGeom>
        </p:spPr>
      </p:pic>
      <p:sp>
        <p:nvSpPr>
          <p:cNvPr id="16" name="Text 11"/>
          <p:cNvSpPr/>
          <p:nvPr/>
        </p:nvSpPr>
        <p:spPr>
          <a:xfrm>
            <a:off x="1554480" y="3995928"/>
            <a:ext cx="3017520" cy="777240"/>
          </a:xfrm>
          <a:prstGeom prst="rect">
            <a:avLst/>
          </a:prstGeom>
          <a:noFill/>
          <a:ln/>
        </p:spPr>
        <p:txBody>
          <a:bodyPr wrap="square" lIns="0" tIns="0" rIns="0" bIns="0" rtlCol="0" anchor="ctr"/>
          <a:lstStyle/>
          <a:p>
            <a:pPr indent="0" marL="0">
              <a:buNone/>
            </a:pPr>
            <a:r>
              <a:rPr lang="en-US" sz="1550" b="1" dirty="0">
                <a:solidFill>
                  <a:srgbClr val="1E293B"/>
                </a:solidFill>
                <a:latin typeface="Arial" pitchFamily="34" charset="0"/>
                <a:ea typeface="Arial" pitchFamily="34" charset="-122"/>
                <a:cs typeface="Arial" pitchFamily="34" charset="-120"/>
              </a:rPr>
              <a:t>A step budget</a:t>
            </a:r>
            <a:endParaRPr lang="en-US" sz="1550" dirty="0"/>
          </a:p>
        </p:txBody>
      </p:sp>
      <p:sp>
        <p:nvSpPr>
          <p:cNvPr id="17" name="Text 12"/>
          <p:cNvSpPr/>
          <p:nvPr/>
        </p:nvSpPr>
        <p:spPr>
          <a:xfrm>
            <a:off x="4663440" y="3995928"/>
            <a:ext cx="6675120" cy="77724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Cap the loops. Better to stop and report than to spin forever.</a:t>
            </a:r>
            <a:endParaRPr lang="en-US" sz="1350" dirty="0"/>
          </a:p>
        </p:txBody>
      </p:sp>
      <p:sp>
        <p:nvSpPr>
          <p:cNvPr id="18" name="Shape 13"/>
          <p:cNvSpPr/>
          <p:nvPr/>
        </p:nvSpPr>
        <p:spPr>
          <a:xfrm>
            <a:off x="640080" y="4882896"/>
            <a:ext cx="10881360" cy="777240"/>
          </a:xfrm>
          <a:prstGeom prst="roundRect">
            <a:avLst>
              <a:gd name="adj" fmla="val 8235"/>
            </a:avLst>
          </a:prstGeom>
          <a:solidFill>
            <a:srgbClr val="F0FDFA"/>
          </a:solidFill>
          <a:ln/>
          <a:effectLst>
            <a:outerShdw sx="100000" sy="100000" kx="0" ky="0" algn="bl" rotWithShape="0" blurRad="88900" dist="38100" dir="5400000">
              <a:srgbClr val="0F2A33">
                <a:alpha val="16000"/>
              </a:srgbClr>
            </a:outerShdw>
          </a:effectLst>
        </p:spPr>
      </p:sp>
      <p:sp>
        <p:nvSpPr>
          <p:cNvPr id="19" name="Shape 14"/>
          <p:cNvSpPr/>
          <p:nvPr/>
        </p:nvSpPr>
        <p:spPr>
          <a:xfrm>
            <a:off x="868680" y="5029200"/>
            <a:ext cx="475488" cy="475488"/>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20" name="Image 3" descr="preencoded.png">    </p:cNvPr>
          <p:cNvPicPr>
            <a:picLocks noChangeAspect="1"/>
          </p:cNvPicPr>
          <p:nvPr/>
        </p:nvPicPr>
        <p:blipFill>
          <a:blip r:embed="rId4"/>
          <a:stretch>
            <a:fillRect/>
          </a:stretch>
        </p:blipFill>
        <p:spPr>
          <a:xfrm>
            <a:off x="992307" y="5152827"/>
            <a:ext cx="228234" cy="228234"/>
          </a:xfrm>
          <a:prstGeom prst="rect">
            <a:avLst/>
          </a:prstGeom>
        </p:spPr>
      </p:pic>
      <p:sp>
        <p:nvSpPr>
          <p:cNvPr id="21" name="Text 15"/>
          <p:cNvSpPr/>
          <p:nvPr/>
        </p:nvSpPr>
        <p:spPr>
          <a:xfrm>
            <a:off x="1554480" y="4882896"/>
            <a:ext cx="3017520" cy="777240"/>
          </a:xfrm>
          <a:prstGeom prst="rect">
            <a:avLst/>
          </a:prstGeom>
          <a:noFill/>
          <a:ln/>
        </p:spPr>
        <p:txBody>
          <a:bodyPr wrap="square" lIns="0" tIns="0" rIns="0" bIns="0" rtlCol="0" anchor="ctr"/>
          <a:lstStyle/>
          <a:p>
            <a:pPr indent="0" marL="0">
              <a:buNone/>
            </a:pPr>
            <a:r>
              <a:rPr lang="en-US" sz="1550" b="1" dirty="0">
                <a:solidFill>
                  <a:srgbClr val="1E293B"/>
                </a:solidFill>
                <a:latin typeface="Arial" pitchFamily="34" charset="0"/>
                <a:ea typeface="Arial" pitchFamily="34" charset="-122"/>
                <a:cs typeface="Arial" pitchFamily="34" charset="-120"/>
              </a:rPr>
              <a:t>A progress check</a:t>
            </a:r>
            <a:endParaRPr lang="en-US" sz="1550" dirty="0"/>
          </a:p>
        </p:txBody>
      </p:sp>
      <p:sp>
        <p:nvSpPr>
          <p:cNvPr id="22" name="Text 16"/>
          <p:cNvSpPr/>
          <p:nvPr/>
        </p:nvSpPr>
        <p:spPr>
          <a:xfrm>
            <a:off x="4663440" y="4882896"/>
            <a:ext cx="6675120" cy="77724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Each loop, ask: am I closer? If not, change approach or stop.</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REACT  -  FAILURE MODES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And how to keep the loop healthy</a:t>
            </a:r>
            <a:endParaRPr lang="en-US" sz="3000" dirty="0"/>
          </a:p>
        </p:txBody>
      </p:sp>
      <p:sp>
        <p:nvSpPr>
          <p:cNvPr id="4" name="Shape 2"/>
          <p:cNvSpPr/>
          <p:nvPr/>
        </p:nvSpPr>
        <p:spPr>
          <a:xfrm>
            <a:off x="640080" y="1783080"/>
            <a:ext cx="5349240" cy="1691640"/>
          </a:xfrm>
          <a:prstGeom prst="roundRect">
            <a:avLst>
              <a:gd name="adj" fmla="val 4865"/>
            </a:avLst>
          </a:prstGeom>
          <a:solidFill>
            <a:srgbClr val="F1F5F9"/>
          </a:solidFill>
          <a:ln/>
          <a:effectLst>
            <a:outerShdw sx="100000" sy="100000" kx="0" ky="0" algn="bl" rotWithShape="0" blurRad="88900" dist="38100" dir="5400000">
              <a:srgbClr val="0F2A33">
                <a:alpha val="16000"/>
              </a:srgbClr>
            </a:outerShdw>
          </a:effectLst>
        </p:spPr>
      </p:sp>
      <p:sp>
        <p:nvSpPr>
          <p:cNvPr id="5" name="Shape 3"/>
          <p:cNvSpPr/>
          <p:nvPr/>
        </p:nvSpPr>
        <p:spPr>
          <a:xfrm>
            <a:off x="914400" y="2057400"/>
            <a:ext cx="566928" cy="566928"/>
          </a:xfrm>
          <a:prstGeom prst="ellipse">
            <a:avLst/>
          </a:prstGeom>
          <a:solidFill>
            <a:srgbClr val="0F2A33"/>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61801" y="2204801"/>
            <a:ext cx="272125" cy="272125"/>
          </a:xfrm>
          <a:prstGeom prst="rect">
            <a:avLst/>
          </a:prstGeom>
        </p:spPr>
      </p:pic>
      <p:sp>
        <p:nvSpPr>
          <p:cNvPr id="7" name="Text 4"/>
          <p:cNvSpPr/>
          <p:nvPr/>
        </p:nvSpPr>
        <p:spPr>
          <a:xfrm>
            <a:off x="1691640" y="2039112"/>
            <a:ext cx="4114800" cy="59436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Loops forever</a:t>
            </a:r>
            <a:endParaRPr lang="en-US" sz="1600" dirty="0"/>
          </a:p>
        </p:txBody>
      </p:sp>
      <p:sp>
        <p:nvSpPr>
          <p:cNvPr id="8" name="Text 5"/>
          <p:cNvSpPr/>
          <p:nvPr/>
        </p:nvSpPr>
        <p:spPr>
          <a:xfrm>
            <a:off x="932688" y="2697480"/>
            <a:ext cx="4800600" cy="685800"/>
          </a:xfrm>
          <a:prstGeom prst="rect">
            <a:avLst/>
          </a:prstGeom>
          <a:noFill/>
          <a:ln/>
        </p:spPr>
        <p:txBody>
          <a:bodyPr wrap="square" lIns="0" tIns="0" rIns="0" bIns="0" rtlCol="0" anchor="ctr"/>
          <a:lstStyle/>
          <a:p>
            <a:pPr indent="0" marL="0">
              <a:buNone/>
            </a:pPr>
            <a:r>
              <a:rPr lang="en-US" sz="1300" b="1" dirty="0">
                <a:solidFill>
                  <a:srgbClr val="0D9488"/>
                </a:solidFill>
                <a:latin typeface="Arial" pitchFamily="34" charset="0"/>
                <a:ea typeface="Arial" pitchFamily="34" charset="-122"/>
                <a:cs typeface="Arial" pitchFamily="34" charset="-120"/>
              </a:rPr>
              <a:t>Fix:  </a:t>
            </a:r>
            <a:pPr indent="0" marL="0">
              <a:buNone/>
            </a:pPr>
            <a:r>
              <a:rPr lang="en-US" sz="1300" dirty="0">
                <a:solidFill>
                  <a:srgbClr val="64748B"/>
                </a:solidFill>
                <a:latin typeface="Arial" pitchFamily="34" charset="0"/>
                <a:ea typeface="Arial" pitchFamily="34" charset="-122"/>
                <a:cs typeface="Arial" pitchFamily="34" charset="-120"/>
              </a:rPr>
              <a:t>Repeats the same action. step budget and a progress check.</a:t>
            </a:r>
            <a:endParaRPr lang="en-US" sz="1300" dirty="0"/>
          </a:p>
        </p:txBody>
      </p:sp>
      <p:sp>
        <p:nvSpPr>
          <p:cNvPr id="9" name="Shape 6"/>
          <p:cNvSpPr/>
          <p:nvPr/>
        </p:nvSpPr>
        <p:spPr>
          <a:xfrm>
            <a:off x="6263640" y="1783080"/>
            <a:ext cx="5349240" cy="1691640"/>
          </a:xfrm>
          <a:prstGeom prst="roundRect">
            <a:avLst>
              <a:gd name="adj" fmla="val 4865"/>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6537960" y="2057400"/>
            <a:ext cx="566928" cy="566928"/>
          </a:xfrm>
          <a:prstGeom prst="ellipse">
            <a:avLst/>
          </a:prstGeom>
          <a:solidFill>
            <a:srgbClr val="0F2A33"/>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6685361" y="2204801"/>
            <a:ext cx="272125" cy="272125"/>
          </a:xfrm>
          <a:prstGeom prst="rect">
            <a:avLst/>
          </a:prstGeom>
        </p:spPr>
      </p:pic>
      <p:sp>
        <p:nvSpPr>
          <p:cNvPr id="12" name="Text 8"/>
          <p:cNvSpPr/>
          <p:nvPr/>
        </p:nvSpPr>
        <p:spPr>
          <a:xfrm>
            <a:off x="7315200" y="2039112"/>
            <a:ext cx="4114800" cy="59436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Stops too early</a:t>
            </a:r>
            <a:endParaRPr lang="en-US" sz="1600" dirty="0"/>
          </a:p>
        </p:txBody>
      </p:sp>
      <p:sp>
        <p:nvSpPr>
          <p:cNvPr id="13" name="Text 9"/>
          <p:cNvSpPr/>
          <p:nvPr/>
        </p:nvSpPr>
        <p:spPr>
          <a:xfrm>
            <a:off x="6556248" y="2697480"/>
            <a:ext cx="4800600" cy="685800"/>
          </a:xfrm>
          <a:prstGeom prst="rect">
            <a:avLst/>
          </a:prstGeom>
          <a:noFill/>
          <a:ln/>
        </p:spPr>
        <p:txBody>
          <a:bodyPr wrap="square" lIns="0" tIns="0" rIns="0" bIns="0" rtlCol="0" anchor="ctr"/>
          <a:lstStyle/>
          <a:p>
            <a:pPr indent="0" marL="0">
              <a:buNone/>
            </a:pPr>
            <a:r>
              <a:rPr lang="en-US" sz="1300" b="1" dirty="0">
                <a:solidFill>
                  <a:srgbClr val="0D9488"/>
                </a:solidFill>
                <a:latin typeface="Arial" pitchFamily="34" charset="0"/>
                <a:ea typeface="Arial" pitchFamily="34" charset="-122"/>
                <a:cs typeface="Arial" pitchFamily="34" charset="-120"/>
              </a:rPr>
              <a:t>Fix:  </a:t>
            </a:r>
            <a:pPr indent="0" marL="0">
              <a:buNone/>
            </a:pPr>
            <a:r>
              <a:rPr lang="en-US" sz="1300" dirty="0">
                <a:solidFill>
                  <a:srgbClr val="64748B"/>
                </a:solidFill>
                <a:latin typeface="Arial" pitchFamily="34" charset="0"/>
                <a:ea typeface="Arial" pitchFamily="34" charset="-122"/>
                <a:cs typeface="Arial" pitchFamily="34" charset="-120"/>
              </a:rPr>
              <a:t>Answers before the goal is met. a clearer goal in the prompt.</a:t>
            </a:r>
            <a:endParaRPr lang="en-US" sz="1300" dirty="0"/>
          </a:p>
        </p:txBody>
      </p:sp>
      <p:sp>
        <p:nvSpPr>
          <p:cNvPr id="14" name="Shape 10"/>
          <p:cNvSpPr/>
          <p:nvPr/>
        </p:nvSpPr>
        <p:spPr>
          <a:xfrm>
            <a:off x="640080" y="3703320"/>
            <a:ext cx="5349240" cy="1691640"/>
          </a:xfrm>
          <a:prstGeom prst="roundRect">
            <a:avLst>
              <a:gd name="adj" fmla="val 4865"/>
            </a:avLst>
          </a:prstGeom>
          <a:solidFill>
            <a:srgbClr val="F1F5F9"/>
          </a:solidFill>
          <a:ln/>
          <a:effectLst>
            <a:outerShdw sx="100000" sy="100000" kx="0" ky="0" algn="bl" rotWithShape="0" blurRad="88900" dist="38100" dir="5400000">
              <a:srgbClr val="0F2A33">
                <a:alpha val="16000"/>
              </a:srgbClr>
            </a:outerShdw>
          </a:effectLst>
        </p:spPr>
      </p:sp>
      <p:sp>
        <p:nvSpPr>
          <p:cNvPr id="15" name="Shape 11"/>
          <p:cNvSpPr/>
          <p:nvPr/>
        </p:nvSpPr>
        <p:spPr>
          <a:xfrm>
            <a:off x="914400" y="3977640"/>
            <a:ext cx="566928" cy="566928"/>
          </a:xfrm>
          <a:prstGeom prst="ellipse">
            <a:avLst/>
          </a:prstGeom>
          <a:solidFill>
            <a:srgbClr val="0F2A33"/>
          </a:solidFill>
          <a:ln/>
          <a:effectLst>
            <a:outerShdw sx="100000" sy="100000" kx="0" ky="0" algn="bl" rotWithShape="0" blurRad="88900" dist="38100" dir="5400000">
              <a:srgbClr val="0F2A33">
                <a:alpha val="16000"/>
              </a:srgbClr>
            </a:outerShdw>
          </a:effectLst>
        </p:spPr>
      </p:sp>
      <p:pic>
        <p:nvPicPr>
          <p:cNvPr id="16" name="Image 2" descr="preencoded.png">    </p:cNvPr>
          <p:cNvPicPr>
            <a:picLocks noChangeAspect="1"/>
          </p:cNvPicPr>
          <p:nvPr/>
        </p:nvPicPr>
        <p:blipFill>
          <a:blip r:embed="rId3"/>
          <a:stretch>
            <a:fillRect/>
          </a:stretch>
        </p:blipFill>
        <p:spPr>
          <a:xfrm>
            <a:off x="1061801" y="4125041"/>
            <a:ext cx="272125" cy="272125"/>
          </a:xfrm>
          <a:prstGeom prst="rect">
            <a:avLst/>
          </a:prstGeom>
        </p:spPr>
      </p:pic>
      <p:sp>
        <p:nvSpPr>
          <p:cNvPr id="17" name="Text 12"/>
          <p:cNvSpPr/>
          <p:nvPr/>
        </p:nvSpPr>
        <p:spPr>
          <a:xfrm>
            <a:off x="1691640" y="3959352"/>
            <a:ext cx="4114800" cy="59436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Wrong tool or args</a:t>
            </a:r>
            <a:endParaRPr lang="en-US" sz="1600" dirty="0"/>
          </a:p>
        </p:txBody>
      </p:sp>
      <p:sp>
        <p:nvSpPr>
          <p:cNvPr id="18" name="Text 13"/>
          <p:cNvSpPr/>
          <p:nvPr/>
        </p:nvSpPr>
        <p:spPr>
          <a:xfrm>
            <a:off x="932688" y="4617720"/>
            <a:ext cx="4800600" cy="685800"/>
          </a:xfrm>
          <a:prstGeom prst="rect">
            <a:avLst/>
          </a:prstGeom>
          <a:noFill/>
          <a:ln/>
        </p:spPr>
        <p:txBody>
          <a:bodyPr wrap="square" lIns="0" tIns="0" rIns="0" bIns="0" rtlCol="0" anchor="ctr"/>
          <a:lstStyle/>
          <a:p>
            <a:pPr indent="0" marL="0">
              <a:buNone/>
            </a:pPr>
            <a:r>
              <a:rPr lang="en-US" sz="1300" b="1" dirty="0">
                <a:solidFill>
                  <a:srgbClr val="0D9488"/>
                </a:solidFill>
                <a:latin typeface="Arial" pitchFamily="34" charset="0"/>
                <a:ea typeface="Arial" pitchFamily="34" charset="-122"/>
                <a:cs typeface="Arial" pitchFamily="34" charset="-120"/>
              </a:rPr>
              <a:t>Fix:  </a:t>
            </a:r>
            <a:pPr indent="0" marL="0">
              <a:buNone/>
            </a:pPr>
            <a:r>
              <a:rPr lang="en-US" sz="1300" dirty="0">
                <a:solidFill>
                  <a:srgbClr val="64748B"/>
                </a:solidFill>
                <a:latin typeface="Arial" pitchFamily="34" charset="0"/>
                <a:ea typeface="Arial" pitchFamily="34" charset="-122"/>
                <a:cs typeface="Arial" pitchFamily="34" charset="-120"/>
              </a:rPr>
              <a:t>Picks badly. better tool descriptions, validate inputs.</a:t>
            </a:r>
            <a:endParaRPr lang="en-US" sz="1300" dirty="0"/>
          </a:p>
        </p:txBody>
      </p:sp>
      <p:sp>
        <p:nvSpPr>
          <p:cNvPr id="19" name="Shape 14"/>
          <p:cNvSpPr/>
          <p:nvPr/>
        </p:nvSpPr>
        <p:spPr>
          <a:xfrm>
            <a:off x="6263640" y="3703320"/>
            <a:ext cx="5349240" cy="1691640"/>
          </a:xfrm>
          <a:prstGeom prst="roundRect">
            <a:avLst>
              <a:gd name="adj" fmla="val 4865"/>
            </a:avLst>
          </a:prstGeom>
          <a:solidFill>
            <a:srgbClr val="F1F5F9"/>
          </a:solidFill>
          <a:ln/>
          <a:effectLst>
            <a:outerShdw sx="100000" sy="100000" kx="0" ky="0" algn="bl" rotWithShape="0" blurRad="88900" dist="38100" dir="5400000">
              <a:srgbClr val="0F2A33">
                <a:alpha val="16000"/>
              </a:srgbClr>
            </a:outerShdw>
          </a:effectLst>
        </p:spPr>
      </p:sp>
      <p:sp>
        <p:nvSpPr>
          <p:cNvPr id="20" name="Shape 15"/>
          <p:cNvSpPr/>
          <p:nvPr/>
        </p:nvSpPr>
        <p:spPr>
          <a:xfrm>
            <a:off x="6537960" y="3977640"/>
            <a:ext cx="566928" cy="566928"/>
          </a:xfrm>
          <a:prstGeom prst="ellipse">
            <a:avLst/>
          </a:prstGeom>
          <a:solidFill>
            <a:srgbClr val="0F2A33"/>
          </a:solidFill>
          <a:ln/>
          <a:effectLst>
            <a:outerShdw sx="100000" sy="100000" kx="0" ky="0" algn="bl" rotWithShape="0" blurRad="88900" dist="38100" dir="5400000">
              <a:srgbClr val="0F2A33">
                <a:alpha val="16000"/>
              </a:srgbClr>
            </a:outerShdw>
          </a:effectLst>
        </p:spPr>
      </p:sp>
      <p:pic>
        <p:nvPicPr>
          <p:cNvPr id="21" name="Image 3" descr="preencoded.png">    </p:cNvPr>
          <p:cNvPicPr>
            <a:picLocks noChangeAspect="1"/>
          </p:cNvPicPr>
          <p:nvPr/>
        </p:nvPicPr>
        <p:blipFill>
          <a:blip r:embed="rId4"/>
          <a:stretch>
            <a:fillRect/>
          </a:stretch>
        </p:blipFill>
        <p:spPr>
          <a:xfrm>
            <a:off x="6685361" y="4125041"/>
            <a:ext cx="272125" cy="272125"/>
          </a:xfrm>
          <a:prstGeom prst="rect">
            <a:avLst/>
          </a:prstGeom>
        </p:spPr>
      </p:pic>
      <p:sp>
        <p:nvSpPr>
          <p:cNvPr id="22" name="Text 16"/>
          <p:cNvSpPr/>
          <p:nvPr/>
        </p:nvSpPr>
        <p:spPr>
          <a:xfrm>
            <a:off x="7315200" y="3959352"/>
            <a:ext cx="4114800" cy="59436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Reasoning drifts</a:t>
            </a:r>
            <a:endParaRPr lang="en-US" sz="1600" dirty="0"/>
          </a:p>
        </p:txBody>
      </p:sp>
      <p:sp>
        <p:nvSpPr>
          <p:cNvPr id="23" name="Text 17"/>
          <p:cNvSpPr/>
          <p:nvPr/>
        </p:nvSpPr>
        <p:spPr>
          <a:xfrm>
            <a:off x="6556248" y="4617720"/>
            <a:ext cx="4800600" cy="685800"/>
          </a:xfrm>
          <a:prstGeom prst="rect">
            <a:avLst/>
          </a:prstGeom>
          <a:noFill/>
          <a:ln/>
        </p:spPr>
        <p:txBody>
          <a:bodyPr wrap="square" lIns="0" tIns="0" rIns="0" bIns="0" rtlCol="0" anchor="ctr"/>
          <a:lstStyle/>
          <a:p>
            <a:pPr indent="0" marL="0">
              <a:buNone/>
            </a:pPr>
            <a:r>
              <a:rPr lang="en-US" sz="1300" b="1" dirty="0">
                <a:solidFill>
                  <a:srgbClr val="0D9488"/>
                </a:solidFill>
                <a:latin typeface="Arial" pitchFamily="34" charset="0"/>
                <a:ea typeface="Arial" pitchFamily="34" charset="-122"/>
                <a:cs typeface="Arial" pitchFamily="34" charset="-120"/>
              </a:rPr>
              <a:t>Fix:  </a:t>
            </a:r>
            <a:pPr indent="0" marL="0">
              <a:buNone/>
            </a:pPr>
            <a:r>
              <a:rPr lang="en-US" sz="1300" dirty="0">
                <a:solidFill>
                  <a:srgbClr val="64748B"/>
                </a:solidFill>
                <a:latin typeface="Arial" pitchFamily="34" charset="0"/>
                <a:ea typeface="Arial" pitchFamily="34" charset="-122"/>
                <a:cs typeface="Arial" pitchFamily="34" charset="-120"/>
              </a:rPr>
              <a:t>Talks itself into nonsense. keep steps small, show observations clearly.</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PUTTING TODAY TOGETHER</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Reason plus plan plus act equals an autonomous agent</a:t>
            </a:r>
            <a:endParaRPr lang="en-US" sz="3000" dirty="0"/>
          </a:p>
        </p:txBody>
      </p:sp>
      <p:sp>
        <p:nvSpPr>
          <p:cNvPr id="4" name="Shape 2"/>
          <p:cNvSpPr/>
          <p:nvPr/>
        </p:nvSpPr>
        <p:spPr>
          <a:xfrm>
            <a:off x="640080" y="2286000"/>
            <a:ext cx="2743200" cy="1463040"/>
          </a:xfrm>
          <a:prstGeom prst="roundRect">
            <a:avLst>
              <a:gd name="adj" fmla="val 6250"/>
            </a:avLst>
          </a:prstGeom>
          <a:solidFill>
            <a:srgbClr val="F1F5F9"/>
          </a:solidFill>
          <a:ln/>
          <a:effectLst>
            <a:outerShdw sx="100000" sy="100000" kx="0" ky="0" algn="bl" rotWithShape="0" blurRad="88900" dist="38100" dir="5400000">
              <a:srgbClr val="0F2A33">
                <a:alpha val="16000"/>
              </a:srgbClr>
            </a:outerShdw>
          </a:effectLst>
        </p:spPr>
      </p:sp>
      <p:sp>
        <p:nvSpPr>
          <p:cNvPr id="5" name="Shape 3"/>
          <p:cNvSpPr/>
          <p:nvPr/>
        </p:nvSpPr>
        <p:spPr>
          <a:xfrm>
            <a:off x="914400" y="2514600"/>
            <a:ext cx="685800" cy="68580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92708" y="2692908"/>
            <a:ext cx="329184" cy="329184"/>
          </a:xfrm>
          <a:prstGeom prst="rect">
            <a:avLst/>
          </a:prstGeom>
        </p:spPr>
      </p:pic>
      <p:sp>
        <p:nvSpPr>
          <p:cNvPr id="7" name="Text 4"/>
          <p:cNvSpPr/>
          <p:nvPr/>
        </p:nvSpPr>
        <p:spPr>
          <a:xfrm>
            <a:off x="1737360" y="2578608"/>
            <a:ext cx="1554480" cy="50292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Reason</a:t>
            </a:r>
            <a:endParaRPr lang="en-US" sz="1600" dirty="0"/>
          </a:p>
        </p:txBody>
      </p:sp>
      <p:sp>
        <p:nvSpPr>
          <p:cNvPr id="8" name="Text 5"/>
          <p:cNvSpPr/>
          <p:nvPr/>
        </p:nvSpPr>
        <p:spPr>
          <a:xfrm>
            <a:off x="914400" y="3154680"/>
            <a:ext cx="2286000" cy="50292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think the step</a:t>
            </a:r>
            <a:endParaRPr lang="en-US" sz="1250" dirty="0"/>
          </a:p>
        </p:txBody>
      </p:sp>
      <p:sp>
        <p:nvSpPr>
          <p:cNvPr id="9" name="Shape 6"/>
          <p:cNvSpPr/>
          <p:nvPr/>
        </p:nvSpPr>
        <p:spPr>
          <a:xfrm>
            <a:off x="3429000" y="3017520"/>
            <a:ext cx="640080" cy="0"/>
          </a:xfrm>
          <a:prstGeom prst="line">
            <a:avLst/>
          </a:prstGeom>
          <a:noFill/>
          <a:ln w="28575">
            <a:solidFill>
              <a:srgbClr val="F59E0B"/>
            </a:solidFill>
            <a:prstDash val="solid"/>
            <a:tailEnd type="triangle"/>
          </a:ln>
        </p:spPr>
      </p:sp>
      <p:sp>
        <p:nvSpPr>
          <p:cNvPr id="10" name="Shape 7"/>
          <p:cNvSpPr/>
          <p:nvPr/>
        </p:nvSpPr>
        <p:spPr>
          <a:xfrm>
            <a:off x="3703320" y="2286000"/>
            <a:ext cx="2743200" cy="1463040"/>
          </a:xfrm>
          <a:prstGeom prst="roundRect">
            <a:avLst>
              <a:gd name="adj" fmla="val 6250"/>
            </a:avLst>
          </a:prstGeom>
          <a:solidFill>
            <a:srgbClr val="F1F5F9"/>
          </a:solidFill>
          <a:ln/>
          <a:effectLst>
            <a:outerShdw sx="100000" sy="100000" kx="0" ky="0" algn="bl" rotWithShape="0" blurRad="88900" dist="38100" dir="5400000">
              <a:srgbClr val="0F2A33">
                <a:alpha val="16000"/>
              </a:srgbClr>
            </a:outerShdw>
          </a:effectLst>
        </p:spPr>
      </p:sp>
      <p:sp>
        <p:nvSpPr>
          <p:cNvPr id="11" name="Shape 8"/>
          <p:cNvSpPr/>
          <p:nvPr/>
        </p:nvSpPr>
        <p:spPr>
          <a:xfrm>
            <a:off x="3977640" y="2514600"/>
            <a:ext cx="685800" cy="68580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2" name="Image 1" descr="preencoded.png">    </p:cNvPr>
          <p:cNvPicPr>
            <a:picLocks noChangeAspect="1"/>
          </p:cNvPicPr>
          <p:nvPr/>
        </p:nvPicPr>
        <p:blipFill>
          <a:blip r:embed="rId2"/>
          <a:stretch>
            <a:fillRect/>
          </a:stretch>
        </p:blipFill>
        <p:spPr>
          <a:xfrm>
            <a:off x="4155948" y="2692908"/>
            <a:ext cx="329184" cy="329184"/>
          </a:xfrm>
          <a:prstGeom prst="rect">
            <a:avLst/>
          </a:prstGeom>
        </p:spPr>
      </p:pic>
      <p:sp>
        <p:nvSpPr>
          <p:cNvPr id="13" name="Text 9"/>
          <p:cNvSpPr/>
          <p:nvPr/>
        </p:nvSpPr>
        <p:spPr>
          <a:xfrm>
            <a:off x="4800600" y="2578608"/>
            <a:ext cx="1554480" cy="50292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Plan</a:t>
            </a:r>
            <a:endParaRPr lang="en-US" sz="1600" dirty="0"/>
          </a:p>
        </p:txBody>
      </p:sp>
      <p:sp>
        <p:nvSpPr>
          <p:cNvPr id="14" name="Text 10"/>
          <p:cNvSpPr/>
          <p:nvPr/>
        </p:nvSpPr>
        <p:spPr>
          <a:xfrm>
            <a:off x="3977640" y="3154680"/>
            <a:ext cx="2286000" cy="50292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sequence the work</a:t>
            </a:r>
            <a:endParaRPr lang="en-US" sz="1250" dirty="0"/>
          </a:p>
        </p:txBody>
      </p:sp>
      <p:sp>
        <p:nvSpPr>
          <p:cNvPr id="15" name="Shape 11"/>
          <p:cNvSpPr/>
          <p:nvPr/>
        </p:nvSpPr>
        <p:spPr>
          <a:xfrm>
            <a:off x="6492240" y="3017520"/>
            <a:ext cx="640080" cy="0"/>
          </a:xfrm>
          <a:prstGeom prst="line">
            <a:avLst/>
          </a:prstGeom>
          <a:noFill/>
          <a:ln w="28575">
            <a:solidFill>
              <a:srgbClr val="F59E0B"/>
            </a:solidFill>
            <a:prstDash val="solid"/>
            <a:tailEnd type="triangle"/>
          </a:ln>
        </p:spPr>
      </p:sp>
      <p:sp>
        <p:nvSpPr>
          <p:cNvPr id="16" name="Shape 12"/>
          <p:cNvSpPr/>
          <p:nvPr/>
        </p:nvSpPr>
        <p:spPr>
          <a:xfrm>
            <a:off x="6766560" y="2286000"/>
            <a:ext cx="2743200" cy="1463040"/>
          </a:xfrm>
          <a:prstGeom prst="roundRect">
            <a:avLst>
              <a:gd name="adj" fmla="val 6250"/>
            </a:avLst>
          </a:prstGeom>
          <a:solidFill>
            <a:srgbClr val="F1F5F9"/>
          </a:solidFill>
          <a:ln/>
          <a:effectLst>
            <a:outerShdw sx="100000" sy="100000" kx="0" ky="0" algn="bl" rotWithShape="0" blurRad="88900" dist="38100" dir="5400000">
              <a:srgbClr val="0F2A33">
                <a:alpha val="16000"/>
              </a:srgbClr>
            </a:outerShdw>
          </a:effectLst>
        </p:spPr>
      </p:sp>
      <p:sp>
        <p:nvSpPr>
          <p:cNvPr id="17" name="Shape 13"/>
          <p:cNvSpPr/>
          <p:nvPr/>
        </p:nvSpPr>
        <p:spPr>
          <a:xfrm>
            <a:off x="7040880" y="2514600"/>
            <a:ext cx="685800" cy="68580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8" name="Image 2" descr="preencoded.png">    </p:cNvPr>
          <p:cNvPicPr>
            <a:picLocks noChangeAspect="1"/>
          </p:cNvPicPr>
          <p:nvPr/>
        </p:nvPicPr>
        <p:blipFill>
          <a:blip r:embed="rId3"/>
          <a:stretch>
            <a:fillRect/>
          </a:stretch>
        </p:blipFill>
        <p:spPr>
          <a:xfrm>
            <a:off x="7219188" y="2692908"/>
            <a:ext cx="329184" cy="329184"/>
          </a:xfrm>
          <a:prstGeom prst="rect">
            <a:avLst/>
          </a:prstGeom>
        </p:spPr>
      </p:pic>
      <p:sp>
        <p:nvSpPr>
          <p:cNvPr id="19" name="Text 14"/>
          <p:cNvSpPr/>
          <p:nvPr/>
        </p:nvSpPr>
        <p:spPr>
          <a:xfrm>
            <a:off x="7863840" y="2578608"/>
            <a:ext cx="1554480" cy="50292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Act in a loop</a:t>
            </a:r>
            <a:endParaRPr lang="en-US" sz="1600" dirty="0"/>
          </a:p>
        </p:txBody>
      </p:sp>
      <p:sp>
        <p:nvSpPr>
          <p:cNvPr id="20" name="Text 15"/>
          <p:cNvSpPr/>
          <p:nvPr/>
        </p:nvSpPr>
        <p:spPr>
          <a:xfrm>
            <a:off x="7040880" y="3154680"/>
            <a:ext cx="2286000" cy="50292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ReAct until done</a:t>
            </a:r>
            <a:endParaRPr lang="en-US" sz="1250" dirty="0"/>
          </a:p>
        </p:txBody>
      </p:sp>
      <p:sp>
        <p:nvSpPr>
          <p:cNvPr id="21" name="Shape 16"/>
          <p:cNvSpPr/>
          <p:nvPr/>
        </p:nvSpPr>
        <p:spPr>
          <a:xfrm>
            <a:off x="9784080" y="2286000"/>
            <a:ext cx="1737360" cy="1463040"/>
          </a:xfrm>
          <a:prstGeom prst="roundRect">
            <a:avLst>
              <a:gd name="adj" fmla="val 6250"/>
            </a:avLst>
          </a:prstGeom>
          <a:solidFill>
            <a:srgbClr val="0D9488"/>
          </a:solidFill>
          <a:ln/>
          <a:effectLst>
            <a:outerShdw sx="100000" sy="100000" kx="0" ky="0" algn="bl" rotWithShape="0" blurRad="88900" dist="38100" dir="5400000">
              <a:srgbClr val="0F2A33">
                <a:alpha val="16000"/>
              </a:srgbClr>
            </a:outerShdw>
          </a:effectLst>
        </p:spPr>
      </p:sp>
      <p:sp>
        <p:nvSpPr>
          <p:cNvPr id="22" name="Text 17"/>
          <p:cNvSpPr/>
          <p:nvPr/>
        </p:nvSpPr>
        <p:spPr>
          <a:xfrm>
            <a:off x="9784080" y="2286000"/>
            <a:ext cx="1737360" cy="1463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Self-driving</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agent</a:t>
            </a:r>
            <a:endParaRPr lang="en-US" sz="1400" dirty="0"/>
          </a:p>
        </p:txBody>
      </p:sp>
      <p:sp>
        <p:nvSpPr>
          <p:cNvPr id="23" name="Shape 18"/>
          <p:cNvSpPr/>
          <p:nvPr/>
        </p:nvSpPr>
        <p:spPr>
          <a:xfrm>
            <a:off x="9555480" y="3017520"/>
            <a:ext cx="182880" cy="0"/>
          </a:xfrm>
          <a:prstGeom prst="line">
            <a:avLst/>
          </a:prstGeom>
          <a:noFill/>
          <a:ln w="28575">
            <a:solidFill>
              <a:srgbClr val="F59E0B"/>
            </a:solidFill>
            <a:prstDash val="solid"/>
            <a:tailEnd type="triangle"/>
          </a:ln>
        </p:spPr>
      </p:sp>
      <p:sp>
        <p:nvSpPr>
          <p:cNvPr id="24" name="Shape 19"/>
          <p:cNvSpPr/>
          <p:nvPr/>
        </p:nvSpPr>
        <p:spPr>
          <a:xfrm>
            <a:off x="640080" y="4206240"/>
            <a:ext cx="10881360" cy="1371600"/>
          </a:xfrm>
          <a:prstGeom prst="roundRect">
            <a:avLst>
              <a:gd name="adj" fmla="val 6000"/>
            </a:avLst>
          </a:prstGeom>
          <a:solidFill>
            <a:srgbClr val="0F2A33"/>
          </a:solidFill>
          <a:ln/>
          <a:effectLst>
            <a:outerShdw sx="100000" sy="100000" kx="0" ky="0" algn="bl" rotWithShape="0" blurRad="88900" dist="38100" dir="5400000">
              <a:srgbClr val="0F2A33">
                <a:alpha val="16000"/>
              </a:srgbClr>
            </a:outerShdw>
          </a:effectLst>
        </p:spPr>
      </p:sp>
      <p:sp>
        <p:nvSpPr>
          <p:cNvPr id="25" name="Shape 20"/>
          <p:cNvSpPr/>
          <p:nvPr/>
        </p:nvSpPr>
        <p:spPr>
          <a:xfrm>
            <a:off x="914400" y="4480560"/>
            <a:ext cx="777240" cy="7772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26" name="Image 3" descr="preencoded.png">    </p:cNvPr>
          <p:cNvPicPr>
            <a:picLocks noChangeAspect="1"/>
          </p:cNvPicPr>
          <p:nvPr/>
        </p:nvPicPr>
        <p:blipFill>
          <a:blip r:embed="rId4"/>
          <a:stretch>
            <a:fillRect/>
          </a:stretch>
        </p:blipFill>
        <p:spPr>
          <a:xfrm>
            <a:off x="1116482" y="4682642"/>
            <a:ext cx="373075" cy="373075"/>
          </a:xfrm>
          <a:prstGeom prst="rect">
            <a:avLst/>
          </a:prstGeom>
        </p:spPr>
      </p:pic>
      <p:sp>
        <p:nvSpPr>
          <p:cNvPr id="27" name="Text 21"/>
          <p:cNvSpPr/>
          <p:nvPr/>
        </p:nvSpPr>
        <p:spPr>
          <a:xfrm>
            <a:off x="1920240" y="4315968"/>
            <a:ext cx="9418320" cy="1188720"/>
          </a:xfrm>
          <a:prstGeom prst="rect">
            <a:avLst/>
          </a:prstGeom>
          <a:noFill/>
          <a:ln/>
        </p:spPr>
        <p:txBody>
          <a:bodyPr wrap="square" lIns="0" tIns="0" rIns="0" bIns="0" rtlCol="0" anchor="ctr"/>
          <a:lstStyle/>
          <a:p>
            <a:pPr indent="0" marL="0">
              <a:buNone/>
            </a:pPr>
            <a:r>
              <a:rPr lang="en-US" sz="1500" b="1" dirty="0">
                <a:solidFill>
                  <a:srgbClr val="5EEAD4"/>
                </a:solidFill>
                <a:latin typeface="Arial" pitchFamily="34" charset="0"/>
                <a:ea typeface="Arial" pitchFamily="34" charset="-122"/>
                <a:cs typeface="Arial" pitchFamily="34" charset="-120"/>
              </a:rPr>
              <a:t>This is a real agent. </a:t>
            </a:r>
            <a:pPr indent="0" marL="0">
              <a:buNone/>
            </a:pPr>
            <a:r>
              <a:rPr lang="en-US" sz="1500" dirty="0">
                <a:solidFill>
                  <a:srgbClr val="FFFFFF"/>
                </a:solidFill>
                <a:latin typeface="Arial" pitchFamily="34" charset="0"/>
                <a:ea typeface="Arial" pitchFamily="34" charset="-122"/>
                <a:cs typeface="Arial" pitchFamily="34" charset="-120"/>
              </a:rPr>
              <a:t>It reasons about the goal, plans an approach, and loops through act and observe until it is done. Everything from Days 1 and 2 lives inside this loop: tools, routing, even reflection as a check.</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13343B"/>
          </a:solidFill>
          <a:ln/>
        </p:spPr>
      </p:sp>
      <p:sp>
        <p:nvSpPr>
          <p:cNvPr id="3" name="Shape 1"/>
          <p:cNvSpPr/>
          <p:nvPr/>
        </p:nvSpPr>
        <p:spPr>
          <a:xfrm>
            <a:off x="10607040" y="4206240"/>
            <a:ext cx="3840480" cy="3840480"/>
          </a:xfrm>
          <a:prstGeom prst="ellipse">
            <a:avLst/>
          </a:prstGeom>
          <a:solidFill>
            <a:srgbClr val="13343B"/>
          </a:solidFill>
          <a:ln/>
        </p:spPr>
      </p:sp>
      <p:sp>
        <p:nvSpPr>
          <p:cNvPr id="4" name="Text 2"/>
          <p:cNvSpPr/>
          <p:nvPr/>
        </p:nvSpPr>
        <p:spPr>
          <a:xfrm>
            <a:off x="822960" y="2240280"/>
            <a:ext cx="8229600" cy="365760"/>
          </a:xfrm>
          <a:prstGeom prst="rect">
            <a:avLst/>
          </a:prstGeom>
          <a:noFill/>
          <a:ln/>
        </p:spPr>
        <p:txBody>
          <a:bodyPr wrap="square" rtlCol="0" anchor="ctr"/>
          <a:lstStyle/>
          <a:p>
            <a:pPr indent="0" marL="0">
              <a:buNone/>
            </a:pPr>
            <a:r>
              <a:rPr lang="en-US" sz="1500" b="1" spc="400" kern="0" dirty="0">
                <a:solidFill>
                  <a:srgbClr val="F59E0B"/>
                </a:solidFill>
                <a:latin typeface="Arial" pitchFamily="34" charset="0"/>
                <a:ea typeface="Arial" pitchFamily="34" charset="-122"/>
                <a:cs typeface="Arial" pitchFamily="34" charset="-120"/>
              </a:rPr>
              <a:t>PRACTICAL  -  3 HOURS</a:t>
            </a:r>
            <a:endParaRPr lang="en-US" sz="1500" dirty="0"/>
          </a:p>
        </p:txBody>
      </p:sp>
      <p:sp>
        <p:nvSpPr>
          <p:cNvPr id="5" name="Text 3"/>
          <p:cNvSpPr/>
          <p:nvPr/>
        </p:nvSpPr>
        <p:spPr>
          <a:xfrm>
            <a:off x="777240" y="2606040"/>
            <a:ext cx="10058400" cy="1371600"/>
          </a:xfrm>
          <a:prstGeom prst="rect">
            <a:avLst/>
          </a:prstGeom>
          <a:noFill/>
          <a:ln/>
        </p:spPr>
        <p:txBody>
          <a:bodyPr wrap="square" rtlCol="0" anchor="ctr"/>
          <a:lstStyle/>
          <a:p>
            <a:pPr indent="0" marL="0">
              <a:buNone/>
            </a:pPr>
            <a:r>
              <a:rPr lang="en-US" sz="4600" b="1" dirty="0">
                <a:solidFill>
                  <a:srgbClr val="FFFFFF"/>
                </a:solidFill>
                <a:latin typeface="Arial" pitchFamily="34" charset="0"/>
                <a:ea typeface="Arial" pitchFamily="34" charset="-122"/>
                <a:cs typeface="Arial" pitchFamily="34" charset="-120"/>
              </a:rPr>
              <a:t>Build a ReAct agent</a:t>
            </a:r>
            <a:endParaRPr lang="en-US" sz="4600" dirty="0"/>
          </a:p>
        </p:txBody>
      </p:sp>
      <p:sp>
        <p:nvSpPr>
          <p:cNvPr id="6" name="Text 4"/>
          <p:cNvSpPr/>
          <p:nvPr/>
        </p:nvSpPr>
        <p:spPr>
          <a:xfrm>
            <a:off x="822960" y="3977640"/>
            <a:ext cx="10058400" cy="457200"/>
          </a:xfrm>
          <a:prstGeom prst="rect">
            <a:avLst/>
          </a:prstGeom>
          <a:noFill/>
          <a:ln/>
        </p:spPr>
        <p:txBody>
          <a:bodyPr wrap="square" rtlCol="0" anchor="ctr"/>
          <a:lstStyle/>
          <a:p>
            <a:pPr indent="0" marL="0">
              <a:buNone/>
            </a:pPr>
            <a:r>
              <a:rPr lang="en-US" sz="1600" i="1" dirty="0">
                <a:solidFill>
                  <a:srgbClr val="5EEAD4"/>
                </a:solidFill>
                <a:latin typeface="Arial" pitchFamily="34" charset="0"/>
                <a:ea typeface="Arial" pitchFamily="34" charset="-122"/>
                <a:cs typeface="Arial" pitchFamily="34" charset="-120"/>
              </a:rPr>
              <a:t>It plans, reasons, and solves multi-step tasks on its own</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TODAY'S LAB</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An agent that drives its own loop</a:t>
            </a:r>
            <a:endParaRPr lang="en-US" sz="3000" dirty="0"/>
          </a:p>
        </p:txBody>
      </p:sp>
      <p:sp>
        <p:nvSpPr>
          <p:cNvPr id="4" name="Shape 2"/>
          <p:cNvSpPr/>
          <p:nvPr/>
        </p:nvSpPr>
        <p:spPr>
          <a:xfrm>
            <a:off x="640080" y="1737360"/>
            <a:ext cx="10881360" cy="1143000"/>
          </a:xfrm>
          <a:prstGeom prst="roundRect">
            <a:avLst>
              <a:gd name="adj" fmla="val 7200"/>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1938528"/>
            <a:ext cx="731520" cy="7315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04595" y="2128723"/>
            <a:ext cx="351130" cy="351130"/>
          </a:xfrm>
          <a:prstGeom prst="rect">
            <a:avLst/>
          </a:prstGeom>
        </p:spPr>
      </p:pic>
      <p:sp>
        <p:nvSpPr>
          <p:cNvPr id="7" name="Text 4"/>
          <p:cNvSpPr/>
          <p:nvPr/>
        </p:nvSpPr>
        <p:spPr>
          <a:xfrm>
            <a:off x="1874520" y="1810512"/>
            <a:ext cx="9418320" cy="1005840"/>
          </a:xfrm>
          <a:prstGeom prst="rect">
            <a:avLst/>
          </a:prstGeom>
          <a:noFill/>
          <a:ln/>
        </p:spPr>
        <p:txBody>
          <a:bodyPr wrap="square" lIns="0" tIns="0" rIns="0" bIns="0" rtlCol="0" anchor="ctr"/>
          <a:lstStyle/>
          <a:p>
            <a:pPr indent="0" marL="0">
              <a:buNone/>
            </a:pPr>
            <a:r>
              <a:rPr lang="en-US" sz="1550" b="1" dirty="0">
                <a:solidFill>
                  <a:srgbClr val="5EEAD4"/>
                </a:solidFill>
                <a:latin typeface="Arial" pitchFamily="34" charset="0"/>
                <a:ea typeface="Arial" pitchFamily="34" charset="-122"/>
                <a:cs typeface="Arial" pitchFamily="34" charset="-120"/>
              </a:rPr>
              <a:t>Goal:  </a:t>
            </a:r>
            <a:pPr indent="0" marL="0">
              <a:buNone/>
            </a:pPr>
            <a:r>
              <a:rPr lang="en-US" sz="1550" dirty="0">
                <a:solidFill>
                  <a:srgbClr val="FFFFFF"/>
                </a:solidFill>
                <a:latin typeface="Arial" pitchFamily="34" charset="0"/>
                <a:ea typeface="Arial" pitchFamily="34" charset="-122"/>
                <a:cs typeface="Arial" pitchFamily="34" charset="-120"/>
              </a:rPr>
              <a:t>turn yesterday's tools into a ReAct agent that reasons between actions, solves multi-step questions, and decides when it is done. Same Ollama setup.</a:t>
            </a:r>
            <a:endParaRPr lang="en-US" sz="1550" dirty="0"/>
          </a:p>
        </p:txBody>
      </p:sp>
      <p:sp>
        <p:nvSpPr>
          <p:cNvPr id="8" name="Shape 5"/>
          <p:cNvSpPr/>
          <p:nvPr/>
        </p:nvSpPr>
        <p:spPr>
          <a:xfrm>
            <a:off x="640080" y="3108960"/>
            <a:ext cx="3520440" cy="2331720"/>
          </a:xfrm>
          <a:prstGeom prst="roundRect">
            <a:avLst>
              <a:gd name="adj" fmla="val 3529"/>
            </a:avLst>
          </a:prstGeom>
          <a:solidFill>
            <a:srgbClr val="F0FDFA"/>
          </a:solidFill>
          <a:ln/>
          <a:effectLst>
            <a:outerShdw sx="100000" sy="100000" kx="0" ky="0" algn="bl" rotWithShape="0" blurRad="88900" dist="38100" dir="5400000">
              <a:srgbClr val="0F2A33">
                <a:alpha val="16000"/>
              </a:srgbClr>
            </a:outerShdw>
          </a:effectLst>
        </p:spPr>
      </p:sp>
      <p:sp>
        <p:nvSpPr>
          <p:cNvPr id="9" name="Shape 6"/>
          <p:cNvSpPr/>
          <p:nvPr/>
        </p:nvSpPr>
        <p:spPr>
          <a:xfrm>
            <a:off x="914400" y="3383280"/>
            <a:ext cx="713232" cy="713232"/>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0" name="Image 1" descr="preencoded.png">    </p:cNvPr>
          <p:cNvPicPr>
            <a:picLocks noChangeAspect="1"/>
          </p:cNvPicPr>
          <p:nvPr/>
        </p:nvPicPr>
        <p:blipFill>
          <a:blip r:embed="rId2"/>
          <a:stretch>
            <a:fillRect/>
          </a:stretch>
        </p:blipFill>
        <p:spPr>
          <a:xfrm>
            <a:off x="1099840" y="3568720"/>
            <a:ext cx="342351" cy="342351"/>
          </a:xfrm>
          <a:prstGeom prst="rect">
            <a:avLst/>
          </a:prstGeom>
        </p:spPr>
      </p:pic>
      <p:sp>
        <p:nvSpPr>
          <p:cNvPr id="11" name="Text 7"/>
          <p:cNvSpPr/>
          <p:nvPr/>
        </p:nvSpPr>
        <p:spPr>
          <a:xfrm>
            <a:off x="1828800" y="3520440"/>
            <a:ext cx="2194560" cy="45720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Reason first</a:t>
            </a:r>
            <a:endParaRPr lang="en-US" sz="1600" dirty="0"/>
          </a:p>
        </p:txBody>
      </p:sp>
      <p:sp>
        <p:nvSpPr>
          <p:cNvPr id="12" name="Text 8"/>
          <p:cNvSpPr/>
          <p:nvPr/>
        </p:nvSpPr>
        <p:spPr>
          <a:xfrm>
            <a:off x="914400" y="4297680"/>
            <a:ext cx="3017520" cy="10058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add chain of thought and see accuracy improve</a:t>
            </a:r>
            <a:endParaRPr lang="en-US" sz="1300" dirty="0"/>
          </a:p>
        </p:txBody>
      </p:sp>
      <p:sp>
        <p:nvSpPr>
          <p:cNvPr id="13" name="Shape 9"/>
          <p:cNvSpPr/>
          <p:nvPr/>
        </p:nvSpPr>
        <p:spPr>
          <a:xfrm>
            <a:off x="4297680" y="3108960"/>
            <a:ext cx="3520440" cy="2331720"/>
          </a:xfrm>
          <a:prstGeom prst="roundRect">
            <a:avLst>
              <a:gd name="adj" fmla="val 3529"/>
            </a:avLst>
          </a:prstGeom>
          <a:solidFill>
            <a:srgbClr val="F0FDFA"/>
          </a:solidFill>
          <a:ln/>
          <a:effectLst>
            <a:outerShdw sx="100000" sy="100000" kx="0" ky="0" algn="bl" rotWithShape="0" blurRad="88900" dist="38100" dir="5400000">
              <a:srgbClr val="0F2A33">
                <a:alpha val="16000"/>
              </a:srgbClr>
            </a:outerShdw>
          </a:effectLst>
        </p:spPr>
      </p:sp>
      <p:sp>
        <p:nvSpPr>
          <p:cNvPr id="14" name="Shape 10"/>
          <p:cNvSpPr/>
          <p:nvPr/>
        </p:nvSpPr>
        <p:spPr>
          <a:xfrm>
            <a:off x="4572000" y="3383280"/>
            <a:ext cx="713232" cy="713232"/>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5" name="Image 2" descr="preencoded.png">    </p:cNvPr>
          <p:cNvPicPr>
            <a:picLocks noChangeAspect="1"/>
          </p:cNvPicPr>
          <p:nvPr/>
        </p:nvPicPr>
        <p:blipFill>
          <a:blip r:embed="rId3"/>
          <a:stretch>
            <a:fillRect/>
          </a:stretch>
        </p:blipFill>
        <p:spPr>
          <a:xfrm>
            <a:off x="4757440" y="3568720"/>
            <a:ext cx="342351" cy="342351"/>
          </a:xfrm>
          <a:prstGeom prst="rect">
            <a:avLst/>
          </a:prstGeom>
        </p:spPr>
      </p:pic>
      <p:sp>
        <p:nvSpPr>
          <p:cNvPr id="16" name="Text 11"/>
          <p:cNvSpPr/>
          <p:nvPr/>
        </p:nvSpPr>
        <p:spPr>
          <a:xfrm>
            <a:off x="5486400" y="3520440"/>
            <a:ext cx="2194560" cy="45720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Plan</a:t>
            </a:r>
            <a:endParaRPr lang="en-US" sz="1600" dirty="0"/>
          </a:p>
        </p:txBody>
      </p:sp>
      <p:sp>
        <p:nvSpPr>
          <p:cNvPr id="17" name="Text 12"/>
          <p:cNvSpPr/>
          <p:nvPr/>
        </p:nvSpPr>
        <p:spPr>
          <a:xfrm>
            <a:off x="4572000" y="4297680"/>
            <a:ext cx="3017520" cy="10058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make the model write the steps for a goal</a:t>
            </a:r>
            <a:endParaRPr lang="en-US" sz="1300" dirty="0"/>
          </a:p>
        </p:txBody>
      </p:sp>
      <p:sp>
        <p:nvSpPr>
          <p:cNvPr id="18" name="Shape 13"/>
          <p:cNvSpPr/>
          <p:nvPr/>
        </p:nvSpPr>
        <p:spPr>
          <a:xfrm>
            <a:off x="7955280" y="3108960"/>
            <a:ext cx="3520440" cy="2331720"/>
          </a:xfrm>
          <a:prstGeom prst="roundRect">
            <a:avLst>
              <a:gd name="adj" fmla="val 3529"/>
            </a:avLst>
          </a:prstGeom>
          <a:solidFill>
            <a:srgbClr val="F0FDFA"/>
          </a:solidFill>
          <a:ln/>
          <a:effectLst>
            <a:outerShdw sx="100000" sy="100000" kx="0" ky="0" algn="bl" rotWithShape="0" blurRad="88900" dist="38100" dir="5400000">
              <a:srgbClr val="0F2A33">
                <a:alpha val="16000"/>
              </a:srgbClr>
            </a:outerShdw>
          </a:effectLst>
        </p:spPr>
      </p:sp>
      <p:sp>
        <p:nvSpPr>
          <p:cNvPr id="19" name="Shape 14"/>
          <p:cNvSpPr/>
          <p:nvPr/>
        </p:nvSpPr>
        <p:spPr>
          <a:xfrm>
            <a:off x="8229600" y="3383280"/>
            <a:ext cx="713232" cy="713232"/>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20" name="Image 3" descr="preencoded.png">    </p:cNvPr>
          <p:cNvPicPr>
            <a:picLocks noChangeAspect="1"/>
          </p:cNvPicPr>
          <p:nvPr/>
        </p:nvPicPr>
        <p:blipFill>
          <a:blip r:embed="rId4"/>
          <a:stretch>
            <a:fillRect/>
          </a:stretch>
        </p:blipFill>
        <p:spPr>
          <a:xfrm>
            <a:off x="8415040" y="3568720"/>
            <a:ext cx="342351" cy="342351"/>
          </a:xfrm>
          <a:prstGeom prst="rect">
            <a:avLst/>
          </a:prstGeom>
        </p:spPr>
      </p:pic>
      <p:sp>
        <p:nvSpPr>
          <p:cNvPr id="21" name="Text 15"/>
          <p:cNvSpPr/>
          <p:nvPr/>
        </p:nvSpPr>
        <p:spPr>
          <a:xfrm>
            <a:off x="9144000" y="3520440"/>
            <a:ext cx="2194560" cy="45720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ReAct</a:t>
            </a:r>
            <a:endParaRPr lang="en-US" sz="1600" dirty="0"/>
          </a:p>
        </p:txBody>
      </p:sp>
      <p:sp>
        <p:nvSpPr>
          <p:cNvPr id="22" name="Text 16"/>
          <p:cNvSpPr/>
          <p:nvPr/>
        </p:nvSpPr>
        <p:spPr>
          <a:xfrm>
            <a:off x="8229600" y="4297680"/>
            <a:ext cx="3017520" cy="10058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reason, act, observe, repeat, with a step budget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LAB MILESTONES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From thinking to a self-driving agent</a:t>
            </a:r>
            <a:endParaRPr lang="en-US" sz="3000" dirty="0"/>
          </a:p>
        </p:txBody>
      </p:sp>
      <p:sp>
        <p:nvSpPr>
          <p:cNvPr id="4" name="Shape 2"/>
          <p:cNvSpPr/>
          <p:nvPr/>
        </p:nvSpPr>
        <p:spPr>
          <a:xfrm>
            <a:off x="640080" y="1783080"/>
            <a:ext cx="3520440" cy="1645920"/>
          </a:xfrm>
          <a:prstGeom prst="roundRect">
            <a:avLst>
              <a:gd name="adj" fmla="val 5000"/>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96112" y="2039112"/>
            <a:ext cx="548640" cy="548640"/>
          </a:xfrm>
          <a:prstGeom prst="ellipse">
            <a:avLst/>
          </a:prstGeom>
          <a:solidFill>
            <a:srgbClr val="0D9488"/>
          </a:solidFill>
          <a:ln/>
        </p:spPr>
      </p:sp>
      <p:sp>
        <p:nvSpPr>
          <p:cNvPr id="6" name="Text 4"/>
          <p:cNvSpPr/>
          <p:nvPr/>
        </p:nvSpPr>
        <p:spPr>
          <a:xfrm>
            <a:off x="896112" y="203911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1</a:t>
            </a:r>
            <a:endParaRPr lang="en-US" sz="1900" dirty="0"/>
          </a:p>
        </p:txBody>
      </p:sp>
      <p:sp>
        <p:nvSpPr>
          <p:cNvPr id="7" name="Text 5"/>
          <p:cNvSpPr/>
          <p:nvPr/>
        </p:nvSpPr>
        <p:spPr>
          <a:xfrm>
            <a:off x="1600200" y="2057400"/>
            <a:ext cx="2423160" cy="502920"/>
          </a:xfrm>
          <a:prstGeom prst="rect">
            <a:avLst/>
          </a:prstGeom>
          <a:noFill/>
          <a:ln/>
        </p:spPr>
        <p:txBody>
          <a:bodyPr wrap="square" lIns="0" tIns="0" rIns="0" bIns="0" rtlCol="0" anchor="ctr"/>
          <a:lstStyle/>
          <a:p>
            <a:pPr indent="0" marL="0">
              <a:buNone/>
            </a:pPr>
            <a:r>
              <a:rPr lang="en-US" sz="1500" b="1" dirty="0">
                <a:solidFill>
                  <a:srgbClr val="1E293B"/>
                </a:solidFill>
                <a:latin typeface="Arial" pitchFamily="34" charset="0"/>
                <a:ea typeface="Arial" pitchFamily="34" charset="-122"/>
                <a:cs typeface="Arial" pitchFamily="34" charset="-120"/>
              </a:rPr>
              <a:t>Chain of thought</a:t>
            </a:r>
            <a:endParaRPr lang="en-US" sz="1500" dirty="0"/>
          </a:p>
        </p:txBody>
      </p:sp>
      <p:sp>
        <p:nvSpPr>
          <p:cNvPr id="8" name="Text 6"/>
          <p:cNvSpPr/>
          <p:nvPr/>
        </p:nvSpPr>
        <p:spPr>
          <a:xfrm>
            <a:off x="914400" y="265176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Compare a snap answer to step-by-step on a word problem.</a:t>
            </a:r>
            <a:endParaRPr lang="en-US" sz="1200" dirty="0"/>
          </a:p>
        </p:txBody>
      </p:sp>
      <p:sp>
        <p:nvSpPr>
          <p:cNvPr id="9" name="Shape 7"/>
          <p:cNvSpPr/>
          <p:nvPr/>
        </p:nvSpPr>
        <p:spPr>
          <a:xfrm>
            <a:off x="4297680" y="1783080"/>
            <a:ext cx="3520440" cy="1645920"/>
          </a:xfrm>
          <a:prstGeom prst="roundRect">
            <a:avLst>
              <a:gd name="adj" fmla="val 5000"/>
            </a:avLst>
          </a:prstGeom>
          <a:solidFill>
            <a:srgbClr val="F1F5F9"/>
          </a:solidFill>
          <a:ln/>
          <a:effectLst>
            <a:outerShdw sx="100000" sy="100000" kx="0" ky="0" algn="bl" rotWithShape="0" blurRad="88900" dist="38100" dir="5400000">
              <a:srgbClr val="0F2A33">
                <a:alpha val="16000"/>
              </a:srgbClr>
            </a:outerShdw>
          </a:effectLst>
        </p:spPr>
      </p:sp>
      <p:sp>
        <p:nvSpPr>
          <p:cNvPr id="10" name="Shape 8"/>
          <p:cNvSpPr/>
          <p:nvPr/>
        </p:nvSpPr>
        <p:spPr>
          <a:xfrm>
            <a:off x="4553712" y="2039112"/>
            <a:ext cx="548640" cy="548640"/>
          </a:xfrm>
          <a:prstGeom prst="ellipse">
            <a:avLst/>
          </a:prstGeom>
          <a:solidFill>
            <a:srgbClr val="0D9488"/>
          </a:solidFill>
          <a:ln/>
        </p:spPr>
      </p:sp>
      <p:sp>
        <p:nvSpPr>
          <p:cNvPr id="11" name="Text 9"/>
          <p:cNvSpPr/>
          <p:nvPr/>
        </p:nvSpPr>
        <p:spPr>
          <a:xfrm>
            <a:off x="4553712" y="203911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2</a:t>
            </a:r>
            <a:endParaRPr lang="en-US" sz="1900" dirty="0"/>
          </a:p>
        </p:txBody>
      </p:sp>
      <p:sp>
        <p:nvSpPr>
          <p:cNvPr id="12" name="Text 10"/>
          <p:cNvSpPr/>
          <p:nvPr/>
        </p:nvSpPr>
        <p:spPr>
          <a:xfrm>
            <a:off x="5257800" y="2057400"/>
            <a:ext cx="2423160" cy="502920"/>
          </a:xfrm>
          <a:prstGeom prst="rect">
            <a:avLst/>
          </a:prstGeom>
          <a:noFill/>
          <a:ln/>
        </p:spPr>
        <p:txBody>
          <a:bodyPr wrap="square" lIns="0" tIns="0" rIns="0" bIns="0" rtlCol="0" anchor="ctr"/>
          <a:lstStyle/>
          <a:p>
            <a:pPr indent="0" marL="0">
              <a:buNone/>
            </a:pPr>
            <a:r>
              <a:rPr lang="en-US" sz="1500" b="1" dirty="0">
                <a:solidFill>
                  <a:srgbClr val="1E293B"/>
                </a:solidFill>
                <a:latin typeface="Arial" pitchFamily="34" charset="0"/>
                <a:ea typeface="Arial" pitchFamily="34" charset="-122"/>
                <a:cs typeface="Arial" pitchFamily="34" charset="-120"/>
              </a:rPr>
              <a:t>Self-consistency</a:t>
            </a:r>
            <a:endParaRPr lang="en-US" sz="1500" dirty="0"/>
          </a:p>
        </p:txBody>
      </p:sp>
      <p:sp>
        <p:nvSpPr>
          <p:cNvPr id="13" name="Text 11"/>
          <p:cNvSpPr/>
          <p:nvPr/>
        </p:nvSpPr>
        <p:spPr>
          <a:xfrm>
            <a:off x="4572000" y="265176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Sample several reasonings and take the majority answer.</a:t>
            </a:r>
            <a:endParaRPr lang="en-US" sz="1200" dirty="0"/>
          </a:p>
        </p:txBody>
      </p:sp>
      <p:sp>
        <p:nvSpPr>
          <p:cNvPr id="14" name="Shape 12"/>
          <p:cNvSpPr/>
          <p:nvPr/>
        </p:nvSpPr>
        <p:spPr>
          <a:xfrm>
            <a:off x="7955280" y="1783080"/>
            <a:ext cx="3520440" cy="1645920"/>
          </a:xfrm>
          <a:prstGeom prst="roundRect">
            <a:avLst>
              <a:gd name="adj" fmla="val 5000"/>
            </a:avLst>
          </a:prstGeom>
          <a:solidFill>
            <a:srgbClr val="F0FDFA"/>
          </a:solidFill>
          <a:ln/>
          <a:effectLst>
            <a:outerShdw sx="100000" sy="100000" kx="0" ky="0" algn="bl" rotWithShape="0" blurRad="88900" dist="38100" dir="5400000">
              <a:srgbClr val="0F2A33">
                <a:alpha val="16000"/>
              </a:srgbClr>
            </a:outerShdw>
          </a:effectLst>
        </p:spPr>
      </p:sp>
      <p:sp>
        <p:nvSpPr>
          <p:cNvPr id="15" name="Shape 13"/>
          <p:cNvSpPr/>
          <p:nvPr/>
        </p:nvSpPr>
        <p:spPr>
          <a:xfrm>
            <a:off x="8211312" y="2039112"/>
            <a:ext cx="548640" cy="548640"/>
          </a:xfrm>
          <a:prstGeom prst="ellipse">
            <a:avLst/>
          </a:prstGeom>
          <a:solidFill>
            <a:srgbClr val="0D9488"/>
          </a:solidFill>
          <a:ln/>
        </p:spPr>
      </p:sp>
      <p:sp>
        <p:nvSpPr>
          <p:cNvPr id="16" name="Text 14"/>
          <p:cNvSpPr/>
          <p:nvPr/>
        </p:nvSpPr>
        <p:spPr>
          <a:xfrm>
            <a:off x="8211312" y="203911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3</a:t>
            </a:r>
            <a:endParaRPr lang="en-US" sz="1900" dirty="0"/>
          </a:p>
        </p:txBody>
      </p:sp>
      <p:sp>
        <p:nvSpPr>
          <p:cNvPr id="17" name="Text 15"/>
          <p:cNvSpPr/>
          <p:nvPr/>
        </p:nvSpPr>
        <p:spPr>
          <a:xfrm>
            <a:off x="8915400" y="2057400"/>
            <a:ext cx="2423160" cy="502920"/>
          </a:xfrm>
          <a:prstGeom prst="rect">
            <a:avLst/>
          </a:prstGeom>
          <a:noFill/>
          <a:ln/>
        </p:spPr>
        <p:txBody>
          <a:bodyPr wrap="square" lIns="0" tIns="0" rIns="0" bIns="0" rtlCol="0" anchor="ctr"/>
          <a:lstStyle/>
          <a:p>
            <a:pPr indent="0" marL="0">
              <a:buNone/>
            </a:pPr>
            <a:r>
              <a:rPr lang="en-US" sz="1500" b="1" dirty="0">
                <a:solidFill>
                  <a:srgbClr val="1E293B"/>
                </a:solidFill>
                <a:latin typeface="Arial" pitchFamily="34" charset="0"/>
                <a:ea typeface="Arial" pitchFamily="34" charset="-122"/>
                <a:cs typeface="Arial" pitchFamily="34" charset="-120"/>
              </a:rPr>
              <a:t>Make a plan</a:t>
            </a:r>
            <a:endParaRPr lang="en-US" sz="1500" dirty="0"/>
          </a:p>
        </p:txBody>
      </p:sp>
      <p:sp>
        <p:nvSpPr>
          <p:cNvPr id="18" name="Text 16"/>
          <p:cNvSpPr/>
          <p:nvPr/>
        </p:nvSpPr>
        <p:spPr>
          <a:xfrm>
            <a:off x="8229600" y="265176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Have the model break a goal into numbered steps.</a:t>
            </a:r>
            <a:endParaRPr lang="en-US" sz="1200" dirty="0"/>
          </a:p>
        </p:txBody>
      </p:sp>
      <p:sp>
        <p:nvSpPr>
          <p:cNvPr id="19" name="Shape 17"/>
          <p:cNvSpPr/>
          <p:nvPr/>
        </p:nvSpPr>
        <p:spPr>
          <a:xfrm>
            <a:off x="640080" y="3703320"/>
            <a:ext cx="3520440" cy="1645920"/>
          </a:xfrm>
          <a:prstGeom prst="roundRect">
            <a:avLst>
              <a:gd name="adj" fmla="val 5000"/>
            </a:avLst>
          </a:prstGeom>
          <a:solidFill>
            <a:srgbClr val="F1F5F9"/>
          </a:solidFill>
          <a:ln/>
          <a:effectLst>
            <a:outerShdw sx="100000" sy="100000" kx="0" ky="0" algn="bl" rotWithShape="0" blurRad="88900" dist="38100" dir="5400000">
              <a:srgbClr val="0F2A33">
                <a:alpha val="16000"/>
              </a:srgbClr>
            </a:outerShdw>
          </a:effectLst>
        </p:spPr>
      </p:sp>
      <p:sp>
        <p:nvSpPr>
          <p:cNvPr id="20" name="Shape 18"/>
          <p:cNvSpPr/>
          <p:nvPr/>
        </p:nvSpPr>
        <p:spPr>
          <a:xfrm>
            <a:off x="896112" y="3959352"/>
            <a:ext cx="548640" cy="548640"/>
          </a:xfrm>
          <a:prstGeom prst="ellipse">
            <a:avLst/>
          </a:prstGeom>
          <a:solidFill>
            <a:srgbClr val="F59E0B"/>
          </a:solidFill>
          <a:ln/>
        </p:spPr>
      </p:sp>
      <p:sp>
        <p:nvSpPr>
          <p:cNvPr id="21" name="Text 19"/>
          <p:cNvSpPr/>
          <p:nvPr/>
        </p:nvSpPr>
        <p:spPr>
          <a:xfrm>
            <a:off x="896112" y="395935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4</a:t>
            </a:r>
            <a:endParaRPr lang="en-US" sz="1900" dirty="0"/>
          </a:p>
        </p:txBody>
      </p:sp>
      <p:sp>
        <p:nvSpPr>
          <p:cNvPr id="22" name="Text 20"/>
          <p:cNvSpPr/>
          <p:nvPr/>
        </p:nvSpPr>
        <p:spPr>
          <a:xfrm>
            <a:off x="1600200" y="3977640"/>
            <a:ext cx="2423160" cy="502920"/>
          </a:xfrm>
          <a:prstGeom prst="rect">
            <a:avLst/>
          </a:prstGeom>
          <a:noFill/>
          <a:ln/>
        </p:spPr>
        <p:txBody>
          <a:bodyPr wrap="square" lIns="0" tIns="0" rIns="0" bIns="0" rtlCol="0" anchor="ctr"/>
          <a:lstStyle/>
          <a:p>
            <a:pPr indent="0" marL="0">
              <a:buNone/>
            </a:pPr>
            <a:r>
              <a:rPr lang="en-US" sz="1500" b="1" dirty="0">
                <a:solidFill>
                  <a:srgbClr val="1E293B"/>
                </a:solidFill>
                <a:latin typeface="Arial" pitchFamily="34" charset="0"/>
                <a:ea typeface="Arial" pitchFamily="34" charset="-122"/>
                <a:cs typeface="Arial" pitchFamily="34" charset="-120"/>
              </a:rPr>
              <a:t>ReAct loop</a:t>
            </a:r>
            <a:endParaRPr lang="en-US" sz="1500" dirty="0"/>
          </a:p>
        </p:txBody>
      </p:sp>
      <p:sp>
        <p:nvSpPr>
          <p:cNvPr id="23" name="Text 21"/>
          <p:cNvSpPr/>
          <p:nvPr/>
        </p:nvSpPr>
        <p:spPr>
          <a:xfrm>
            <a:off x="914400" y="457200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Add a reasoning system prompt and a done check to the tool loop.</a:t>
            </a:r>
            <a:endParaRPr lang="en-US" sz="1200" dirty="0"/>
          </a:p>
        </p:txBody>
      </p:sp>
      <p:sp>
        <p:nvSpPr>
          <p:cNvPr id="24" name="Shape 22"/>
          <p:cNvSpPr/>
          <p:nvPr/>
        </p:nvSpPr>
        <p:spPr>
          <a:xfrm>
            <a:off x="4297680" y="3703320"/>
            <a:ext cx="3520440" cy="1645920"/>
          </a:xfrm>
          <a:prstGeom prst="roundRect">
            <a:avLst>
              <a:gd name="adj" fmla="val 5000"/>
            </a:avLst>
          </a:prstGeom>
          <a:solidFill>
            <a:srgbClr val="F0FDFA"/>
          </a:solidFill>
          <a:ln/>
          <a:effectLst>
            <a:outerShdw sx="100000" sy="100000" kx="0" ky="0" algn="bl" rotWithShape="0" blurRad="88900" dist="38100" dir="5400000">
              <a:srgbClr val="0F2A33">
                <a:alpha val="16000"/>
              </a:srgbClr>
            </a:outerShdw>
          </a:effectLst>
        </p:spPr>
      </p:sp>
      <p:sp>
        <p:nvSpPr>
          <p:cNvPr id="25" name="Shape 23"/>
          <p:cNvSpPr/>
          <p:nvPr/>
        </p:nvSpPr>
        <p:spPr>
          <a:xfrm>
            <a:off x="4553712" y="3959352"/>
            <a:ext cx="548640" cy="548640"/>
          </a:xfrm>
          <a:prstGeom prst="ellipse">
            <a:avLst/>
          </a:prstGeom>
          <a:solidFill>
            <a:srgbClr val="F59E0B"/>
          </a:solidFill>
          <a:ln/>
        </p:spPr>
      </p:sp>
      <p:sp>
        <p:nvSpPr>
          <p:cNvPr id="26" name="Text 24"/>
          <p:cNvSpPr/>
          <p:nvPr/>
        </p:nvSpPr>
        <p:spPr>
          <a:xfrm>
            <a:off x="4553712" y="395935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5</a:t>
            </a:r>
            <a:endParaRPr lang="en-US" sz="1900" dirty="0"/>
          </a:p>
        </p:txBody>
      </p:sp>
      <p:sp>
        <p:nvSpPr>
          <p:cNvPr id="27" name="Text 25"/>
          <p:cNvSpPr/>
          <p:nvPr/>
        </p:nvSpPr>
        <p:spPr>
          <a:xfrm>
            <a:off x="5257800" y="3977640"/>
            <a:ext cx="2423160" cy="502920"/>
          </a:xfrm>
          <a:prstGeom prst="rect">
            <a:avLst/>
          </a:prstGeom>
          <a:noFill/>
          <a:ln/>
        </p:spPr>
        <p:txBody>
          <a:bodyPr wrap="square" lIns="0" tIns="0" rIns="0" bIns="0" rtlCol="0" anchor="ctr"/>
          <a:lstStyle/>
          <a:p>
            <a:pPr indent="0" marL="0">
              <a:buNone/>
            </a:pPr>
            <a:r>
              <a:rPr lang="en-US" sz="1500" b="1" dirty="0">
                <a:solidFill>
                  <a:srgbClr val="1E293B"/>
                </a:solidFill>
                <a:latin typeface="Arial" pitchFamily="34" charset="0"/>
                <a:ea typeface="Arial" pitchFamily="34" charset="-122"/>
                <a:cs typeface="Arial" pitchFamily="34" charset="-120"/>
              </a:rPr>
              <a:t>Multi-step task</a:t>
            </a:r>
            <a:endParaRPr lang="en-US" sz="1500" dirty="0"/>
          </a:p>
        </p:txBody>
      </p:sp>
      <p:sp>
        <p:nvSpPr>
          <p:cNvPr id="28" name="Text 26"/>
          <p:cNvSpPr/>
          <p:nvPr/>
        </p:nvSpPr>
        <p:spPr>
          <a:xfrm>
            <a:off x="4572000" y="457200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Solve a question needing several tool calls in sequence.</a:t>
            </a:r>
            <a:endParaRPr lang="en-US" sz="1200" dirty="0"/>
          </a:p>
        </p:txBody>
      </p:sp>
      <p:sp>
        <p:nvSpPr>
          <p:cNvPr id="29" name="Shape 27"/>
          <p:cNvSpPr/>
          <p:nvPr/>
        </p:nvSpPr>
        <p:spPr>
          <a:xfrm>
            <a:off x="7955280" y="3703320"/>
            <a:ext cx="3520440" cy="1645920"/>
          </a:xfrm>
          <a:prstGeom prst="roundRect">
            <a:avLst>
              <a:gd name="adj" fmla="val 5000"/>
            </a:avLst>
          </a:prstGeom>
          <a:solidFill>
            <a:srgbClr val="F1F5F9"/>
          </a:solidFill>
          <a:ln/>
          <a:effectLst>
            <a:outerShdw sx="100000" sy="100000" kx="0" ky="0" algn="bl" rotWithShape="0" blurRad="88900" dist="38100" dir="5400000">
              <a:srgbClr val="0F2A33">
                <a:alpha val="16000"/>
              </a:srgbClr>
            </a:outerShdw>
          </a:effectLst>
        </p:spPr>
      </p:sp>
      <p:sp>
        <p:nvSpPr>
          <p:cNvPr id="30" name="Shape 28"/>
          <p:cNvSpPr/>
          <p:nvPr/>
        </p:nvSpPr>
        <p:spPr>
          <a:xfrm>
            <a:off x="8211312" y="3959352"/>
            <a:ext cx="548640" cy="548640"/>
          </a:xfrm>
          <a:prstGeom prst="ellipse">
            <a:avLst/>
          </a:prstGeom>
          <a:solidFill>
            <a:srgbClr val="F59E0B"/>
          </a:solidFill>
          <a:ln/>
        </p:spPr>
      </p:sp>
      <p:sp>
        <p:nvSpPr>
          <p:cNvPr id="31" name="Text 29"/>
          <p:cNvSpPr/>
          <p:nvPr/>
        </p:nvSpPr>
        <p:spPr>
          <a:xfrm>
            <a:off x="8211312" y="395935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6</a:t>
            </a:r>
            <a:endParaRPr lang="en-US" sz="1900" dirty="0"/>
          </a:p>
        </p:txBody>
      </p:sp>
      <p:sp>
        <p:nvSpPr>
          <p:cNvPr id="32" name="Text 30"/>
          <p:cNvSpPr/>
          <p:nvPr/>
        </p:nvSpPr>
        <p:spPr>
          <a:xfrm>
            <a:off x="8915400" y="3977640"/>
            <a:ext cx="2423160" cy="502920"/>
          </a:xfrm>
          <a:prstGeom prst="rect">
            <a:avLst/>
          </a:prstGeom>
          <a:noFill/>
          <a:ln/>
        </p:spPr>
        <p:txBody>
          <a:bodyPr wrap="square" lIns="0" tIns="0" rIns="0" bIns="0" rtlCol="0" anchor="ctr"/>
          <a:lstStyle/>
          <a:p>
            <a:pPr indent="0" marL="0">
              <a:buNone/>
            </a:pPr>
            <a:r>
              <a:rPr lang="en-US" sz="1500" b="1" dirty="0">
                <a:solidFill>
                  <a:srgbClr val="1E293B"/>
                </a:solidFill>
                <a:latin typeface="Arial" pitchFamily="34" charset="0"/>
                <a:ea typeface="Arial" pitchFamily="34" charset="-122"/>
                <a:cs typeface="Arial" pitchFamily="34" charset="-120"/>
              </a:rPr>
              <a:t>Guard it</a:t>
            </a:r>
            <a:endParaRPr lang="en-US" sz="1500" dirty="0"/>
          </a:p>
        </p:txBody>
      </p:sp>
      <p:sp>
        <p:nvSpPr>
          <p:cNvPr id="33" name="Text 31"/>
          <p:cNvSpPr/>
          <p:nvPr/>
        </p:nvSpPr>
        <p:spPr>
          <a:xfrm>
            <a:off x="8229600" y="457200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Add a step budget and watch it handle a tricky goal.</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9326880" y="-1645920"/>
            <a:ext cx="4754880" cy="4754880"/>
          </a:xfrm>
          <a:prstGeom prst="ellipse">
            <a:avLst/>
          </a:prstGeom>
          <a:solidFill>
            <a:srgbClr val="13343B"/>
          </a:solidFill>
          <a:ln/>
        </p:spPr>
      </p:sp>
      <p:sp>
        <p:nvSpPr>
          <p:cNvPr id="3" name="Text 1"/>
          <p:cNvSpPr/>
          <p:nvPr/>
        </p:nvSpPr>
        <p:spPr>
          <a:xfrm>
            <a:off x="822960" y="777240"/>
            <a:ext cx="10058400" cy="365760"/>
          </a:xfrm>
          <a:prstGeom prst="rect">
            <a:avLst/>
          </a:prstGeom>
          <a:noFill/>
          <a:ln/>
        </p:spPr>
        <p:txBody>
          <a:bodyPr wrap="square" rtlCol="0" anchor="ctr"/>
          <a:lstStyle/>
          <a:p>
            <a:pPr indent="0" marL="0">
              <a:buNone/>
            </a:pPr>
            <a:r>
              <a:rPr lang="en-US" sz="1400" b="1" spc="400" kern="0" dirty="0">
                <a:solidFill>
                  <a:srgbClr val="5EEAD4"/>
                </a:solidFill>
                <a:latin typeface="Arial" pitchFamily="34" charset="0"/>
                <a:ea typeface="Arial" pitchFamily="34" charset="-122"/>
                <a:cs typeface="Arial" pitchFamily="34" charset="-120"/>
              </a:rPr>
              <a:t>DAY 3 DONE</a:t>
            </a:r>
            <a:endParaRPr lang="en-US" sz="1400" dirty="0"/>
          </a:p>
        </p:txBody>
      </p:sp>
      <p:sp>
        <p:nvSpPr>
          <p:cNvPr id="4" name="Text 2"/>
          <p:cNvSpPr/>
          <p:nvPr/>
        </p:nvSpPr>
        <p:spPr>
          <a:xfrm>
            <a:off x="822960" y="1143000"/>
            <a:ext cx="10515600" cy="914400"/>
          </a:xfrm>
          <a:prstGeom prst="rect">
            <a:avLst/>
          </a:prstGeom>
          <a:noFill/>
          <a:ln/>
        </p:spPr>
        <p:txBody>
          <a:bodyPr wrap="square" rtlCol="0" anchor="ctr"/>
          <a:lstStyle/>
          <a:p>
            <a:pPr indent="0" marL="0">
              <a:buNone/>
            </a:pPr>
            <a:r>
              <a:rPr lang="en-US" sz="3300" b="1" dirty="0">
                <a:solidFill>
                  <a:srgbClr val="FFFFFF"/>
                </a:solidFill>
                <a:latin typeface="Arial" pitchFamily="34" charset="0"/>
                <a:ea typeface="Arial" pitchFamily="34" charset="-122"/>
                <a:cs typeface="Arial" pitchFamily="34" charset="-120"/>
              </a:rPr>
              <a:t>The model now drives the loop</a:t>
            </a:r>
            <a:endParaRPr lang="en-US" sz="3300" dirty="0"/>
          </a:p>
        </p:txBody>
      </p:sp>
      <p:sp>
        <p:nvSpPr>
          <p:cNvPr id="5" name="Shape 3"/>
          <p:cNvSpPr/>
          <p:nvPr/>
        </p:nvSpPr>
        <p:spPr>
          <a:xfrm>
            <a:off x="822960" y="2423160"/>
            <a:ext cx="5212080" cy="3108960"/>
          </a:xfrm>
          <a:prstGeom prst="roundRect">
            <a:avLst>
              <a:gd name="adj" fmla="val 2647"/>
            </a:avLst>
          </a:prstGeom>
          <a:solidFill>
            <a:srgbClr val="13343B"/>
          </a:solidFill>
          <a:ln/>
          <a:effectLst>
            <a:outerShdw sx="100000" sy="100000" kx="0" ky="0" algn="bl" rotWithShape="0" blurRad="88900" dist="38100" dir="5400000">
              <a:srgbClr val="0F2A33">
                <a:alpha val="16000"/>
              </a:srgbClr>
            </a:outerShdw>
          </a:effectLst>
        </p:spPr>
      </p:sp>
      <p:sp>
        <p:nvSpPr>
          <p:cNvPr id="6" name="Shape 4"/>
          <p:cNvSpPr/>
          <p:nvPr/>
        </p:nvSpPr>
        <p:spPr>
          <a:xfrm>
            <a:off x="1097280" y="2697480"/>
            <a:ext cx="566928" cy="566928"/>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7" name="Image 0" descr="preencoded.png">    </p:cNvPr>
          <p:cNvPicPr>
            <a:picLocks noChangeAspect="1"/>
          </p:cNvPicPr>
          <p:nvPr/>
        </p:nvPicPr>
        <p:blipFill>
          <a:blip r:embed="rId1"/>
          <a:stretch>
            <a:fillRect/>
          </a:stretch>
        </p:blipFill>
        <p:spPr>
          <a:xfrm>
            <a:off x="1244681" y="2844881"/>
            <a:ext cx="272125" cy="272125"/>
          </a:xfrm>
          <a:prstGeom prst="rect">
            <a:avLst/>
          </a:prstGeom>
        </p:spPr>
      </p:pic>
      <p:sp>
        <p:nvSpPr>
          <p:cNvPr id="8" name="Text 5"/>
          <p:cNvSpPr/>
          <p:nvPr/>
        </p:nvSpPr>
        <p:spPr>
          <a:xfrm>
            <a:off x="1783080" y="2743200"/>
            <a:ext cx="4114800" cy="457200"/>
          </a:xfrm>
          <a:prstGeom prst="rect">
            <a:avLst/>
          </a:prstGeom>
          <a:noFill/>
          <a:ln/>
        </p:spPr>
        <p:txBody>
          <a:bodyPr wrap="square" lIns="0" tIns="0" rIns="0" bIns="0" rtlCol="0" anchor="ctr"/>
          <a:lstStyle/>
          <a:p>
            <a:pPr indent="0" marL="0">
              <a:buNone/>
            </a:pPr>
            <a:r>
              <a:rPr lang="en-US" sz="1700" b="1" dirty="0">
                <a:solidFill>
                  <a:srgbClr val="5EEAD4"/>
                </a:solidFill>
                <a:latin typeface="Arial" pitchFamily="34" charset="0"/>
                <a:ea typeface="Arial" pitchFamily="34" charset="-122"/>
                <a:cs typeface="Arial" pitchFamily="34" charset="-120"/>
              </a:rPr>
              <a:t>Locked in today</a:t>
            </a:r>
            <a:endParaRPr lang="en-US" sz="1700" dirty="0"/>
          </a:p>
        </p:txBody>
      </p:sp>
      <p:sp>
        <p:nvSpPr>
          <p:cNvPr id="9" name="Text 6"/>
          <p:cNvSpPr/>
          <p:nvPr/>
        </p:nvSpPr>
        <p:spPr>
          <a:xfrm>
            <a:off x="1143000" y="3383280"/>
            <a:ext cx="4663440" cy="201168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E2E8F0"/>
                </a:solidFill>
                <a:latin typeface="Arial" pitchFamily="34" charset="0"/>
                <a:ea typeface="Arial" pitchFamily="34" charset="-122"/>
                <a:cs typeface="Arial" pitchFamily="34" charset="-120"/>
              </a:rPr>
              <a:t>Reasoning: think step by step, self-consistency</a:t>
            </a:r>
            <a:endParaRPr lang="en-US" sz="1350" dirty="0"/>
          </a:p>
          <a:p>
            <a:pPr marL="342900" indent="-342900">
              <a:spcAft>
                <a:spcPts val="1100"/>
              </a:spcAft>
              <a:buSzPct val="100000"/>
              <a:buChar char="•"/>
            </a:pPr>
            <a:r>
              <a:rPr lang="en-US" sz="1350" dirty="0">
                <a:solidFill>
                  <a:srgbClr val="E2E8F0"/>
                </a:solidFill>
                <a:latin typeface="Arial" pitchFamily="34" charset="0"/>
                <a:ea typeface="Arial" pitchFamily="34" charset="-122"/>
                <a:cs typeface="Arial" pitchFamily="34" charset="-120"/>
              </a:rPr>
              <a:t>Planning: the model writes its own steps</a:t>
            </a:r>
            <a:endParaRPr lang="en-US" sz="1350" dirty="0"/>
          </a:p>
          <a:p>
            <a:pPr marL="342900" indent="-342900">
              <a:spcAft>
                <a:spcPts val="1100"/>
              </a:spcAft>
              <a:buSzPct val="100000"/>
              <a:buChar char="•"/>
            </a:pPr>
            <a:r>
              <a:rPr lang="en-US" sz="1350" dirty="0">
                <a:solidFill>
                  <a:srgbClr val="E2E8F0"/>
                </a:solidFill>
                <a:latin typeface="Arial" pitchFamily="34" charset="0"/>
                <a:ea typeface="Arial" pitchFamily="34" charset="-122"/>
                <a:cs typeface="Arial" pitchFamily="34" charset="-120"/>
              </a:rPr>
              <a:t>ReAct: reason, act, observe, repeat</a:t>
            </a:r>
            <a:endParaRPr lang="en-US" sz="1350" dirty="0"/>
          </a:p>
          <a:p>
            <a:pPr marL="342900" indent="-342900">
              <a:spcAft>
                <a:spcPts val="1100"/>
              </a:spcAft>
              <a:buSzPct val="100000"/>
              <a:buChar char="•"/>
            </a:pPr>
            <a:r>
              <a:rPr lang="en-US" sz="1350" dirty="0">
                <a:solidFill>
                  <a:srgbClr val="E2E8F0"/>
                </a:solidFill>
                <a:latin typeface="Arial" pitchFamily="34" charset="0"/>
                <a:ea typeface="Arial" pitchFamily="34" charset="-122"/>
                <a:cs typeface="Arial" pitchFamily="34" charset="-120"/>
              </a:rPr>
              <a:t>Goal and step budget keep the loop safe</a:t>
            </a:r>
            <a:endParaRPr lang="en-US" sz="1350" dirty="0"/>
          </a:p>
        </p:txBody>
      </p:sp>
      <p:sp>
        <p:nvSpPr>
          <p:cNvPr id="10" name="Shape 7"/>
          <p:cNvSpPr/>
          <p:nvPr/>
        </p:nvSpPr>
        <p:spPr>
          <a:xfrm>
            <a:off x="6309360" y="2423160"/>
            <a:ext cx="5029200" cy="3108960"/>
          </a:xfrm>
          <a:prstGeom prst="roundRect">
            <a:avLst>
              <a:gd name="adj" fmla="val 2647"/>
            </a:avLst>
          </a:prstGeom>
          <a:solidFill>
            <a:srgbClr val="0D9488"/>
          </a:solidFill>
          <a:ln/>
          <a:effectLst>
            <a:outerShdw sx="100000" sy="100000" kx="0" ky="0" algn="bl" rotWithShape="0" blurRad="88900" dist="38100" dir="5400000">
              <a:srgbClr val="0F2A33">
                <a:alpha val="16000"/>
              </a:srgbClr>
            </a:outerShdw>
          </a:effectLst>
        </p:spPr>
      </p:sp>
      <p:sp>
        <p:nvSpPr>
          <p:cNvPr id="11" name="Shape 8"/>
          <p:cNvSpPr/>
          <p:nvPr/>
        </p:nvSpPr>
        <p:spPr>
          <a:xfrm>
            <a:off x="6583680" y="2697480"/>
            <a:ext cx="566928" cy="566928"/>
          </a:xfrm>
          <a:prstGeom prst="ellipse">
            <a:avLst/>
          </a:prstGeom>
          <a:solidFill>
            <a:srgbClr val="FFFFFF"/>
          </a:solidFill>
          <a:ln/>
          <a:effectLst>
            <a:outerShdw sx="100000" sy="100000" kx="0" ky="0" algn="bl" rotWithShape="0" blurRad="88900" dist="38100" dir="5400000">
              <a:srgbClr val="0F2A33">
                <a:alpha val="16000"/>
              </a:srgbClr>
            </a:outerShdw>
          </a:effectLst>
        </p:spPr>
      </p:sp>
      <p:pic>
        <p:nvPicPr>
          <p:cNvPr id="12" name="Image 1" descr="preencoded.png">    </p:cNvPr>
          <p:cNvPicPr>
            <a:picLocks noChangeAspect="1"/>
          </p:cNvPicPr>
          <p:nvPr/>
        </p:nvPicPr>
        <p:blipFill>
          <a:blip r:embed="rId2"/>
          <a:stretch>
            <a:fillRect/>
          </a:stretch>
        </p:blipFill>
        <p:spPr>
          <a:xfrm>
            <a:off x="6731081" y="2844881"/>
            <a:ext cx="272125" cy="272125"/>
          </a:xfrm>
          <a:prstGeom prst="rect">
            <a:avLst/>
          </a:prstGeom>
        </p:spPr>
      </p:pic>
      <p:sp>
        <p:nvSpPr>
          <p:cNvPr id="13" name="Text 9"/>
          <p:cNvSpPr/>
          <p:nvPr/>
        </p:nvSpPr>
        <p:spPr>
          <a:xfrm>
            <a:off x="7269480" y="2743200"/>
            <a:ext cx="393192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Tomorrow, Day 4</a:t>
            </a:r>
            <a:endParaRPr lang="en-US" sz="1700" dirty="0"/>
          </a:p>
        </p:txBody>
      </p:sp>
      <p:sp>
        <p:nvSpPr>
          <p:cNvPr id="14" name="Text 10"/>
          <p:cNvSpPr/>
          <p:nvPr/>
        </p:nvSpPr>
        <p:spPr>
          <a:xfrm>
            <a:off x="6629400" y="3383280"/>
            <a:ext cx="4480560" cy="2011680"/>
          </a:xfrm>
          <a:prstGeom prst="rect">
            <a:avLst/>
          </a:prstGeom>
          <a:noFill/>
          <a:ln/>
        </p:spPr>
        <p:txBody>
          <a:bodyPr wrap="square" lIns="0" tIns="0" rIns="0" bIns="0" rtlCol="0" anchor="ctr"/>
          <a:lstStyle/>
          <a:p>
            <a:pPr marL="342900" indent="-342900">
              <a:spcAft>
                <a:spcPts val="1300"/>
              </a:spcAft>
              <a:buSzPct val="100000"/>
              <a:buChar char="•"/>
            </a:pPr>
            <a:r>
              <a:rPr lang="en-US" sz="1400" dirty="0">
                <a:solidFill>
                  <a:srgbClr val="ECFDF5"/>
                </a:solidFill>
                <a:latin typeface="Arial" pitchFamily="34" charset="0"/>
                <a:ea typeface="Arial" pitchFamily="34" charset="-122"/>
                <a:cs typeface="Arial" pitchFamily="34" charset="-120"/>
              </a:rPr>
              <a:t>Memory: what the agent remembers across turns</a:t>
            </a:r>
            <a:endParaRPr lang="en-US" sz="1400" dirty="0"/>
          </a:p>
          <a:p>
            <a:pPr marL="342900" indent="-342900">
              <a:spcAft>
                <a:spcPts val="1300"/>
              </a:spcAft>
              <a:buSzPct val="100000"/>
              <a:buChar char="•"/>
            </a:pPr>
            <a:r>
              <a:rPr lang="en-US" sz="1400" dirty="0">
                <a:solidFill>
                  <a:srgbClr val="ECFDF5"/>
                </a:solidFill>
                <a:latin typeface="Arial" pitchFamily="34" charset="0"/>
                <a:ea typeface="Arial" pitchFamily="34" charset="-122"/>
                <a:cs typeface="Arial" pitchFamily="34" charset="-120"/>
              </a:rPr>
              <a:t>Retrieval (RAG): give it access to real knowledge</a:t>
            </a:r>
            <a:endParaRPr lang="en-US" sz="1400" dirty="0"/>
          </a:p>
          <a:p>
            <a:pPr marL="342900" indent="-342900">
              <a:spcAft>
                <a:spcPts val="1300"/>
              </a:spcAft>
              <a:buSzPct val="100000"/>
              <a:buChar char="•"/>
            </a:pPr>
            <a:r>
              <a:rPr lang="en-US" sz="1400" dirty="0">
                <a:solidFill>
                  <a:srgbClr val="ECFDF5"/>
                </a:solidFill>
                <a:latin typeface="Arial" pitchFamily="34" charset="0"/>
                <a:ea typeface="Arial" pitchFamily="34" charset="-122"/>
                <a:cs typeface="Arial" pitchFamily="34" charset="-120"/>
              </a:rPr>
              <a:t>Agents that learn and look things up</a:t>
            </a:r>
            <a:endParaRPr lang="en-US" sz="1400" dirty="0"/>
          </a:p>
        </p:txBody>
      </p:sp>
      <p:sp>
        <p:nvSpPr>
          <p:cNvPr id="15" name="Text 11"/>
          <p:cNvSpPr/>
          <p:nvPr/>
        </p:nvSpPr>
        <p:spPr>
          <a:xfrm>
            <a:off x="822960" y="5852160"/>
            <a:ext cx="10058400" cy="457200"/>
          </a:xfrm>
          <a:prstGeom prst="rect">
            <a:avLst/>
          </a:prstGeom>
          <a:noFill/>
          <a:ln/>
        </p:spPr>
        <p:txBody>
          <a:bodyPr wrap="square" rtlCol="0" anchor="ctr"/>
          <a:lstStyle/>
          <a:p>
            <a:pPr indent="0" marL="0">
              <a:buNone/>
            </a:pPr>
            <a:r>
              <a:rPr lang="en-US" sz="1500" i="1" dirty="0">
                <a:solidFill>
                  <a:srgbClr val="5EEAD4"/>
                </a:solidFill>
                <a:latin typeface="Arial" pitchFamily="34" charset="0"/>
                <a:ea typeface="Arial" pitchFamily="34" charset="-122"/>
                <a:cs typeface="Arial" pitchFamily="34" charset="-120"/>
              </a:rPr>
              <a:t>Questions?  Then break, and we build.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 Day 3</dc:title>
  <dc:subject>PptxGenJS Presentation</dc:subject>
  <dc:creator>Agentic AI Course</dc:creator>
  <cp:lastModifiedBy>Agentic AI Course</cp:lastModifiedBy>
  <cp:revision>1</cp:revision>
  <dcterms:created xsi:type="dcterms:W3CDTF">2026-06-13T14:57:06Z</dcterms:created>
  <dcterms:modified xsi:type="dcterms:W3CDTF">2026-06-13T14:57:06Z</dcterms:modified>
</cp:coreProperties>
</file>