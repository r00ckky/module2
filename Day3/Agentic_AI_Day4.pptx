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4. The agent can reason and act, but it has two big gaps. It forgets everything between calls, and it only knows what was in its training data. Today we fix both: memory, so it remembers across turns, and retrieval, so it can look up real knowledge instead of guessing. These two together are what turn a clever loop into a useful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day around two concrete gaps. The agent is capable but amnesiac and ignorant of anything outside training. Memory fixes the first, retrieval the second. Keep it that simple so the why is obvious before the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parts today, and flag the link up front: the mechanism behind long-term memory is the same as retrieval. Once they see RAG, they will realise memory across sessions is the same trick applied to conversation history. Same rhythm: theory now, build this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amnesia concrete with the name example. Then the key reframe: memory is not a model feature, it is an engineering choice. The model is a pure function of the messages you pass it. Everything in this part is about what to keep in that list and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clean categories. Short-term is the message list, bounded by the context window. Long-term is anything you store elsewhere and fetch when needed. The bridge, which we reach at the end of this part: long-term recall is done by retrieval, the same mechanism as 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it. Short-term memory is not new, they built it on Day 1 by appending messages. The model answers the name question now only because the earlier turn is in the list. Say it plainly: keeping history is short-term memory, nothing more exotic.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crux of short-term memory. The window is finite, so appending forever breaks. The engineering question becomes what to keep. That question leads straight to the three strategies on the next slide. Mention typical window sizes vary by model, but all are finite.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strategies, increasing in cleverness. Sliding window is trivial but amnesiac. Summarization keeps the gist of old turns cheaply. Fact memory pins the things that must never be lost. In practice you blend all three. They build sliding window and summary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it. Every call sends a system summary of old turns plus the last four turns verbatim. So the prompt stays bounded however long the conversation runs. compress is what keeps the summary current. This is the two strategies working together, and it is what they build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hinge between the two halves of today. Long-term memory is write, search, recall. The search-and-recall part is retrieval, which is the whole of Part 2. So when they learn RAG next, they are also learning how long-term memory works under the hood. Plant that flag firmly.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memory. The headline to repeat: memory is an engineering choice about what to keep in the prompt. Warn on cost, long histories are expensive and slow, and on privacy, storing user data long-term has real responsibilities, which connects to the guardrails day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Motivate RAG with the hallucination problem. The model cannot know your private or recent data, and worse, it will confidently invent an answer rather than admit ignorance. The fix is retrieval: give it the real text in the prompt. That is the whole idea, stated before any machinery.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RAG plainly: retrieve relevant text, then generate an answer grounded in it. Three payoffs: grounded answers, easy to keep current, and you can cite sources. This is the single most common way real products use LLMs over private data, so it is highly employable.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whole second half. Top row is one-time setup: documents, chunked, embedded, stored. Bottom row runs per question: embed the question, search the store, put the best chunks plus the question into the model. The dashed arrow shows search reads the store. Walk it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Embeddings are the one genuinely new concept today, so go slowly. Text in, a vector of numbers out, and similar meanings land near each other. That is what lets us search by meaning rather than exact keywords. They will see this directly in the lab: embed sentences and watch related ones score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is where beginners get the most wrong. The size trade-off is the key lesson: big chunks blur the meaning so retrieval gets noisy, tiny chunks lose the surrounding context. A few sentences per chunk is a sane default. In the lab they will see retrieval quality change with chunk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terms they need: cosine similarity is the closeness score, top-k is how many you keep, and then you paste and answer. Keep k small, two or three, so the context stays focused. No special database needed for a small set: a list of vectors and a similarity loop is enough, which is what the lab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of RAG in one screen. embed wraps the Ollama call. We embed every chunk once. search embeds the query, scores it against each stored vector with cosine, and returns the top k. Then we paste those chunks into the prompt and answer. Stress: for a small set this is just a list and a loop, no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 them choose. RAG is for facts that are private or change. Fine-tuning teaches behaviour and style, not current facts, and is expensive to keep current. Long context works for small data but does not scale. The common beginner mistake is reaching for fine-tuning when they actually need 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RAG honestly. It is not magic. If retrieval pulls the wrong chunk, the answer is wrong, and the model can still drift beyond the provided context. The instruction to answer only from the context helps but is not a guarantee. Showing the source chunk is the best defence, because a human can check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the two halves together. A real assistant uses both: memory to hold the thread of the conversation, retrieval to pull in facts it was never trained on. And the punchline they should leave with: they are the same trick, search relevant text into the prompt, applied to two different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lab. One new thing to pull, the nomic-embed-text model, and numpy for the maths. Confirm both before they start. The lab is two builds: memory first, then the mini RAG, ending with a grounded-versus-not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milestones, two rows. One to three are memory, four to six are retrieval. Milestone four, embeddings, is the new concept, so give it time. Milestone six is the payoff: the same question answered with and without retrieval, so they see grounding beat guessing with their own eyes.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two halves, then questions. Headline: the agent now remembers across turns and can look up real knowledge instead of guessing. Tomorrow is the finale: agents working together, keeping them safe with guardrails, and a capstone. Send them to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slideLayout" Target="../slideLayouts/slideLayout1.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3"/>
        </a:solidFill>
      </p:bgPr>
    </p:bg>
    <p:spTree>
      <p:nvGrpSpPr>
        <p:cNvPr id="1" name=""/>
        <p:cNvGrpSpPr/>
        <p:nvPr/>
      </p:nvGrpSpPr>
      <p:grpSpPr>
        <a:xfrm>
          <a:off x="0" y="0"/>
          <a:ext cx="0" cy="0"/>
          <a:chOff x="0" y="0"/>
          <a:chExt cx="0" cy="0"/>
        </a:xfrm>
      </p:grpSpPr>
      <p:sp>
        <p:nvSpPr>
          <p:cNvPr id="2" name="Shape 0"/>
          <p:cNvSpPr/>
          <p:nvPr/>
        </p:nvSpPr>
        <p:spPr>
          <a:xfrm>
            <a:off x="8778240" y="-1920240"/>
            <a:ext cx="5852160" cy="5852160"/>
          </a:xfrm>
          <a:prstGeom prst="ellipse">
            <a:avLst/>
          </a:prstGeom>
          <a:solidFill>
            <a:srgbClr val="13343B"/>
          </a:solidFill>
          <a:ln/>
        </p:spPr>
      </p:sp>
      <p:sp>
        <p:nvSpPr>
          <p:cNvPr id="3" name="Shape 1"/>
          <p:cNvSpPr/>
          <p:nvPr/>
        </p:nvSpPr>
        <p:spPr>
          <a:xfrm>
            <a:off x="10332720" y="3840480"/>
            <a:ext cx="4206240" cy="4206240"/>
          </a:xfrm>
          <a:prstGeom prst="ellipse">
            <a:avLst/>
          </a:prstGeom>
          <a:solidFill>
            <a:srgbClr val="0D9488"/>
          </a:solidFill>
          <a:ln/>
        </p:spPr>
      </p:sp>
      <p:sp>
        <p:nvSpPr>
          <p:cNvPr id="4" name="Shape 2"/>
          <p:cNvSpPr/>
          <p:nvPr/>
        </p:nvSpPr>
        <p:spPr>
          <a:xfrm>
            <a:off x="10332720" y="3840480"/>
            <a:ext cx="4206240" cy="4206240"/>
          </a:xfrm>
          <a:prstGeom prst="ellipse">
            <a:avLst/>
          </a:prstGeom>
          <a:solidFill>
            <a:srgbClr val="0F2A33">
              <a:alpha val="88000"/>
            </a:srgbClr>
          </a:solidFill>
          <a:ln/>
        </p:spPr>
      </p:sp>
      <p:sp>
        <p:nvSpPr>
          <p:cNvPr id="5" name="Shape 3"/>
          <p:cNvSpPr/>
          <p:nvPr/>
        </p:nvSpPr>
        <p:spPr>
          <a:xfrm>
            <a:off x="868680" y="1371600"/>
            <a:ext cx="1051560" cy="105156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42086" y="1645006"/>
            <a:ext cx="504749" cy="504749"/>
          </a:xfrm>
          <a:prstGeom prst="rect">
            <a:avLst/>
          </a:prstGeom>
        </p:spPr>
      </p:pic>
      <p:sp>
        <p:nvSpPr>
          <p:cNvPr id="7" name="Text 4"/>
          <p:cNvSpPr/>
          <p:nvPr/>
        </p:nvSpPr>
        <p:spPr>
          <a:xfrm>
            <a:off x="822960" y="2697480"/>
            <a:ext cx="10058400" cy="1005840"/>
          </a:xfrm>
          <a:prstGeom prst="rect">
            <a:avLst/>
          </a:prstGeom>
          <a:noFill/>
          <a:ln/>
        </p:spPr>
        <p:txBody>
          <a:bodyPr wrap="square" rtlCol="0" anchor="ctr"/>
          <a:lstStyle/>
          <a:p>
            <a:pPr indent="0" marL="0">
              <a:buNone/>
            </a:pPr>
            <a:r>
              <a:rPr lang="en-US" sz="6200" b="1" dirty="0">
                <a:solidFill>
                  <a:srgbClr val="FFFFFF"/>
                </a:solidFill>
                <a:latin typeface="Arial" pitchFamily="34" charset="0"/>
                <a:ea typeface="Arial" pitchFamily="34" charset="-122"/>
                <a:cs typeface="Arial" pitchFamily="34" charset="-120"/>
              </a:rPr>
              <a:t>AGENTIC AI</a:t>
            </a:r>
            <a:endParaRPr lang="en-US" sz="6200" dirty="0"/>
          </a:p>
        </p:txBody>
      </p:sp>
      <p:sp>
        <p:nvSpPr>
          <p:cNvPr id="8" name="Text 5"/>
          <p:cNvSpPr/>
          <p:nvPr/>
        </p:nvSpPr>
        <p:spPr>
          <a:xfrm>
            <a:off x="868680" y="3794760"/>
            <a:ext cx="10698480" cy="548640"/>
          </a:xfrm>
          <a:prstGeom prst="rect">
            <a:avLst/>
          </a:prstGeom>
          <a:noFill/>
          <a:ln/>
        </p:spPr>
        <p:txBody>
          <a:bodyPr wrap="square" rtlCol="0" anchor="ctr"/>
          <a:lstStyle/>
          <a:p>
            <a:pPr indent="0" marL="0">
              <a:buNone/>
            </a:pPr>
            <a:r>
              <a:rPr lang="en-US" sz="2200" dirty="0">
                <a:solidFill>
                  <a:srgbClr val="5EEAD4"/>
                </a:solidFill>
                <a:latin typeface="Arial" pitchFamily="34" charset="0"/>
                <a:ea typeface="Arial" pitchFamily="34" charset="-122"/>
                <a:cs typeface="Arial" pitchFamily="34" charset="-120"/>
              </a:rPr>
              <a:t>Day 4  -  Memory and Retrieval (RAG)</a:t>
            </a:r>
            <a:endParaRPr lang="en-US" sz="2200" dirty="0"/>
          </a:p>
        </p:txBody>
      </p:sp>
      <p:sp>
        <p:nvSpPr>
          <p:cNvPr id="9" name="Text 6"/>
          <p:cNvSpPr/>
          <p:nvPr/>
        </p:nvSpPr>
        <p:spPr>
          <a:xfrm>
            <a:off x="868680" y="5029200"/>
            <a:ext cx="10698480" cy="822960"/>
          </a:xfrm>
          <a:prstGeom prst="rect">
            <a:avLst/>
          </a:prstGeom>
          <a:noFill/>
          <a:ln/>
        </p:spPr>
        <p:txBody>
          <a:bodyPr wrap="square" rtlCol="0" anchor="ctr"/>
          <a:lstStyle/>
          <a:p>
            <a:pPr indent="0" marL="0">
              <a:buNone/>
            </a:pPr>
            <a:r>
              <a:rPr lang="en-US" sz="1400" dirty="0">
                <a:solidFill>
                  <a:srgbClr val="CBD5E1"/>
                </a:solidFill>
                <a:latin typeface="Arial" pitchFamily="34" charset="0"/>
                <a:ea typeface="Arial" pitchFamily="34" charset="-122"/>
                <a:cs typeface="Arial" pitchFamily="34" charset="-120"/>
              </a:rPr>
              <a:t>Week 5  -  Hands-on Agentic AI</a:t>
            </a:r>
            <a:endParaRPr lang="en-US" sz="1400" dirty="0"/>
          </a:p>
          <a:p>
            <a:pPr indent="0" marL="0">
              <a:buNone/>
            </a:pPr>
            <a:r>
              <a:rPr lang="en-US" sz="1400" dirty="0">
                <a:solidFill>
                  <a:srgbClr val="64748B"/>
                </a:solidFill>
                <a:latin typeface="Arial" pitchFamily="34" charset="0"/>
                <a:ea typeface="Arial" pitchFamily="34" charset="-122"/>
                <a:cs typeface="Arial" pitchFamily="34" charset="-120"/>
              </a:rPr>
              <a:t>Based on  Agentic Design Patterns  by Antonio Gulli, Chapters 8 and 14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WHERE WE ARE</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Three days of capability, two gaps left</a:t>
            </a:r>
            <a:endParaRPr lang="en-US" sz="3000" dirty="0"/>
          </a:p>
        </p:txBody>
      </p:sp>
      <p:sp>
        <p:nvSpPr>
          <p:cNvPr id="4" name="Shape 2"/>
          <p:cNvSpPr/>
          <p:nvPr/>
        </p:nvSpPr>
        <p:spPr>
          <a:xfrm>
            <a:off x="1280160" y="1783080"/>
            <a:ext cx="9601200" cy="1280160"/>
          </a:xfrm>
          <a:prstGeom prst="roundRect">
            <a:avLst>
              <a:gd name="adj" fmla="val 5714"/>
            </a:avLst>
          </a:prstGeom>
          <a:solidFill>
            <a:srgbClr val="F1F5F9"/>
          </a:solidFill>
          <a:ln/>
          <a:effectLst>
            <a:outerShdw sx="100000" sy="100000" kx="0" ky="0" algn="bl" rotWithShape="0" blurRad="88900" dist="38100" dir="5400000">
              <a:srgbClr val="0F2A33">
                <a:alpha val="16000"/>
              </a:srgbClr>
            </a:outerShdw>
          </a:effectLst>
        </p:spPr>
      </p:sp>
      <p:sp>
        <p:nvSpPr>
          <p:cNvPr id="5" name="Shape 3"/>
          <p:cNvSpPr/>
          <p:nvPr/>
        </p:nvSpPr>
        <p:spPr>
          <a:xfrm>
            <a:off x="1600200" y="2011680"/>
            <a:ext cx="777240" cy="7772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802282" y="2213762"/>
            <a:ext cx="373075" cy="373075"/>
          </a:xfrm>
          <a:prstGeom prst="rect">
            <a:avLst/>
          </a:prstGeom>
        </p:spPr>
      </p:pic>
      <p:sp>
        <p:nvSpPr>
          <p:cNvPr id="7" name="Text 4"/>
          <p:cNvSpPr/>
          <p:nvPr/>
        </p:nvSpPr>
        <p:spPr>
          <a:xfrm>
            <a:off x="2697480" y="2103120"/>
            <a:ext cx="7772400" cy="411480"/>
          </a:xfrm>
          <a:prstGeom prst="rect">
            <a:avLst/>
          </a:prstGeom>
          <a:noFill/>
          <a:ln/>
        </p:spPr>
        <p:txBody>
          <a:bodyPr wrap="square" lIns="0" tIns="0" rIns="0" bIns="0" rtlCol="0" anchor="ctr"/>
          <a:lstStyle/>
          <a:p>
            <a:pPr indent="0" marL="0">
              <a:buNone/>
            </a:pPr>
            <a:r>
              <a:rPr lang="en-US" sz="1800" b="1" dirty="0">
                <a:solidFill>
                  <a:srgbClr val="1E293B"/>
                </a:solidFill>
                <a:latin typeface="Arial" pitchFamily="34" charset="0"/>
                <a:ea typeface="Arial" pitchFamily="34" charset="-122"/>
                <a:cs typeface="Arial" pitchFamily="34" charset="-120"/>
              </a:rPr>
              <a:t>Days 1 to 3: the agent can reason and act</a:t>
            </a:r>
            <a:endParaRPr lang="en-US" sz="1800" dirty="0"/>
          </a:p>
        </p:txBody>
      </p:sp>
      <p:sp>
        <p:nvSpPr>
          <p:cNvPr id="8" name="Text 5"/>
          <p:cNvSpPr/>
          <p:nvPr/>
        </p:nvSpPr>
        <p:spPr>
          <a:xfrm>
            <a:off x="2697480" y="2542032"/>
            <a:ext cx="7772400" cy="45720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It loops, uses tools, routes, plans, and drives itself with ReAct.</a:t>
            </a:r>
            <a:endParaRPr lang="en-US" sz="1350" dirty="0"/>
          </a:p>
        </p:txBody>
      </p:sp>
      <p:sp>
        <p:nvSpPr>
          <p:cNvPr id="9" name="Shape 6"/>
          <p:cNvSpPr/>
          <p:nvPr/>
        </p:nvSpPr>
        <p:spPr>
          <a:xfrm>
            <a:off x="1280160" y="3429000"/>
            <a:ext cx="4663440" cy="2057400"/>
          </a:xfrm>
          <a:prstGeom prst="roundRect">
            <a:avLst>
              <a:gd name="adj" fmla="val 4000"/>
            </a:avLst>
          </a:prstGeom>
          <a:solidFill>
            <a:srgbClr val="0F2A33"/>
          </a:solidFill>
          <a:ln/>
          <a:effectLst>
            <a:outerShdw sx="100000" sy="100000" kx="0" ky="0" algn="bl" rotWithShape="0" blurRad="88900" dist="38100" dir="5400000">
              <a:srgbClr val="0F2A33">
                <a:alpha val="16000"/>
              </a:srgbClr>
            </a:outerShdw>
          </a:effectLst>
        </p:spPr>
      </p:sp>
      <p:sp>
        <p:nvSpPr>
          <p:cNvPr id="10" name="Shape 7"/>
          <p:cNvSpPr/>
          <p:nvPr/>
        </p:nvSpPr>
        <p:spPr>
          <a:xfrm>
            <a:off x="1554480" y="3703320"/>
            <a:ext cx="731520" cy="73152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1744675" y="3893515"/>
            <a:ext cx="351130" cy="351130"/>
          </a:xfrm>
          <a:prstGeom prst="rect">
            <a:avLst/>
          </a:prstGeom>
        </p:spPr>
      </p:pic>
      <p:sp>
        <p:nvSpPr>
          <p:cNvPr id="12" name="Text 8"/>
          <p:cNvSpPr/>
          <p:nvPr/>
        </p:nvSpPr>
        <p:spPr>
          <a:xfrm>
            <a:off x="2468880" y="3840480"/>
            <a:ext cx="3291840" cy="457200"/>
          </a:xfrm>
          <a:prstGeom prst="rect">
            <a:avLst/>
          </a:prstGeom>
          <a:noFill/>
          <a:ln/>
        </p:spPr>
        <p:txBody>
          <a:bodyPr wrap="square" lIns="0" tIns="0" rIns="0" bIns="0" rtlCol="0" anchor="ctr"/>
          <a:lstStyle/>
          <a:p>
            <a:pPr indent="0" marL="0">
              <a:buNone/>
            </a:pPr>
            <a:r>
              <a:rPr lang="en-US" sz="1700" b="1" dirty="0">
                <a:solidFill>
                  <a:srgbClr val="5EEAD4"/>
                </a:solidFill>
                <a:latin typeface="Arial" pitchFamily="34" charset="0"/>
                <a:ea typeface="Arial" pitchFamily="34" charset="-122"/>
                <a:cs typeface="Arial" pitchFamily="34" charset="-120"/>
              </a:rPr>
              <a:t>It forgets</a:t>
            </a:r>
            <a:endParaRPr lang="en-US" sz="1700" dirty="0"/>
          </a:p>
        </p:txBody>
      </p:sp>
      <p:sp>
        <p:nvSpPr>
          <p:cNvPr id="13" name="Text 9"/>
          <p:cNvSpPr/>
          <p:nvPr/>
        </p:nvSpPr>
        <p:spPr>
          <a:xfrm>
            <a:off x="1554480" y="4617720"/>
            <a:ext cx="4114800" cy="777240"/>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Nothing carries between calls unless you resend it</a:t>
            </a:r>
            <a:endParaRPr lang="en-US" sz="1350" dirty="0"/>
          </a:p>
        </p:txBody>
      </p:sp>
      <p:sp>
        <p:nvSpPr>
          <p:cNvPr id="14" name="Shape 10"/>
          <p:cNvSpPr/>
          <p:nvPr/>
        </p:nvSpPr>
        <p:spPr>
          <a:xfrm>
            <a:off x="6217920" y="3429000"/>
            <a:ext cx="4663440" cy="2057400"/>
          </a:xfrm>
          <a:prstGeom prst="roundRect">
            <a:avLst>
              <a:gd name="adj" fmla="val 4000"/>
            </a:avLst>
          </a:prstGeom>
          <a:solidFill>
            <a:srgbClr val="0F2A33"/>
          </a:solidFill>
          <a:ln/>
          <a:effectLst>
            <a:outerShdw sx="100000" sy="100000" kx="0" ky="0" algn="bl" rotWithShape="0" blurRad="88900" dist="38100" dir="5400000">
              <a:srgbClr val="0F2A33">
                <a:alpha val="16000"/>
              </a:srgbClr>
            </a:outerShdw>
          </a:effectLst>
        </p:spPr>
      </p:sp>
      <p:sp>
        <p:nvSpPr>
          <p:cNvPr id="15" name="Shape 11"/>
          <p:cNvSpPr/>
          <p:nvPr/>
        </p:nvSpPr>
        <p:spPr>
          <a:xfrm>
            <a:off x="6492240" y="3703320"/>
            <a:ext cx="731520" cy="73152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6" name="Image 2" descr="preencoded.png">    </p:cNvPr>
          <p:cNvPicPr>
            <a:picLocks noChangeAspect="1"/>
          </p:cNvPicPr>
          <p:nvPr/>
        </p:nvPicPr>
        <p:blipFill>
          <a:blip r:embed="rId3"/>
          <a:stretch>
            <a:fillRect/>
          </a:stretch>
        </p:blipFill>
        <p:spPr>
          <a:xfrm>
            <a:off x="6682435" y="3893515"/>
            <a:ext cx="351130" cy="351130"/>
          </a:xfrm>
          <a:prstGeom prst="rect">
            <a:avLst/>
          </a:prstGeom>
        </p:spPr>
      </p:pic>
      <p:sp>
        <p:nvSpPr>
          <p:cNvPr id="17" name="Text 12"/>
          <p:cNvSpPr/>
          <p:nvPr/>
        </p:nvSpPr>
        <p:spPr>
          <a:xfrm>
            <a:off x="7406640" y="3840480"/>
            <a:ext cx="3291840" cy="457200"/>
          </a:xfrm>
          <a:prstGeom prst="rect">
            <a:avLst/>
          </a:prstGeom>
          <a:noFill/>
          <a:ln/>
        </p:spPr>
        <p:txBody>
          <a:bodyPr wrap="square" lIns="0" tIns="0" rIns="0" bIns="0" rtlCol="0" anchor="ctr"/>
          <a:lstStyle/>
          <a:p>
            <a:pPr indent="0" marL="0">
              <a:buNone/>
            </a:pPr>
            <a:r>
              <a:rPr lang="en-US" sz="1700" b="1" dirty="0">
                <a:solidFill>
                  <a:srgbClr val="5EEAD4"/>
                </a:solidFill>
                <a:latin typeface="Arial" pitchFamily="34" charset="0"/>
                <a:ea typeface="Arial" pitchFamily="34" charset="-122"/>
                <a:cs typeface="Arial" pitchFamily="34" charset="-120"/>
              </a:rPr>
              <a:t>It does not know your data</a:t>
            </a:r>
            <a:endParaRPr lang="en-US" sz="1700" dirty="0"/>
          </a:p>
        </p:txBody>
      </p:sp>
      <p:sp>
        <p:nvSpPr>
          <p:cNvPr id="18" name="Text 13"/>
          <p:cNvSpPr/>
          <p:nvPr/>
        </p:nvSpPr>
        <p:spPr>
          <a:xfrm>
            <a:off x="6492240" y="4617720"/>
            <a:ext cx="4114800" cy="777240"/>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Only its training data, so it guesses or makes things up</a:t>
            </a:r>
            <a:endParaRPr lang="en-US" sz="1350" dirty="0"/>
          </a:p>
        </p:txBody>
      </p:sp>
      <p:sp>
        <p:nvSpPr>
          <p:cNvPr id="19" name="Text 14"/>
          <p:cNvSpPr/>
          <p:nvPr/>
        </p:nvSpPr>
        <p:spPr>
          <a:xfrm>
            <a:off x="1280160" y="5532120"/>
            <a:ext cx="9601200" cy="365760"/>
          </a:xfrm>
          <a:prstGeom prst="rect">
            <a:avLst/>
          </a:prstGeom>
          <a:noFill/>
          <a:ln/>
        </p:spPr>
        <p:txBody>
          <a:bodyPr wrap="square" rtlCol="0" anchor="ctr"/>
          <a:lstStyle/>
          <a:p>
            <a:pPr algn="ctr" indent="0" marL="0">
              <a:buNone/>
            </a:pPr>
            <a:r>
              <a:rPr lang="en-US" sz="1400" b="1" i="1" dirty="0">
                <a:solidFill>
                  <a:srgbClr val="0D9488"/>
                </a:solidFill>
                <a:latin typeface="Arial" pitchFamily="34" charset="0"/>
                <a:ea typeface="Arial" pitchFamily="34" charset="-122"/>
                <a:cs typeface="Arial" pitchFamily="34" charset="-120"/>
              </a:rPr>
              <a:t>Today we close both gaps: Memory, and Retrieval.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DAY 4 AT A GLANCE</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Give the agent a memory and a library</a:t>
            </a:r>
            <a:endParaRPr lang="en-US" sz="3000" dirty="0"/>
          </a:p>
        </p:txBody>
      </p:sp>
      <p:sp>
        <p:nvSpPr>
          <p:cNvPr id="4" name="Shape 2"/>
          <p:cNvSpPr/>
          <p:nvPr/>
        </p:nvSpPr>
        <p:spPr>
          <a:xfrm>
            <a:off x="640080" y="1828800"/>
            <a:ext cx="10881360" cy="1280160"/>
          </a:xfrm>
          <a:prstGeom prst="roundRect">
            <a:avLst>
              <a:gd name="adj" fmla="val 5714"/>
            </a:avLst>
          </a:prstGeom>
          <a:solidFill>
            <a:srgbClr val="F0FDFA"/>
          </a:solidFill>
          <a:ln/>
          <a:effectLst>
            <a:outerShdw sx="100000" sy="100000" kx="0" ky="0" algn="bl" rotWithShape="0" blurRad="88900" dist="38100" dir="5400000">
              <a:srgbClr val="0F2A33">
                <a:alpha val="16000"/>
              </a:srgbClr>
            </a:outerShdw>
          </a:effectLst>
        </p:spPr>
      </p:sp>
      <p:sp>
        <p:nvSpPr>
          <p:cNvPr id="5" name="Shape 3"/>
          <p:cNvSpPr/>
          <p:nvPr/>
        </p:nvSpPr>
        <p:spPr>
          <a:xfrm>
            <a:off x="914400" y="2185416"/>
            <a:ext cx="566928" cy="566928"/>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061801" y="2332817"/>
            <a:ext cx="272125" cy="272125"/>
          </a:xfrm>
          <a:prstGeom prst="rect">
            <a:avLst/>
          </a:prstGeom>
        </p:spPr>
      </p:pic>
      <p:sp>
        <p:nvSpPr>
          <p:cNvPr id="7" name="Text 4"/>
          <p:cNvSpPr/>
          <p:nvPr/>
        </p:nvSpPr>
        <p:spPr>
          <a:xfrm>
            <a:off x="1783080" y="2011680"/>
            <a:ext cx="3108960" cy="457200"/>
          </a:xfrm>
          <a:prstGeom prst="rect">
            <a:avLst/>
          </a:prstGeom>
          <a:noFill/>
          <a:ln/>
        </p:spPr>
        <p:txBody>
          <a:bodyPr wrap="square" lIns="0" tIns="0" rIns="0" bIns="0" rtlCol="0" anchor="ctr"/>
          <a:lstStyle/>
          <a:p>
            <a:pPr indent="0" marL="0">
              <a:buNone/>
            </a:pPr>
            <a:r>
              <a:rPr lang="en-US" sz="1900" b="1" dirty="0">
                <a:solidFill>
                  <a:srgbClr val="1E293B"/>
                </a:solidFill>
                <a:latin typeface="Arial" pitchFamily="34" charset="0"/>
                <a:ea typeface="Arial" pitchFamily="34" charset="-122"/>
                <a:cs typeface="Arial" pitchFamily="34" charset="-120"/>
              </a:rPr>
              <a:t>Memory</a:t>
            </a:r>
            <a:endParaRPr lang="en-US" sz="1900" dirty="0"/>
          </a:p>
        </p:txBody>
      </p:sp>
      <p:sp>
        <p:nvSpPr>
          <p:cNvPr id="8" name="Text 5"/>
          <p:cNvSpPr/>
          <p:nvPr/>
        </p:nvSpPr>
        <p:spPr>
          <a:xfrm>
            <a:off x="1783080" y="2487168"/>
            <a:ext cx="9418320" cy="45720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Help the agent remember within a conversation and across sessions.</a:t>
            </a:r>
            <a:endParaRPr lang="en-US" sz="1400" dirty="0"/>
          </a:p>
        </p:txBody>
      </p:sp>
      <p:sp>
        <p:nvSpPr>
          <p:cNvPr id="9" name="Shape 6"/>
          <p:cNvSpPr/>
          <p:nvPr/>
        </p:nvSpPr>
        <p:spPr>
          <a:xfrm>
            <a:off x="640080" y="3337560"/>
            <a:ext cx="10881360" cy="1280160"/>
          </a:xfrm>
          <a:prstGeom prst="roundRect">
            <a:avLst>
              <a:gd name="adj" fmla="val 5714"/>
            </a:avLst>
          </a:prstGeom>
          <a:solidFill>
            <a:srgbClr val="F1F5F9"/>
          </a:solidFill>
          <a:ln/>
          <a:effectLst>
            <a:outerShdw sx="100000" sy="100000" kx="0" ky="0" algn="bl" rotWithShape="0" blurRad="88900" dist="38100" dir="5400000">
              <a:srgbClr val="0F2A33">
                <a:alpha val="16000"/>
              </a:srgbClr>
            </a:outerShdw>
          </a:effectLst>
        </p:spPr>
      </p:sp>
      <p:sp>
        <p:nvSpPr>
          <p:cNvPr id="10" name="Shape 7"/>
          <p:cNvSpPr/>
          <p:nvPr/>
        </p:nvSpPr>
        <p:spPr>
          <a:xfrm>
            <a:off x="914400" y="3694176"/>
            <a:ext cx="566928" cy="566928"/>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1061801" y="3841577"/>
            <a:ext cx="272125" cy="272125"/>
          </a:xfrm>
          <a:prstGeom prst="rect">
            <a:avLst/>
          </a:prstGeom>
        </p:spPr>
      </p:pic>
      <p:sp>
        <p:nvSpPr>
          <p:cNvPr id="12" name="Text 8"/>
          <p:cNvSpPr/>
          <p:nvPr/>
        </p:nvSpPr>
        <p:spPr>
          <a:xfrm>
            <a:off x="1783080" y="3520440"/>
            <a:ext cx="3108960" cy="457200"/>
          </a:xfrm>
          <a:prstGeom prst="rect">
            <a:avLst/>
          </a:prstGeom>
          <a:noFill/>
          <a:ln/>
        </p:spPr>
        <p:txBody>
          <a:bodyPr wrap="square" lIns="0" tIns="0" rIns="0" bIns="0" rtlCol="0" anchor="ctr"/>
          <a:lstStyle/>
          <a:p>
            <a:pPr indent="0" marL="0">
              <a:buNone/>
            </a:pPr>
            <a:r>
              <a:rPr lang="en-US" sz="1900" b="1" dirty="0">
                <a:solidFill>
                  <a:srgbClr val="1E293B"/>
                </a:solidFill>
                <a:latin typeface="Arial" pitchFamily="34" charset="0"/>
                <a:ea typeface="Arial" pitchFamily="34" charset="-122"/>
                <a:cs typeface="Arial" pitchFamily="34" charset="-120"/>
              </a:rPr>
              <a:t>Retrieval (RAG)</a:t>
            </a:r>
            <a:endParaRPr lang="en-US" sz="1900" dirty="0"/>
          </a:p>
        </p:txBody>
      </p:sp>
      <p:sp>
        <p:nvSpPr>
          <p:cNvPr id="13" name="Text 9"/>
          <p:cNvSpPr/>
          <p:nvPr/>
        </p:nvSpPr>
        <p:spPr>
          <a:xfrm>
            <a:off x="1783080" y="3995928"/>
            <a:ext cx="9418320" cy="457200"/>
          </a:xfrm>
          <a:prstGeom prst="rect">
            <a:avLst/>
          </a:prstGeom>
          <a:noFill/>
          <a:ln/>
        </p:spPr>
        <p:txBody>
          <a:bodyPr wrap="square" lIns="0" tIns="0" rIns="0" bIns="0" rtlCol="0" anchor="ctr"/>
          <a:lstStyle/>
          <a:p>
            <a:pPr indent="0" marL="0">
              <a:buNone/>
            </a:pPr>
            <a:r>
              <a:rPr lang="en-US" sz="1400" dirty="0">
                <a:solidFill>
                  <a:srgbClr val="64748B"/>
                </a:solidFill>
                <a:latin typeface="Arial" pitchFamily="34" charset="0"/>
                <a:ea typeface="Arial" pitchFamily="34" charset="-122"/>
                <a:cs typeface="Arial" pitchFamily="34" charset="-120"/>
              </a:rPr>
              <a:t>Let the agent look up real knowledge and ground its answers in it.</a:t>
            </a:r>
            <a:endParaRPr lang="en-US" sz="1400" dirty="0"/>
          </a:p>
        </p:txBody>
      </p:sp>
      <p:sp>
        <p:nvSpPr>
          <p:cNvPr id="14" name="Text 10"/>
          <p:cNvSpPr/>
          <p:nvPr/>
        </p:nvSpPr>
        <p:spPr>
          <a:xfrm>
            <a:off x="640080" y="5029200"/>
            <a:ext cx="10881360" cy="457200"/>
          </a:xfrm>
          <a:prstGeom prst="rect">
            <a:avLst/>
          </a:prstGeom>
          <a:noFill/>
          <a:ln/>
        </p:spPr>
        <p:txBody>
          <a:bodyPr wrap="square" rtlCol="0" anchor="ctr"/>
          <a:lstStyle/>
          <a:p>
            <a:pPr indent="0" marL="0">
              <a:buNone/>
            </a:pPr>
            <a:r>
              <a:rPr lang="en-US" sz="1400" i="1" dirty="0">
                <a:solidFill>
                  <a:srgbClr val="0D9488"/>
                </a:solidFill>
                <a:latin typeface="Arial" pitchFamily="34" charset="0"/>
                <a:ea typeface="Arial" pitchFamily="34" charset="-122"/>
                <a:cs typeface="Arial" pitchFamily="34" charset="-120"/>
              </a:rPr>
              <a:t>These two are deeply linked: long-term memory is just retrieval over your own past conversations.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A33"/>
        </a:solidFill>
      </p:bgPr>
    </p:bg>
    <p:spTree>
      <p:nvGrpSpPr>
        <p:cNvPr id="1" name=""/>
        <p:cNvGrpSpPr/>
        <p:nvPr/>
      </p:nvGrpSpPr>
      <p:grpSpPr>
        <a:xfrm>
          <a:off x="0" y="0"/>
          <a:ext cx="0" cy="0"/>
          <a:chOff x="0" y="0"/>
          <a:chExt cx="0" cy="0"/>
        </a:xfrm>
      </p:grpSpPr>
      <p:sp>
        <p:nvSpPr>
          <p:cNvPr id="2" name="Shape 0"/>
          <p:cNvSpPr/>
          <p:nvPr/>
        </p:nvSpPr>
        <p:spPr>
          <a:xfrm>
            <a:off x="9509760" y="-1463040"/>
            <a:ext cx="4572000" cy="4572000"/>
          </a:xfrm>
          <a:prstGeom prst="ellipse">
            <a:avLst/>
          </a:prstGeom>
          <a:solidFill>
            <a:srgbClr val="13343B"/>
          </a:solidFill>
          <a:ln/>
        </p:spPr>
      </p:sp>
      <p:sp>
        <p:nvSpPr>
          <p:cNvPr id="3" name="Shape 1"/>
          <p:cNvSpPr/>
          <p:nvPr/>
        </p:nvSpPr>
        <p:spPr>
          <a:xfrm>
            <a:off x="10607040" y="4206240"/>
            <a:ext cx="3840480" cy="3840480"/>
          </a:xfrm>
          <a:prstGeom prst="ellipse">
            <a:avLst/>
          </a:prstGeom>
          <a:solidFill>
            <a:srgbClr val="13343B"/>
          </a:solidFill>
          <a:ln/>
        </p:spPr>
      </p:sp>
      <p:sp>
        <p:nvSpPr>
          <p:cNvPr id="4" name="Text 2"/>
          <p:cNvSpPr/>
          <p:nvPr/>
        </p:nvSpPr>
        <p:spPr>
          <a:xfrm>
            <a:off x="822960" y="2240280"/>
            <a:ext cx="8229600" cy="365760"/>
          </a:xfrm>
          <a:prstGeom prst="rect">
            <a:avLst/>
          </a:prstGeom>
          <a:noFill/>
          <a:ln/>
        </p:spPr>
        <p:txBody>
          <a:bodyPr wrap="square" rtlCol="0" anchor="ctr"/>
          <a:lstStyle/>
          <a:p>
            <a:pPr indent="0" marL="0">
              <a:buNone/>
            </a:pPr>
            <a:r>
              <a:rPr lang="en-US" sz="1500" b="1" spc="400" kern="0" dirty="0">
                <a:solidFill>
                  <a:srgbClr val="0D9488"/>
                </a:solidFill>
                <a:latin typeface="Arial" pitchFamily="34" charset="0"/>
                <a:ea typeface="Arial" pitchFamily="34" charset="-122"/>
                <a:cs typeface="Arial" pitchFamily="34" charset="-120"/>
              </a:rPr>
              <a:t>PART 1  -  CHAPTER 8</a:t>
            </a:r>
            <a:endParaRPr lang="en-US" sz="1500" dirty="0"/>
          </a:p>
        </p:txBody>
      </p:sp>
      <p:sp>
        <p:nvSpPr>
          <p:cNvPr id="5" name="Text 3"/>
          <p:cNvSpPr/>
          <p:nvPr/>
        </p:nvSpPr>
        <p:spPr>
          <a:xfrm>
            <a:off x="777240" y="2606040"/>
            <a:ext cx="10058400" cy="1371600"/>
          </a:xfrm>
          <a:prstGeom prst="rect">
            <a:avLst/>
          </a:prstGeom>
          <a:noFill/>
          <a:ln/>
        </p:spPr>
        <p:txBody>
          <a:bodyPr wrap="square" rtlCol="0" anchor="ctr"/>
          <a:lstStyle/>
          <a:p>
            <a:pPr indent="0" marL="0">
              <a:buNone/>
            </a:pPr>
            <a:r>
              <a:rPr lang="en-US" sz="4600" b="1" dirty="0">
                <a:solidFill>
                  <a:srgbClr val="FFFFFF"/>
                </a:solidFill>
                <a:latin typeface="Arial" pitchFamily="34" charset="0"/>
                <a:ea typeface="Arial" pitchFamily="34" charset="-122"/>
                <a:cs typeface="Arial" pitchFamily="34" charset="-120"/>
              </a:rPr>
              <a:t>Memory</a:t>
            </a:r>
            <a:endParaRPr lang="en-US" sz="4600" dirty="0"/>
          </a:p>
        </p:txBody>
      </p:sp>
      <p:sp>
        <p:nvSpPr>
          <p:cNvPr id="6" name="Text 4"/>
          <p:cNvSpPr/>
          <p:nvPr/>
        </p:nvSpPr>
        <p:spPr>
          <a:xfrm>
            <a:off x="822960" y="3977640"/>
            <a:ext cx="10058400" cy="457200"/>
          </a:xfrm>
          <a:prstGeom prst="rect">
            <a:avLst/>
          </a:prstGeom>
          <a:noFill/>
          <a:ln/>
        </p:spPr>
        <p:txBody>
          <a:bodyPr wrap="square" rtlCol="0" anchor="ctr"/>
          <a:lstStyle/>
          <a:p>
            <a:pPr indent="0" marL="0">
              <a:buNone/>
            </a:pPr>
            <a:r>
              <a:rPr lang="en-US" sz="1600" i="1" dirty="0">
                <a:solidFill>
                  <a:srgbClr val="5EEAD4"/>
                </a:solidFill>
                <a:latin typeface="Arial" pitchFamily="34" charset="0"/>
                <a:ea typeface="Arial" pitchFamily="34" charset="-122"/>
                <a:cs typeface="Arial" pitchFamily="34" charset="-120"/>
              </a:rPr>
              <a:t>Help the agent remember, within and across conversations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THE PROBLEM</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The model remembers nothing on its own</a:t>
            </a:r>
            <a:endParaRPr lang="en-US" sz="3000" dirty="0"/>
          </a:p>
        </p:txBody>
      </p:sp>
      <p:sp>
        <p:nvSpPr>
          <p:cNvPr id="4" name="Shape 2"/>
          <p:cNvSpPr/>
          <p:nvPr/>
        </p:nvSpPr>
        <p:spPr>
          <a:xfrm>
            <a:off x="640080" y="1828800"/>
            <a:ext cx="10881360" cy="1371600"/>
          </a:xfrm>
          <a:prstGeom prst="roundRect">
            <a:avLst>
              <a:gd name="adj" fmla="val 6000"/>
            </a:avLst>
          </a:prstGeom>
          <a:solidFill>
            <a:srgbClr val="F1F5F9"/>
          </a:solidFill>
          <a:ln/>
          <a:effectLst>
            <a:outerShdw sx="100000" sy="100000" kx="0" ky="0" algn="bl" rotWithShape="0" blurRad="88900" dist="38100" dir="5400000">
              <a:srgbClr val="0F2A33">
                <a:alpha val="16000"/>
              </a:srgbClr>
            </a:outerShdw>
          </a:effectLst>
        </p:spPr>
      </p:sp>
      <p:sp>
        <p:nvSpPr>
          <p:cNvPr id="5" name="Text 3"/>
          <p:cNvSpPr/>
          <p:nvPr/>
        </p:nvSpPr>
        <p:spPr>
          <a:xfrm>
            <a:off x="914400" y="2011680"/>
            <a:ext cx="10332720" cy="1097280"/>
          </a:xfrm>
          <a:prstGeom prst="rect">
            <a:avLst/>
          </a:prstGeom>
          <a:noFill/>
          <a:ln/>
        </p:spPr>
        <p:txBody>
          <a:bodyPr wrap="square" lIns="0" tIns="0" rIns="0" bIns="0" rtlCol="0" anchor="ctr"/>
          <a:lstStyle/>
          <a:p>
            <a:pPr indent="0" marL="0">
              <a:lnSpc>
                <a:spcPct val="110000"/>
              </a:lnSpc>
              <a:buNone/>
            </a:pPr>
            <a:r>
              <a:rPr lang="en-US" sz="1500" b="1" dirty="0">
                <a:solidFill>
                  <a:srgbClr val="0D9488"/>
                </a:solidFill>
                <a:latin typeface="Arial" pitchFamily="34" charset="0"/>
                <a:ea typeface="Arial" pitchFamily="34" charset="-122"/>
                <a:cs typeface="Arial" pitchFamily="34" charset="-120"/>
              </a:rPr>
              <a:t>You:  </a:t>
            </a:r>
            <a:pPr indent="0" marL="0">
              <a:lnSpc>
                <a:spcPct val="110000"/>
              </a:lnSpc>
              <a:buNone/>
            </a:pPr>
            <a:r>
              <a:rPr lang="en-US" sz="1500" dirty="0">
                <a:solidFill>
                  <a:srgbClr val="1E293B"/>
                </a:solidFill>
                <a:latin typeface="Arial" pitchFamily="34" charset="0"/>
                <a:ea typeface="Arial" pitchFamily="34" charset="-122"/>
                <a:cs typeface="Arial" pitchFamily="34" charset="-120"/>
              </a:rPr>
              <a:t>My name is Priya.
</a:t>
            </a:r>
            <a:endParaRPr lang="en-US" sz="1500" dirty="0"/>
          </a:p>
          <a:p>
            <a:pPr indent="0" marL="0">
              <a:lnSpc>
                <a:spcPct val="110000"/>
              </a:lnSpc>
              <a:buNone/>
            </a:pPr>
            <a:r>
              <a:rPr lang="en-US" sz="1500" b="1" dirty="0">
                <a:solidFill>
                  <a:srgbClr val="0D9488"/>
                </a:solidFill>
                <a:latin typeface="Arial" pitchFamily="34" charset="0"/>
                <a:ea typeface="Arial" pitchFamily="34" charset="-122"/>
                <a:cs typeface="Arial" pitchFamily="34" charset="-120"/>
              </a:rPr>
              <a:t>Model:  </a:t>
            </a:r>
            <a:pPr indent="0" marL="0">
              <a:lnSpc>
                <a:spcPct val="110000"/>
              </a:lnSpc>
              <a:buNone/>
            </a:pPr>
            <a:r>
              <a:rPr lang="en-US" sz="1500" dirty="0">
                <a:solidFill>
                  <a:srgbClr val="1E293B"/>
                </a:solidFill>
                <a:latin typeface="Arial" pitchFamily="34" charset="0"/>
                <a:ea typeface="Arial" pitchFamily="34" charset="-122"/>
                <a:cs typeface="Arial" pitchFamily="34" charset="-120"/>
              </a:rPr>
              <a:t>Nice to meet you, Priya.
</a:t>
            </a:r>
            <a:endParaRPr lang="en-US" sz="1500" dirty="0"/>
          </a:p>
          <a:p>
            <a:pPr indent="0" marL="0">
              <a:lnSpc>
                <a:spcPct val="110000"/>
              </a:lnSpc>
              <a:buNone/>
            </a:pPr>
            <a:r>
              <a:rPr lang="en-US" sz="1500" b="1" dirty="0">
                <a:solidFill>
                  <a:srgbClr val="0D9488"/>
                </a:solidFill>
                <a:latin typeface="Arial" pitchFamily="34" charset="0"/>
                <a:ea typeface="Arial" pitchFamily="34" charset="-122"/>
                <a:cs typeface="Arial" pitchFamily="34" charset="-120"/>
              </a:rPr>
              <a:t>You:  </a:t>
            </a:r>
            <a:pPr indent="0" marL="0">
              <a:lnSpc>
                <a:spcPct val="110000"/>
              </a:lnSpc>
              <a:buNone/>
            </a:pPr>
            <a:r>
              <a:rPr lang="en-US" sz="1500" dirty="0">
                <a:solidFill>
                  <a:srgbClr val="1E293B"/>
                </a:solidFill>
                <a:latin typeface="Arial" pitchFamily="34" charset="0"/>
                <a:ea typeface="Arial" pitchFamily="34" charset="-122"/>
                <a:cs typeface="Arial" pitchFamily="34" charset="-120"/>
              </a:rPr>
              <a:t>What is my name?
</a:t>
            </a:r>
            <a:endParaRPr lang="en-US" sz="1500" dirty="0"/>
          </a:p>
          <a:p>
            <a:pPr indent="0" marL="0">
              <a:lnSpc>
                <a:spcPct val="110000"/>
              </a:lnSpc>
              <a:buNone/>
            </a:pPr>
            <a:r>
              <a:rPr lang="en-US" sz="1500" b="1" dirty="0">
                <a:solidFill>
                  <a:srgbClr val="F59E0B"/>
                </a:solidFill>
                <a:latin typeface="Arial" pitchFamily="34" charset="0"/>
                <a:ea typeface="Arial" pitchFamily="34" charset="-122"/>
                <a:cs typeface="Arial" pitchFamily="34" charset="-120"/>
              </a:rPr>
              <a:t>Model:  </a:t>
            </a:r>
            <a:pPr indent="0" marL="0">
              <a:lnSpc>
                <a:spcPct val="110000"/>
              </a:lnSpc>
              <a:buNone/>
            </a:pPr>
            <a:r>
              <a:rPr lang="en-US" sz="1500" dirty="0">
                <a:solidFill>
                  <a:srgbClr val="1E293B"/>
                </a:solidFill>
                <a:latin typeface="Arial" pitchFamily="34" charset="0"/>
                <a:ea typeface="Arial" pitchFamily="34" charset="-122"/>
                <a:cs typeface="Arial" pitchFamily="34" charset="-120"/>
              </a:rPr>
              <a:t>I do not know your name.</a:t>
            </a:r>
            <a:endParaRPr lang="en-US" sz="1500" dirty="0"/>
          </a:p>
        </p:txBody>
      </p:sp>
      <p:sp>
        <p:nvSpPr>
          <p:cNvPr id="6" name="Shape 4"/>
          <p:cNvSpPr/>
          <p:nvPr/>
        </p:nvSpPr>
        <p:spPr>
          <a:xfrm>
            <a:off x="640080" y="3611880"/>
            <a:ext cx="10881360" cy="1874520"/>
          </a:xfrm>
          <a:prstGeom prst="roundRect">
            <a:avLst>
              <a:gd name="adj" fmla="val 4390"/>
            </a:avLst>
          </a:prstGeom>
          <a:solidFill>
            <a:srgbClr val="0F2A33"/>
          </a:solidFill>
          <a:ln/>
          <a:effectLst>
            <a:outerShdw sx="100000" sy="100000" kx="0" ky="0" algn="bl" rotWithShape="0" blurRad="88900" dist="38100" dir="5400000">
              <a:srgbClr val="0F2A33">
                <a:alpha val="16000"/>
              </a:srgbClr>
            </a:outerShdw>
          </a:effectLst>
        </p:spPr>
      </p:sp>
      <p:sp>
        <p:nvSpPr>
          <p:cNvPr id="7" name="Shape 5"/>
          <p:cNvSpPr/>
          <p:nvPr/>
        </p:nvSpPr>
        <p:spPr>
          <a:xfrm>
            <a:off x="914400" y="4069080"/>
            <a:ext cx="822960" cy="82296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8" name="Image 0" descr="preencoded.png">    </p:cNvPr>
          <p:cNvPicPr>
            <a:picLocks noChangeAspect="1"/>
          </p:cNvPicPr>
          <p:nvPr/>
        </p:nvPicPr>
        <p:blipFill>
          <a:blip r:embed="rId1"/>
          <a:stretch>
            <a:fillRect/>
          </a:stretch>
        </p:blipFill>
        <p:spPr>
          <a:xfrm>
            <a:off x="1128370" y="4283050"/>
            <a:ext cx="395021" cy="395021"/>
          </a:xfrm>
          <a:prstGeom prst="rect">
            <a:avLst/>
          </a:prstGeom>
        </p:spPr>
      </p:pic>
      <p:sp>
        <p:nvSpPr>
          <p:cNvPr id="9" name="Text 6"/>
          <p:cNvSpPr/>
          <p:nvPr/>
        </p:nvSpPr>
        <p:spPr>
          <a:xfrm>
            <a:off x="1965960" y="3840480"/>
            <a:ext cx="9144000" cy="411480"/>
          </a:xfrm>
          <a:prstGeom prst="rect">
            <a:avLst/>
          </a:prstGeom>
          <a:noFill/>
          <a:ln/>
        </p:spPr>
        <p:txBody>
          <a:bodyPr wrap="square" lIns="0" tIns="0" rIns="0" bIns="0" rtlCol="0" anchor="ctr"/>
          <a:lstStyle/>
          <a:p>
            <a:pPr indent="0" marL="0">
              <a:buNone/>
            </a:pPr>
            <a:r>
              <a:rPr lang="en-US" sz="1800" b="1" dirty="0">
                <a:solidFill>
                  <a:srgbClr val="5EEAD4"/>
                </a:solidFill>
                <a:latin typeface="Arial" pitchFamily="34" charset="0"/>
                <a:ea typeface="Arial" pitchFamily="34" charset="-122"/>
                <a:cs typeface="Arial" pitchFamily="34" charset="-120"/>
              </a:rPr>
              <a:t>Why this happens</a:t>
            </a:r>
            <a:endParaRPr lang="en-US" sz="1800" dirty="0"/>
          </a:p>
        </p:txBody>
      </p:sp>
      <p:sp>
        <p:nvSpPr>
          <p:cNvPr id="10" name="Text 7"/>
          <p:cNvSpPr/>
          <p:nvPr/>
        </p:nvSpPr>
        <p:spPr>
          <a:xfrm>
            <a:off x="1965960" y="4297680"/>
            <a:ext cx="9235440" cy="1097280"/>
          </a:xfrm>
          <a:prstGeom prst="rect">
            <a:avLst/>
          </a:prstGeom>
          <a:noFill/>
          <a:ln/>
        </p:spPr>
        <p:txBody>
          <a:bodyPr wrap="square" lIns="0" tIns="0" rIns="0" bIns="0" rtlCol="0" anchor="ctr"/>
          <a:lstStyle/>
          <a:p>
            <a:pPr indent="0" marL="0">
              <a:buNone/>
            </a:pPr>
            <a:r>
              <a:rPr lang="en-US" sz="1450" dirty="0">
                <a:solidFill>
                  <a:srgbClr val="FFFFFF"/>
                </a:solidFill>
                <a:latin typeface="Arial" pitchFamily="34" charset="0"/>
                <a:ea typeface="Arial" pitchFamily="34" charset="-122"/>
                <a:cs typeface="Arial" pitchFamily="34" charset="-120"/>
              </a:rPr>
              <a:t>Each call to the model is independent. It has no built-in memory at all. The only thing it knows is the list of messages you send in that one call. Memory is not something the model has. It is something you build, by choosing what to put in that list.</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TWO KINDS OF MEMORY</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Short-term and long-term</a:t>
            </a:r>
            <a:endParaRPr lang="en-US" sz="3000" dirty="0"/>
          </a:p>
        </p:txBody>
      </p:sp>
      <p:sp>
        <p:nvSpPr>
          <p:cNvPr id="4" name="Shape 2"/>
          <p:cNvSpPr/>
          <p:nvPr/>
        </p:nvSpPr>
        <p:spPr>
          <a:xfrm>
            <a:off x="640080" y="1783080"/>
            <a:ext cx="5349240" cy="3749040"/>
          </a:xfrm>
          <a:prstGeom prst="roundRect">
            <a:avLst>
              <a:gd name="adj" fmla="val 2195"/>
            </a:avLst>
          </a:prstGeom>
          <a:solidFill>
            <a:srgbClr val="F1F5F9"/>
          </a:solidFill>
          <a:ln/>
          <a:effectLst>
            <a:outerShdw sx="100000" sy="100000" kx="0" ky="0" algn="bl" rotWithShape="0" blurRad="88900" dist="38100" dir="5400000">
              <a:srgbClr val="0F2A33">
                <a:alpha val="16000"/>
              </a:srgbClr>
            </a:outerShdw>
          </a:effectLst>
        </p:spPr>
      </p:sp>
      <p:sp>
        <p:nvSpPr>
          <p:cNvPr id="5" name="Shape 3"/>
          <p:cNvSpPr/>
          <p:nvPr/>
        </p:nvSpPr>
        <p:spPr>
          <a:xfrm>
            <a:off x="932688" y="2057400"/>
            <a:ext cx="731520" cy="73152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22883" y="2247595"/>
            <a:ext cx="351130" cy="351130"/>
          </a:xfrm>
          <a:prstGeom prst="rect">
            <a:avLst/>
          </a:prstGeom>
        </p:spPr>
      </p:pic>
      <p:sp>
        <p:nvSpPr>
          <p:cNvPr id="7" name="Text 4"/>
          <p:cNvSpPr/>
          <p:nvPr/>
        </p:nvSpPr>
        <p:spPr>
          <a:xfrm>
            <a:off x="1874520" y="2194560"/>
            <a:ext cx="3931920" cy="457200"/>
          </a:xfrm>
          <a:prstGeom prst="rect">
            <a:avLst/>
          </a:prstGeom>
          <a:noFill/>
          <a:ln/>
        </p:spPr>
        <p:txBody>
          <a:bodyPr wrap="square" lIns="0" tIns="0" rIns="0" bIns="0" rtlCol="0" anchor="ctr"/>
          <a:lstStyle/>
          <a:p>
            <a:pPr indent="0" marL="0">
              <a:buNone/>
            </a:pPr>
            <a:r>
              <a:rPr lang="en-US" sz="1900" b="1" dirty="0">
                <a:solidFill>
                  <a:srgbClr val="1E293B"/>
                </a:solidFill>
                <a:latin typeface="Arial" pitchFamily="34" charset="0"/>
                <a:ea typeface="Arial" pitchFamily="34" charset="-122"/>
                <a:cs typeface="Arial" pitchFamily="34" charset="-120"/>
              </a:rPr>
              <a:t>Short-term</a:t>
            </a:r>
            <a:endParaRPr lang="en-US" sz="1900" dirty="0"/>
          </a:p>
        </p:txBody>
      </p:sp>
      <p:sp>
        <p:nvSpPr>
          <p:cNvPr id="8" name="Text 5"/>
          <p:cNvSpPr/>
          <p:nvPr/>
        </p:nvSpPr>
        <p:spPr>
          <a:xfrm>
            <a:off x="960120" y="2926080"/>
            <a:ext cx="4709160" cy="64008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What fits in the current conversation, the message list you send each call.</a:t>
            </a:r>
            <a:endParaRPr lang="en-US" sz="1350" dirty="0"/>
          </a:p>
        </p:txBody>
      </p:sp>
      <p:sp>
        <p:nvSpPr>
          <p:cNvPr id="9" name="Text 6"/>
          <p:cNvSpPr/>
          <p:nvPr/>
        </p:nvSpPr>
        <p:spPr>
          <a:xfrm>
            <a:off x="1005840" y="3657600"/>
            <a:ext cx="4617720" cy="173736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1E293B"/>
                </a:solidFill>
                <a:latin typeface="Arial" pitchFamily="34" charset="0"/>
                <a:ea typeface="Arial" pitchFamily="34" charset="-122"/>
                <a:cs typeface="Arial" pitchFamily="34" charset="-120"/>
              </a:rPr>
              <a:t>Lives in the context window</a:t>
            </a:r>
            <a:endParaRPr lang="en-US" sz="1350" dirty="0"/>
          </a:p>
          <a:p>
            <a:pPr marL="342900" indent="-342900">
              <a:spcAft>
                <a:spcPts val="800"/>
              </a:spcAft>
              <a:buSzPct val="100000"/>
              <a:buChar char="•"/>
            </a:pPr>
            <a:r>
              <a:rPr lang="en-US" sz="1350" dirty="0">
                <a:solidFill>
                  <a:srgbClr val="1E293B"/>
                </a:solidFill>
                <a:latin typeface="Arial" pitchFamily="34" charset="0"/>
                <a:ea typeface="Arial" pitchFamily="34" charset="-122"/>
                <a:cs typeface="Arial" pitchFamily="34" charset="-120"/>
              </a:rPr>
              <a:t>Lost when the conversation ends</a:t>
            </a:r>
            <a:endParaRPr lang="en-US" sz="1350" dirty="0"/>
          </a:p>
          <a:p>
            <a:pPr marL="342900" indent="-342900">
              <a:spcAft>
                <a:spcPts val="800"/>
              </a:spcAft>
              <a:buSzPct val="100000"/>
              <a:buChar char="•"/>
            </a:pPr>
            <a:r>
              <a:rPr lang="en-US" sz="1350" dirty="0">
                <a:solidFill>
                  <a:srgbClr val="1E293B"/>
                </a:solidFill>
                <a:latin typeface="Arial" pitchFamily="34" charset="0"/>
                <a:ea typeface="Arial" pitchFamily="34" charset="-122"/>
                <a:cs typeface="Arial" pitchFamily="34" charset="-120"/>
              </a:rPr>
              <a:t>You manage it by what you keep</a:t>
            </a:r>
            <a:endParaRPr lang="en-US" sz="1350" dirty="0"/>
          </a:p>
        </p:txBody>
      </p:sp>
      <p:sp>
        <p:nvSpPr>
          <p:cNvPr id="10" name="Shape 7"/>
          <p:cNvSpPr/>
          <p:nvPr/>
        </p:nvSpPr>
        <p:spPr>
          <a:xfrm>
            <a:off x="6263640" y="1783080"/>
            <a:ext cx="5349240" cy="3749040"/>
          </a:xfrm>
          <a:prstGeom prst="roundRect">
            <a:avLst>
              <a:gd name="adj" fmla="val 2195"/>
            </a:avLst>
          </a:prstGeom>
          <a:solidFill>
            <a:srgbClr val="0F2A33"/>
          </a:solidFill>
          <a:ln/>
          <a:effectLst>
            <a:outerShdw sx="100000" sy="100000" kx="0" ky="0" algn="bl" rotWithShape="0" blurRad="88900" dist="38100" dir="5400000">
              <a:srgbClr val="0F2A33">
                <a:alpha val="16000"/>
              </a:srgbClr>
            </a:outerShdw>
          </a:effectLst>
        </p:spPr>
      </p:sp>
      <p:sp>
        <p:nvSpPr>
          <p:cNvPr id="11" name="Shape 8"/>
          <p:cNvSpPr/>
          <p:nvPr/>
        </p:nvSpPr>
        <p:spPr>
          <a:xfrm>
            <a:off x="6556248" y="2057400"/>
            <a:ext cx="731520" cy="73152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2" name="Image 1" descr="preencoded.png">    </p:cNvPr>
          <p:cNvPicPr>
            <a:picLocks noChangeAspect="1"/>
          </p:cNvPicPr>
          <p:nvPr/>
        </p:nvPicPr>
        <p:blipFill>
          <a:blip r:embed="rId2"/>
          <a:stretch>
            <a:fillRect/>
          </a:stretch>
        </p:blipFill>
        <p:spPr>
          <a:xfrm>
            <a:off x="6746443" y="2247595"/>
            <a:ext cx="351130" cy="351130"/>
          </a:xfrm>
          <a:prstGeom prst="rect">
            <a:avLst/>
          </a:prstGeom>
        </p:spPr>
      </p:pic>
      <p:sp>
        <p:nvSpPr>
          <p:cNvPr id="13" name="Text 9"/>
          <p:cNvSpPr/>
          <p:nvPr/>
        </p:nvSpPr>
        <p:spPr>
          <a:xfrm>
            <a:off x="7498080" y="2194560"/>
            <a:ext cx="3931920" cy="457200"/>
          </a:xfrm>
          <a:prstGeom prst="rect">
            <a:avLst/>
          </a:prstGeom>
          <a:noFill/>
          <a:ln/>
        </p:spPr>
        <p:txBody>
          <a:bodyPr wrap="square" lIns="0" tIns="0" rIns="0" bIns="0" rtlCol="0" anchor="ctr"/>
          <a:lstStyle/>
          <a:p>
            <a:pPr indent="0" marL="0">
              <a:buNone/>
            </a:pPr>
            <a:r>
              <a:rPr lang="en-US" sz="1900" b="1" dirty="0">
                <a:solidFill>
                  <a:srgbClr val="5EEAD4"/>
                </a:solidFill>
                <a:latin typeface="Arial" pitchFamily="34" charset="0"/>
                <a:ea typeface="Arial" pitchFamily="34" charset="-122"/>
                <a:cs typeface="Arial" pitchFamily="34" charset="-120"/>
              </a:rPr>
              <a:t>Long-term</a:t>
            </a:r>
            <a:endParaRPr lang="en-US" sz="1900" dirty="0"/>
          </a:p>
        </p:txBody>
      </p:sp>
      <p:sp>
        <p:nvSpPr>
          <p:cNvPr id="14" name="Text 10"/>
          <p:cNvSpPr/>
          <p:nvPr/>
        </p:nvSpPr>
        <p:spPr>
          <a:xfrm>
            <a:off x="6583680" y="2926080"/>
            <a:ext cx="4709160" cy="640080"/>
          </a:xfrm>
          <a:prstGeom prst="rect">
            <a:avLst/>
          </a:prstGeom>
          <a:noFill/>
          <a:ln/>
        </p:spPr>
        <p:txBody>
          <a:bodyPr wrap="square" lIns="0" tIns="0" rIns="0" bIns="0" rtlCol="0" anchor="ctr"/>
          <a:lstStyle/>
          <a:p>
            <a:pPr indent="0" marL="0">
              <a:buNone/>
            </a:pPr>
            <a:r>
              <a:rPr lang="en-US" sz="1350" dirty="0">
                <a:solidFill>
                  <a:srgbClr val="FFFFFF"/>
                </a:solidFill>
                <a:latin typeface="Arial" pitchFamily="34" charset="0"/>
                <a:ea typeface="Arial" pitchFamily="34" charset="-122"/>
                <a:cs typeface="Arial" pitchFamily="34" charset="-120"/>
              </a:rPr>
              <a:t>Knowledge stored outside the model, recalled when relevant.</a:t>
            </a:r>
            <a:endParaRPr lang="en-US" sz="1350" dirty="0"/>
          </a:p>
        </p:txBody>
      </p:sp>
      <p:sp>
        <p:nvSpPr>
          <p:cNvPr id="15" name="Text 11"/>
          <p:cNvSpPr/>
          <p:nvPr/>
        </p:nvSpPr>
        <p:spPr>
          <a:xfrm>
            <a:off x="6629400" y="3657600"/>
            <a:ext cx="4617720" cy="173736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E2E8F0"/>
                </a:solidFill>
                <a:latin typeface="Arial" pitchFamily="34" charset="0"/>
                <a:ea typeface="Arial" pitchFamily="34" charset="-122"/>
                <a:cs typeface="Arial" pitchFamily="34" charset="-120"/>
              </a:rPr>
              <a:t>Lives in a store on disk</a:t>
            </a:r>
            <a:endParaRPr lang="en-US" sz="1350" dirty="0"/>
          </a:p>
          <a:p>
            <a:pPr marL="342900" indent="-342900">
              <a:spcAft>
                <a:spcPts val="800"/>
              </a:spcAft>
              <a:buSzPct val="100000"/>
              <a:buChar char="•"/>
            </a:pPr>
            <a:r>
              <a:rPr lang="en-US" sz="1350" dirty="0">
                <a:solidFill>
                  <a:srgbClr val="E2E8F0"/>
                </a:solidFill>
                <a:latin typeface="Arial" pitchFamily="34" charset="0"/>
                <a:ea typeface="Arial" pitchFamily="34" charset="-122"/>
                <a:cs typeface="Arial" pitchFamily="34" charset="-120"/>
              </a:rPr>
              <a:t>Survives across sessions</a:t>
            </a:r>
            <a:endParaRPr lang="en-US" sz="1350" dirty="0"/>
          </a:p>
          <a:p>
            <a:pPr marL="342900" indent="-342900">
              <a:spcAft>
                <a:spcPts val="800"/>
              </a:spcAft>
              <a:buSzPct val="100000"/>
              <a:buChar char="•"/>
            </a:pPr>
            <a:r>
              <a:rPr lang="en-US" sz="1350" dirty="0">
                <a:solidFill>
                  <a:srgbClr val="E2E8F0"/>
                </a:solidFill>
                <a:latin typeface="Arial" pitchFamily="34" charset="0"/>
                <a:ea typeface="Arial" pitchFamily="34" charset="-122"/>
                <a:cs typeface="Arial" pitchFamily="34" charset="-120"/>
              </a:rPr>
              <a:t>Recalled by searching for it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SHORT-TERM MEMORY</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It is just the message list you already use</a:t>
            </a:r>
            <a:endParaRPr lang="en-US" sz="3000" dirty="0"/>
          </a:p>
        </p:txBody>
      </p:sp>
      <p:sp>
        <p:nvSpPr>
          <p:cNvPr id="4" name="Shape 2"/>
          <p:cNvSpPr/>
          <p:nvPr/>
        </p:nvSpPr>
        <p:spPr>
          <a:xfrm>
            <a:off x="640080" y="1783080"/>
            <a:ext cx="10881360" cy="1143000"/>
          </a:xfrm>
          <a:prstGeom prst="roundRect">
            <a:avLst>
              <a:gd name="adj" fmla="val 7200"/>
            </a:avLst>
          </a:prstGeom>
          <a:solidFill>
            <a:srgbClr val="0F2A33"/>
          </a:solidFill>
          <a:ln/>
          <a:effectLst>
            <a:outerShdw sx="100000" sy="100000" kx="0" ky="0" algn="bl" rotWithShape="0" blurRad="88900" dist="38100" dir="5400000">
              <a:srgbClr val="0F2A33">
                <a:alpha val="16000"/>
              </a:srgbClr>
            </a:outerShdw>
          </a:effectLst>
        </p:spPr>
      </p:sp>
      <p:sp>
        <p:nvSpPr>
          <p:cNvPr id="5" name="Shape 3"/>
          <p:cNvSpPr/>
          <p:nvPr/>
        </p:nvSpPr>
        <p:spPr>
          <a:xfrm>
            <a:off x="914400" y="1993392"/>
            <a:ext cx="731520" cy="73152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04595" y="2183587"/>
            <a:ext cx="351130" cy="351130"/>
          </a:xfrm>
          <a:prstGeom prst="rect">
            <a:avLst/>
          </a:prstGeom>
        </p:spPr>
      </p:pic>
      <p:sp>
        <p:nvSpPr>
          <p:cNvPr id="7" name="Text 4"/>
          <p:cNvSpPr/>
          <p:nvPr/>
        </p:nvSpPr>
        <p:spPr>
          <a:xfrm>
            <a:off x="1874520" y="1874520"/>
            <a:ext cx="9418320" cy="10058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To make the agent remember a conversation, </a:t>
            </a:r>
            <a:pPr indent="0" marL="0">
              <a:buNone/>
            </a:pPr>
            <a:r>
              <a:rPr lang="en-US" sz="1600" b="1" dirty="0">
                <a:solidFill>
                  <a:srgbClr val="5EEAD4"/>
                </a:solidFill>
                <a:latin typeface="Arial" pitchFamily="34" charset="0"/>
                <a:ea typeface="Arial" pitchFamily="34" charset="-122"/>
                <a:cs typeface="Arial" pitchFamily="34" charset="-120"/>
              </a:rPr>
              <a:t>you keep appending each turn to the message list and resend the whole list every call.</a:t>
            </a:r>
            <a:endParaRPr lang="en-US" sz="1600" dirty="0"/>
          </a:p>
        </p:txBody>
      </p:sp>
      <p:sp>
        <p:nvSpPr>
          <p:cNvPr id="8" name="Shape 5"/>
          <p:cNvSpPr/>
          <p:nvPr/>
        </p:nvSpPr>
        <p:spPr>
          <a:xfrm>
            <a:off x="640080" y="3200400"/>
            <a:ext cx="10881360" cy="1691640"/>
          </a:xfrm>
          <a:prstGeom prst="roundRect">
            <a:avLst>
              <a:gd name="adj" fmla="val 3243"/>
            </a:avLst>
          </a:prstGeom>
          <a:solidFill>
            <a:srgbClr val="0B2229"/>
          </a:solidFill>
          <a:ln/>
          <a:effectLst>
            <a:outerShdw sx="100000" sy="100000" kx="0" ky="0" algn="bl" rotWithShape="0" blurRad="88900" dist="38100" dir="5400000">
              <a:srgbClr val="0F2A33">
                <a:alpha val="16000"/>
              </a:srgbClr>
            </a:outerShdw>
          </a:effectLst>
        </p:spPr>
      </p:sp>
      <p:sp>
        <p:nvSpPr>
          <p:cNvPr id="9" name="Text 6"/>
          <p:cNvSpPr/>
          <p:nvPr/>
        </p:nvSpPr>
        <p:spPr>
          <a:xfrm>
            <a:off x="841248" y="3346704"/>
            <a:ext cx="10479024" cy="1399032"/>
          </a:xfrm>
          <a:prstGeom prst="rect">
            <a:avLst/>
          </a:prstGeom>
          <a:noFill/>
          <a:ln/>
        </p:spPr>
        <p:txBody>
          <a:bodyPr wrap="square" lIns="0" tIns="0" rIns="0" bIns="0" rtlCol="0" anchor="t"/>
          <a:lstStyle/>
          <a:p>
            <a:pPr indent="0" marL="0">
              <a:lnSpc>
                <a:spcPct val="106000"/>
              </a:lnSpc>
              <a:buNone/>
            </a:pPr>
            <a:r>
              <a:rPr lang="en-US" sz="1300" dirty="0">
                <a:solidFill>
                  <a:srgbClr val="E2E8F0"/>
                </a:solidFill>
                <a:latin typeface="Courier New" pitchFamily="34" charset="0"/>
                <a:ea typeface="Courier New" pitchFamily="34" charset="-122"/>
                <a:cs typeface="Courier New" pitchFamily="34" charset="-120"/>
              </a:rPr>
              <a:t>messages = [</a:t>
            </a:r>
            <a:endParaRPr lang="en-US" sz="1300" dirty="0"/>
          </a:p>
          <a:p>
            <a:pPr indent="0" marL="0">
              <a:lnSpc>
                <a:spcPct val="106000"/>
              </a:lnSpc>
              <a:buNone/>
            </a:pPr>
            <a:r>
              <a:rPr lang="en-US" sz="130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300" dirty="0">
                <a:solidFill>
                  <a:srgbClr val="FCD34D"/>
                </a:solidFill>
                <a:latin typeface="Courier New" pitchFamily="34" charset="0"/>
                <a:ea typeface="Courier New" pitchFamily="34" charset="-122"/>
                <a:cs typeface="Courier New" pitchFamily="34" charset="-120"/>
              </a:rPr>
              <a:t>"role"</a:t>
            </a:r>
            <a:pPr indent="0" marL="0">
              <a:lnSpc>
                <a:spcPct val="106000"/>
              </a:lnSpc>
              <a:buNone/>
            </a:pPr>
            <a:r>
              <a:rPr lang="en-US" sz="130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300" dirty="0">
                <a:solidFill>
                  <a:srgbClr val="FCD34D"/>
                </a:solidFill>
                <a:latin typeface="Courier New" pitchFamily="34" charset="0"/>
                <a:ea typeface="Courier New" pitchFamily="34" charset="-122"/>
                <a:cs typeface="Courier New" pitchFamily="34" charset="-120"/>
              </a:rPr>
              <a:t>"user"</a:t>
            </a:r>
            <a:pPr indent="0" marL="0">
              <a:lnSpc>
                <a:spcPct val="106000"/>
              </a:lnSpc>
              <a:buNone/>
            </a:pPr>
            <a:r>
              <a:rPr lang="en-US" sz="130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300" dirty="0">
                <a:solidFill>
                  <a:srgbClr val="FCD34D"/>
                </a:solidFill>
                <a:latin typeface="Courier New" pitchFamily="34" charset="0"/>
                <a:ea typeface="Courier New" pitchFamily="34" charset="-122"/>
                <a:cs typeface="Courier New" pitchFamily="34" charset="-120"/>
              </a:rPr>
              <a:t>"content"</a:t>
            </a:r>
            <a:pPr indent="0" marL="0">
              <a:lnSpc>
                <a:spcPct val="106000"/>
              </a:lnSpc>
              <a:buNone/>
            </a:pPr>
            <a:r>
              <a:rPr lang="en-US" sz="130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300" dirty="0">
                <a:solidFill>
                  <a:srgbClr val="FCD34D"/>
                </a:solidFill>
                <a:latin typeface="Courier New" pitchFamily="34" charset="0"/>
                <a:ea typeface="Courier New" pitchFamily="34" charset="-122"/>
                <a:cs typeface="Courier New" pitchFamily="34" charset="-120"/>
              </a:rPr>
              <a:t>"My name is Priya"</a:t>
            </a:r>
            <a:pPr indent="0" marL="0">
              <a:lnSpc>
                <a:spcPct val="106000"/>
              </a:lnSpc>
              <a:buNone/>
            </a:pPr>
            <a:r>
              <a:rPr lang="en-US" sz="1300" dirty="0">
                <a:solidFill>
                  <a:srgbClr val="E2E8F0"/>
                </a:solidFill>
                <a:latin typeface="Courier New" pitchFamily="34" charset="0"/>
                <a:ea typeface="Courier New" pitchFamily="34" charset="-122"/>
                <a:cs typeface="Courier New" pitchFamily="34" charset="-120"/>
              </a:rPr>
              <a:t>},</a:t>
            </a:r>
            <a:endParaRPr lang="en-US" sz="1300" dirty="0"/>
          </a:p>
          <a:p>
            <a:pPr indent="0" marL="0">
              <a:lnSpc>
                <a:spcPct val="106000"/>
              </a:lnSpc>
              <a:buNone/>
            </a:pPr>
            <a:r>
              <a:rPr lang="en-US" sz="130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300" dirty="0">
                <a:solidFill>
                  <a:srgbClr val="FCD34D"/>
                </a:solidFill>
                <a:latin typeface="Courier New" pitchFamily="34" charset="0"/>
                <a:ea typeface="Courier New" pitchFamily="34" charset="-122"/>
                <a:cs typeface="Courier New" pitchFamily="34" charset="-120"/>
              </a:rPr>
              <a:t>"role"</a:t>
            </a:r>
            <a:pPr indent="0" marL="0">
              <a:lnSpc>
                <a:spcPct val="106000"/>
              </a:lnSpc>
              <a:buNone/>
            </a:pPr>
            <a:r>
              <a:rPr lang="en-US" sz="130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300" dirty="0">
                <a:solidFill>
                  <a:srgbClr val="FCD34D"/>
                </a:solidFill>
                <a:latin typeface="Courier New" pitchFamily="34" charset="0"/>
                <a:ea typeface="Courier New" pitchFamily="34" charset="-122"/>
                <a:cs typeface="Courier New" pitchFamily="34" charset="-120"/>
              </a:rPr>
              <a:t>"assistant"</a:t>
            </a:r>
            <a:pPr indent="0" marL="0">
              <a:lnSpc>
                <a:spcPct val="106000"/>
              </a:lnSpc>
              <a:buNone/>
            </a:pPr>
            <a:r>
              <a:rPr lang="en-US" sz="130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300" dirty="0">
                <a:solidFill>
                  <a:srgbClr val="FCD34D"/>
                </a:solidFill>
                <a:latin typeface="Courier New" pitchFamily="34" charset="0"/>
                <a:ea typeface="Courier New" pitchFamily="34" charset="-122"/>
                <a:cs typeface="Courier New" pitchFamily="34" charset="-120"/>
              </a:rPr>
              <a:t>"content"</a:t>
            </a:r>
            <a:pPr indent="0" marL="0">
              <a:lnSpc>
                <a:spcPct val="106000"/>
              </a:lnSpc>
              <a:buNone/>
            </a:pPr>
            <a:r>
              <a:rPr lang="en-US" sz="130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300" dirty="0">
                <a:solidFill>
                  <a:srgbClr val="FCD34D"/>
                </a:solidFill>
                <a:latin typeface="Courier New" pitchFamily="34" charset="0"/>
                <a:ea typeface="Courier New" pitchFamily="34" charset="-122"/>
                <a:cs typeface="Courier New" pitchFamily="34" charset="-120"/>
              </a:rPr>
              <a:t>"Nice to meet you, Priya"</a:t>
            </a:r>
            <a:pPr indent="0" marL="0">
              <a:lnSpc>
                <a:spcPct val="106000"/>
              </a:lnSpc>
              <a:buNone/>
            </a:pPr>
            <a:r>
              <a:rPr lang="en-US" sz="1300" dirty="0">
                <a:solidFill>
                  <a:srgbClr val="E2E8F0"/>
                </a:solidFill>
                <a:latin typeface="Courier New" pitchFamily="34" charset="0"/>
                <a:ea typeface="Courier New" pitchFamily="34" charset="-122"/>
                <a:cs typeface="Courier New" pitchFamily="34" charset="-120"/>
              </a:rPr>
              <a:t>},</a:t>
            </a:r>
            <a:endParaRPr lang="en-US" sz="1300" dirty="0"/>
          </a:p>
          <a:p>
            <a:pPr indent="0" marL="0">
              <a:lnSpc>
                <a:spcPct val="106000"/>
              </a:lnSpc>
              <a:buNone/>
            </a:pPr>
            <a:r>
              <a:rPr lang="en-US" sz="130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300" dirty="0">
                <a:solidFill>
                  <a:srgbClr val="FCD34D"/>
                </a:solidFill>
                <a:latin typeface="Courier New" pitchFamily="34" charset="0"/>
                <a:ea typeface="Courier New" pitchFamily="34" charset="-122"/>
                <a:cs typeface="Courier New" pitchFamily="34" charset="-120"/>
              </a:rPr>
              <a:t>"role"</a:t>
            </a:r>
            <a:pPr indent="0" marL="0">
              <a:lnSpc>
                <a:spcPct val="106000"/>
              </a:lnSpc>
              <a:buNone/>
            </a:pPr>
            <a:r>
              <a:rPr lang="en-US" sz="130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300" dirty="0">
                <a:solidFill>
                  <a:srgbClr val="FCD34D"/>
                </a:solidFill>
                <a:latin typeface="Courier New" pitchFamily="34" charset="0"/>
                <a:ea typeface="Courier New" pitchFamily="34" charset="-122"/>
                <a:cs typeface="Courier New" pitchFamily="34" charset="-120"/>
              </a:rPr>
              <a:t>"user"</a:t>
            </a:r>
            <a:pPr indent="0" marL="0">
              <a:lnSpc>
                <a:spcPct val="106000"/>
              </a:lnSpc>
              <a:buNone/>
            </a:pPr>
            <a:r>
              <a:rPr lang="en-US" sz="130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300" dirty="0">
                <a:solidFill>
                  <a:srgbClr val="FCD34D"/>
                </a:solidFill>
                <a:latin typeface="Courier New" pitchFamily="34" charset="0"/>
                <a:ea typeface="Courier New" pitchFamily="34" charset="-122"/>
                <a:cs typeface="Courier New" pitchFamily="34" charset="-120"/>
              </a:rPr>
              <a:t>"content"</a:t>
            </a:r>
            <a:pPr indent="0" marL="0">
              <a:lnSpc>
                <a:spcPct val="106000"/>
              </a:lnSpc>
              <a:buNone/>
            </a:pPr>
            <a:r>
              <a:rPr lang="en-US" sz="130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300" dirty="0">
                <a:solidFill>
                  <a:srgbClr val="FCD34D"/>
                </a:solidFill>
                <a:latin typeface="Courier New" pitchFamily="34" charset="0"/>
                <a:ea typeface="Courier New" pitchFamily="34" charset="-122"/>
                <a:cs typeface="Courier New" pitchFamily="34" charset="-120"/>
              </a:rPr>
              <a:t>"What is my name?"</a:t>
            </a:r>
            <a:pPr indent="0" marL="0">
              <a:lnSpc>
                <a:spcPct val="106000"/>
              </a:lnSpc>
              <a:buNone/>
            </a:pPr>
            <a:r>
              <a:rPr lang="en-US" sz="1300" dirty="0">
                <a:solidFill>
                  <a:srgbClr val="E2E8F0"/>
                </a:solidFill>
                <a:latin typeface="Courier New" pitchFamily="34" charset="0"/>
                <a:ea typeface="Courier New" pitchFamily="34" charset="-122"/>
                <a:cs typeface="Courier New" pitchFamily="34" charset="-120"/>
              </a:rPr>
              <a:t>},</a:t>
            </a:r>
            <a:endParaRPr lang="en-US" sz="1300" dirty="0"/>
          </a:p>
          <a:p>
            <a:pPr indent="0" marL="0">
              <a:lnSpc>
                <a:spcPct val="106000"/>
              </a:lnSpc>
              <a:buNone/>
            </a:pPr>
            <a:r>
              <a:rPr lang="en-US" sz="130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300" dirty="0">
                <a:solidFill>
                  <a:srgbClr val="7DD3C8"/>
                </a:solidFill>
                <a:latin typeface="Courier New" pitchFamily="34" charset="0"/>
                <a:ea typeface="Courier New" pitchFamily="34" charset="-122"/>
                <a:cs typeface="Courier New" pitchFamily="34" charset="-120"/>
              </a:rPr>
              <a:t>  # now the model can see the name and answer</a:t>
            </a:r>
            <a:endParaRPr lang="en-US" sz="1300" dirty="0"/>
          </a:p>
        </p:txBody>
      </p:sp>
      <p:sp>
        <p:nvSpPr>
          <p:cNvPr id="10" name="Text 7"/>
          <p:cNvSpPr/>
          <p:nvPr/>
        </p:nvSpPr>
        <p:spPr>
          <a:xfrm>
            <a:off x="640080" y="5074920"/>
            <a:ext cx="10881360" cy="365760"/>
          </a:xfrm>
          <a:prstGeom prst="rect">
            <a:avLst/>
          </a:prstGeom>
          <a:noFill/>
          <a:ln/>
        </p:spPr>
        <p:txBody>
          <a:bodyPr wrap="square" rtlCol="0" anchor="ctr"/>
          <a:lstStyle/>
          <a:p>
            <a:pPr indent="0" marL="0">
              <a:buNone/>
            </a:pPr>
            <a:r>
              <a:rPr lang="en-US" sz="1400" i="1" dirty="0">
                <a:solidFill>
                  <a:srgbClr val="0D9488"/>
                </a:solidFill>
                <a:latin typeface="Arial" pitchFamily="34" charset="0"/>
                <a:ea typeface="Arial" pitchFamily="34" charset="-122"/>
                <a:cs typeface="Arial" pitchFamily="34" charset="-120"/>
              </a:rPr>
              <a:t>This is exactly what your Day 1 agent did. Appending the history is short-term memory.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THE CATCH</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The context window is finite</a:t>
            </a:r>
            <a:endParaRPr lang="en-US" sz="3000" dirty="0"/>
          </a:p>
        </p:txBody>
      </p:sp>
      <p:sp>
        <p:nvSpPr>
          <p:cNvPr id="4" name="Shape 2"/>
          <p:cNvSpPr/>
          <p:nvPr/>
        </p:nvSpPr>
        <p:spPr>
          <a:xfrm>
            <a:off x="640080" y="1828800"/>
            <a:ext cx="5212080" cy="2377440"/>
          </a:xfrm>
          <a:prstGeom prst="roundRect">
            <a:avLst>
              <a:gd name="adj" fmla="val 3462"/>
            </a:avLst>
          </a:prstGeom>
          <a:solidFill>
            <a:srgbClr val="F1F5F9"/>
          </a:solidFill>
          <a:ln/>
          <a:effectLst>
            <a:outerShdw sx="100000" sy="100000" kx="0" ky="0" algn="bl" rotWithShape="0" blurRad="88900" dist="38100" dir="5400000">
              <a:srgbClr val="0F2A33">
                <a:alpha val="16000"/>
              </a:srgbClr>
            </a:outerShdw>
          </a:effectLst>
        </p:spPr>
      </p:sp>
      <p:sp>
        <p:nvSpPr>
          <p:cNvPr id="5" name="Shape 3"/>
          <p:cNvSpPr/>
          <p:nvPr/>
        </p:nvSpPr>
        <p:spPr>
          <a:xfrm>
            <a:off x="914400" y="2103120"/>
            <a:ext cx="777240" cy="7772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16482" y="2305202"/>
            <a:ext cx="373075" cy="373075"/>
          </a:xfrm>
          <a:prstGeom prst="rect">
            <a:avLst/>
          </a:prstGeom>
        </p:spPr>
      </p:pic>
      <p:sp>
        <p:nvSpPr>
          <p:cNvPr id="7" name="Text 4"/>
          <p:cNvSpPr/>
          <p:nvPr/>
        </p:nvSpPr>
        <p:spPr>
          <a:xfrm>
            <a:off x="914400" y="3017520"/>
            <a:ext cx="4663440" cy="411480"/>
          </a:xfrm>
          <a:prstGeom prst="rect">
            <a:avLst/>
          </a:prstGeom>
          <a:noFill/>
          <a:ln/>
        </p:spPr>
        <p:txBody>
          <a:bodyPr wrap="square" lIns="0" tIns="0" rIns="0" bIns="0" rtlCol="0" anchor="ctr"/>
          <a:lstStyle/>
          <a:p>
            <a:pPr indent="0" marL="0">
              <a:buNone/>
            </a:pPr>
            <a:r>
              <a:rPr lang="en-US" sz="1800" b="1" dirty="0">
                <a:solidFill>
                  <a:srgbClr val="1E293B"/>
                </a:solidFill>
                <a:latin typeface="Arial" pitchFamily="34" charset="0"/>
                <a:ea typeface="Arial" pitchFamily="34" charset="-122"/>
                <a:cs typeface="Arial" pitchFamily="34" charset="-120"/>
              </a:rPr>
              <a:t>A fixed-size box</a:t>
            </a:r>
            <a:endParaRPr lang="en-US" sz="1800" dirty="0"/>
          </a:p>
        </p:txBody>
      </p:sp>
      <p:sp>
        <p:nvSpPr>
          <p:cNvPr id="8" name="Text 5"/>
          <p:cNvSpPr/>
          <p:nvPr/>
        </p:nvSpPr>
        <p:spPr>
          <a:xfrm>
            <a:off x="914400" y="3474720"/>
            <a:ext cx="4754880" cy="82296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The model can only read so many tokens at once. The whole message list must fit in that window.</a:t>
            </a:r>
            <a:endParaRPr lang="en-US" sz="1350" dirty="0"/>
          </a:p>
        </p:txBody>
      </p:sp>
      <p:sp>
        <p:nvSpPr>
          <p:cNvPr id="9" name="Shape 6"/>
          <p:cNvSpPr/>
          <p:nvPr/>
        </p:nvSpPr>
        <p:spPr>
          <a:xfrm>
            <a:off x="6309360" y="1828800"/>
            <a:ext cx="5212080" cy="2377440"/>
          </a:xfrm>
          <a:prstGeom prst="roundRect">
            <a:avLst>
              <a:gd name="adj" fmla="val 3462"/>
            </a:avLst>
          </a:prstGeom>
          <a:solidFill>
            <a:srgbClr val="F1F5F9"/>
          </a:solidFill>
          <a:ln/>
          <a:effectLst>
            <a:outerShdw sx="100000" sy="100000" kx="0" ky="0" algn="bl" rotWithShape="0" blurRad="88900" dist="38100" dir="5400000">
              <a:srgbClr val="0F2A33">
                <a:alpha val="16000"/>
              </a:srgbClr>
            </a:outerShdw>
          </a:effectLst>
        </p:spPr>
      </p:sp>
      <p:sp>
        <p:nvSpPr>
          <p:cNvPr id="10" name="Shape 7"/>
          <p:cNvSpPr/>
          <p:nvPr/>
        </p:nvSpPr>
        <p:spPr>
          <a:xfrm>
            <a:off x="6583680" y="2103120"/>
            <a:ext cx="777240" cy="777240"/>
          </a:xfrm>
          <a:prstGeom prst="ellipse">
            <a:avLst/>
          </a:prstGeom>
          <a:solidFill>
            <a:srgbClr val="0F2A33"/>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6785762" y="2305202"/>
            <a:ext cx="373075" cy="373075"/>
          </a:xfrm>
          <a:prstGeom prst="rect">
            <a:avLst/>
          </a:prstGeom>
        </p:spPr>
      </p:pic>
      <p:sp>
        <p:nvSpPr>
          <p:cNvPr id="12" name="Text 8"/>
          <p:cNvSpPr/>
          <p:nvPr/>
        </p:nvSpPr>
        <p:spPr>
          <a:xfrm>
            <a:off x="6583680" y="3017520"/>
            <a:ext cx="4663440" cy="411480"/>
          </a:xfrm>
          <a:prstGeom prst="rect">
            <a:avLst/>
          </a:prstGeom>
          <a:noFill/>
          <a:ln/>
        </p:spPr>
        <p:txBody>
          <a:bodyPr wrap="square" lIns="0" tIns="0" rIns="0" bIns="0" rtlCol="0" anchor="ctr"/>
          <a:lstStyle/>
          <a:p>
            <a:pPr indent="0" marL="0">
              <a:buNone/>
            </a:pPr>
            <a:r>
              <a:rPr lang="en-US" sz="1800" b="1" dirty="0">
                <a:solidFill>
                  <a:srgbClr val="1E293B"/>
                </a:solidFill>
                <a:latin typeface="Arial" pitchFamily="34" charset="0"/>
                <a:ea typeface="Arial" pitchFamily="34" charset="-122"/>
                <a:cs typeface="Arial" pitchFamily="34" charset="-120"/>
              </a:rPr>
              <a:t>It fills up</a:t>
            </a:r>
            <a:endParaRPr lang="en-US" sz="1800" dirty="0"/>
          </a:p>
        </p:txBody>
      </p:sp>
      <p:sp>
        <p:nvSpPr>
          <p:cNvPr id="13" name="Text 9"/>
          <p:cNvSpPr/>
          <p:nvPr/>
        </p:nvSpPr>
        <p:spPr>
          <a:xfrm>
            <a:off x="6583680" y="3474720"/>
            <a:ext cx="4754880" cy="82296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A long conversation eventually exceeds the window. You cannot just append forever. Old turns must go.</a:t>
            </a:r>
            <a:endParaRPr lang="en-US" sz="1350" dirty="0"/>
          </a:p>
        </p:txBody>
      </p:sp>
      <p:sp>
        <p:nvSpPr>
          <p:cNvPr id="14" name="Shape 10"/>
          <p:cNvSpPr/>
          <p:nvPr/>
        </p:nvSpPr>
        <p:spPr>
          <a:xfrm>
            <a:off x="640080" y="4480560"/>
            <a:ext cx="10881360" cy="1005840"/>
          </a:xfrm>
          <a:prstGeom prst="roundRect">
            <a:avLst>
              <a:gd name="adj" fmla="val 9091"/>
            </a:avLst>
          </a:prstGeom>
          <a:solidFill>
            <a:srgbClr val="0F2A33"/>
          </a:solidFill>
          <a:ln/>
          <a:effectLst>
            <a:outerShdw sx="100000" sy="100000" kx="0" ky="0" algn="bl" rotWithShape="0" blurRad="88900" dist="38100" dir="5400000">
              <a:srgbClr val="0F2A33">
                <a:alpha val="16000"/>
              </a:srgbClr>
            </a:outerShdw>
          </a:effectLst>
        </p:spPr>
      </p:sp>
      <p:sp>
        <p:nvSpPr>
          <p:cNvPr id="15" name="Shape 11"/>
          <p:cNvSpPr/>
          <p:nvPr/>
        </p:nvSpPr>
        <p:spPr>
          <a:xfrm>
            <a:off x="914400" y="4690872"/>
            <a:ext cx="594360" cy="59436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6" name="Image 2" descr="preencoded.png">    </p:cNvPr>
          <p:cNvPicPr>
            <a:picLocks noChangeAspect="1"/>
          </p:cNvPicPr>
          <p:nvPr/>
        </p:nvPicPr>
        <p:blipFill>
          <a:blip r:embed="rId3"/>
          <a:stretch>
            <a:fillRect/>
          </a:stretch>
        </p:blipFill>
        <p:spPr>
          <a:xfrm>
            <a:off x="1068934" y="4845406"/>
            <a:ext cx="285293" cy="285293"/>
          </a:xfrm>
          <a:prstGeom prst="rect">
            <a:avLst/>
          </a:prstGeom>
        </p:spPr>
      </p:pic>
      <p:sp>
        <p:nvSpPr>
          <p:cNvPr id="17" name="Text 12"/>
          <p:cNvSpPr/>
          <p:nvPr/>
        </p:nvSpPr>
        <p:spPr>
          <a:xfrm>
            <a:off x="1737360" y="4553712"/>
            <a:ext cx="9509760" cy="868680"/>
          </a:xfrm>
          <a:prstGeom prst="rect">
            <a:avLst/>
          </a:prstGeom>
          <a:noFill/>
          <a:ln/>
        </p:spPr>
        <p:txBody>
          <a:bodyPr wrap="square" lIns="0" tIns="0" rIns="0" bIns="0" rtlCol="0" anchor="ctr"/>
          <a:lstStyle/>
          <a:p>
            <a:pPr indent="0" marL="0">
              <a:buNone/>
            </a:pPr>
            <a:r>
              <a:rPr lang="en-US" sz="1450" b="1" dirty="0">
                <a:solidFill>
                  <a:srgbClr val="5EEAD4"/>
                </a:solidFill>
                <a:latin typeface="Arial" pitchFamily="34" charset="0"/>
                <a:ea typeface="Arial" pitchFamily="34" charset="-122"/>
                <a:cs typeface="Arial" pitchFamily="34" charset="-120"/>
              </a:rPr>
              <a:t>So the real question is:  </a:t>
            </a:r>
            <a:pPr indent="0" marL="0">
              <a:buNone/>
            </a:pPr>
            <a:r>
              <a:rPr lang="en-US" sz="1450" dirty="0">
                <a:solidFill>
                  <a:srgbClr val="FFFFFF"/>
                </a:solidFill>
                <a:latin typeface="Arial" pitchFamily="34" charset="0"/>
                <a:ea typeface="Arial" pitchFamily="34" charset="-122"/>
                <a:cs typeface="Arial" pitchFamily="34" charset="-120"/>
              </a:rPr>
              <a:t>when the window gets full, what do you keep and what do you drop or compress? That is memory management.</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THREE MEMORY STRATEGIES</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Ways to fit a long conversation into a small window</a:t>
            </a:r>
            <a:endParaRPr lang="en-US" sz="3000" dirty="0"/>
          </a:p>
        </p:txBody>
      </p:sp>
      <p:sp>
        <p:nvSpPr>
          <p:cNvPr id="4" name="Shape 2"/>
          <p:cNvSpPr/>
          <p:nvPr/>
        </p:nvSpPr>
        <p:spPr>
          <a:xfrm>
            <a:off x="640080" y="1828800"/>
            <a:ext cx="10881360" cy="1051560"/>
          </a:xfrm>
          <a:prstGeom prst="roundRect">
            <a:avLst>
              <a:gd name="adj" fmla="val 6957"/>
            </a:avLst>
          </a:prstGeom>
          <a:solidFill>
            <a:srgbClr val="F0FDFA"/>
          </a:solidFill>
          <a:ln/>
          <a:effectLst>
            <a:outerShdw sx="100000" sy="100000" kx="0" ky="0" algn="bl" rotWithShape="0" blurRad="88900" dist="38100" dir="5400000">
              <a:srgbClr val="0F2A33">
                <a:alpha val="16000"/>
              </a:srgbClr>
            </a:outerShdw>
          </a:effectLst>
        </p:spPr>
      </p:sp>
      <p:sp>
        <p:nvSpPr>
          <p:cNvPr id="5" name="Shape 3"/>
          <p:cNvSpPr/>
          <p:nvPr/>
        </p:nvSpPr>
        <p:spPr>
          <a:xfrm>
            <a:off x="896112" y="2075688"/>
            <a:ext cx="566928" cy="566928"/>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043513" y="2223089"/>
            <a:ext cx="272125" cy="272125"/>
          </a:xfrm>
          <a:prstGeom prst="rect">
            <a:avLst/>
          </a:prstGeom>
        </p:spPr>
      </p:pic>
      <p:sp>
        <p:nvSpPr>
          <p:cNvPr id="7" name="Text 4"/>
          <p:cNvSpPr/>
          <p:nvPr/>
        </p:nvSpPr>
        <p:spPr>
          <a:xfrm>
            <a:off x="1691640" y="1975104"/>
            <a:ext cx="3108960" cy="411480"/>
          </a:xfrm>
          <a:prstGeom prst="rect">
            <a:avLst/>
          </a:prstGeom>
          <a:noFill/>
          <a:ln/>
        </p:spPr>
        <p:txBody>
          <a:bodyPr wrap="square" lIns="0" tIns="0" rIns="0" bIns="0" rtlCol="0" anchor="ctr"/>
          <a:lstStyle/>
          <a:p>
            <a:pPr indent="0" marL="0">
              <a:buNone/>
            </a:pPr>
            <a:r>
              <a:rPr lang="en-US" sz="1700" b="1" dirty="0">
                <a:solidFill>
                  <a:srgbClr val="1E293B"/>
                </a:solidFill>
                <a:latin typeface="Arial" pitchFamily="34" charset="0"/>
                <a:ea typeface="Arial" pitchFamily="34" charset="-122"/>
                <a:cs typeface="Arial" pitchFamily="34" charset="-120"/>
              </a:rPr>
              <a:t>Sliding window</a:t>
            </a:r>
            <a:endParaRPr lang="en-US" sz="1700" dirty="0"/>
          </a:p>
        </p:txBody>
      </p:sp>
      <p:sp>
        <p:nvSpPr>
          <p:cNvPr id="8" name="Text 5"/>
          <p:cNvSpPr/>
          <p:nvPr/>
        </p:nvSpPr>
        <p:spPr>
          <a:xfrm>
            <a:off x="4846320" y="1975104"/>
            <a:ext cx="6492240" cy="77724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Keep only the last few turns. Simple, but it forgets anything older.</a:t>
            </a:r>
            <a:endParaRPr lang="en-US" sz="1350" dirty="0"/>
          </a:p>
        </p:txBody>
      </p:sp>
      <p:sp>
        <p:nvSpPr>
          <p:cNvPr id="9" name="Shape 6"/>
          <p:cNvSpPr/>
          <p:nvPr/>
        </p:nvSpPr>
        <p:spPr>
          <a:xfrm>
            <a:off x="640080" y="3044952"/>
            <a:ext cx="10881360" cy="1051560"/>
          </a:xfrm>
          <a:prstGeom prst="roundRect">
            <a:avLst>
              <a:gd name="adj" fmla="val 6957"/>
            </a:avLst>
          </a:prstGeom>
          <a:solidFill>
            <a:srgbClr val="F1F5F9"/>
          </a:solidFill>
          <a:ln/>
          <a:effectLst>
            <a:outerShdw sx="100000" sy="100000" kx="0" ky="0" algn="bl" rotWithShape="0" blurRad="88900" dist="38100" dir="5400000">
              <a:srgbClr val="0F2A33">
                <a:alpha val="16000"/>
              </a:srgbClr>
            </a:outerShdw>
          </a:effectLst>
        </p:spPr>
      </p:sp>
      <p:sp>
        <p:nvSpPr>
          <p:cNvPr id="10" name="Shape 7"/>
          <p:cNvSpPr/>
          <p:nvPr/>
        </p:nvSpPr>
        <p:spPr>
          <a:xfrm>
            <a:off x="896112" y="3291840"/>
            <a:ext cx="566928" cy="566928"/>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1043513" y="3439241"/>
            <a:ext cx="272125" cy="272125"/>
          </a:xfrm>
          <a:prstGeom prst="rect">
            <a:avLst/>
          </a:prstGeom>
        </p:spPr>
      </p:pic>
      <p:sp>
        <p:nvSpPr>
          <p:cNvPr id="12" name="Text 8"/>
          <p:cNvSpPr/>
          <p:nvPr/>
        </p:nvSpPr>
        <p:spPr>
          <a:xfrm>
            <a:off x="1691640" y="3191256"/>
            <a:ext cx="3108960" cy="411480"/>
          </a:xfrm>
          <a:prstGeom prst="rect">
            <a:avLst/>
          </a:prstGeom>
          <a:noFill/>
          <a:ln/>
        </p:spPr>
        <p:txBody>
          <a:bodyPr wrap="square" lIns="0" tIns="0" rIns="0" bIns="0" rtlCol="0" anchor="ctr"/>
          <a:lstStyle/>
          <a:p>
            <a:pPr indent="0" marL="0">
              <a:buNone/>
            </a:pPr>
            <a:r>
              <a:rPr lang="en-US" sz="1700" b="1" dirty="0">
                <a:solidFill>
                  <a:srgbClr val="1E293B"/>
                </a:solidFill>
                <a:latin typeface="Arial" pitchFamily="34" charset="0"/>
                <a:ea typeface="Arial" pitchFamily="34" charset="-122"/>
                <a:cs typeface="Arial" pitchFamily="34" charset="-120"/>
              </a:rPr>
              <a:t>Summarize</a:t>
            </a:r>
            <a:endParaRPr lang="en-US" sz="1700" dirty="0"/>
          </a:p>
        </p:txBody>
      </p:sp>
      <p:sp>
        <p:nvSpPr>
          <p:cNvPr id="13" name="Text 9"/>
          <p:cNvSpPr/>
          <p:nvPr/>
        </p:nvSpPr>
        <p:spPr>
          <a:xfrm>
            <a:off x="4846320" y="3191256"/>
            <a:ext cx="6492240" cy="77724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Compress older turns into a short running summary, keep recent turns verbatim.</a:t>
            </a:r>
            <a:endParaRPr lang="en-US" sz="1350" dirty="0"/>
          </a:p>
        </p:txBody>
      </p:sp>
      <p:sp>
        <p:nvSpPr>
          <p:cNvPr id="14" name="Shape 10"/>
          <p:cNvSpPr/>
          <p:nvPr/>
        </p:nvSpPr>
        <p:spPr>
          <a:xfrm>
            <a:off x="640080" y="4261104"/>
            <a:ext cx="10881360" cy="1051560"/>
          </a:xfrm>
          <a:prstGeom prst="roundRect">
            <a:avLst>
              <a:gd name="adj" fmla="val 6957"/>
            </a:avLst>
          </a:prstGeom>
          <a:solidFill>
            <a:srgbClr val="F0FDFA"/>
          </a:solidFill>
          <a:ln/>
          <a:effectLst>
            <a:outerShdw sx="100000" sy="100000" kx="0" ky="0" algn="bl" rotWithShape="0" blurRad="88900" dist="38100" dir="5400000">
              <a:srgbClr val="0F2A33">
                <a:alpha val="16000"/>
              </a:srgbClr>
            </a:outerShdw>
          </a:effectLst>
        </p:spPr>
      </p:sp>
      <p:sp>
        <p:nvSpPr>
          <p:cNvPr id="15" name="Shape 11"/>
          <p:cNvSpPr/>
          <p:nvPr/>
        </p:nvSpPr>
        <p:spPr>
          <a:xfrm>
            <a:off x="896112" y="4507992"/>
            <a:ext cx="566928" cy="566928"/>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6" name="Image 2" descr="preencoded.png">    </p:cNvPr>
          <p:cNvPicPr>
            <a:picLocks noChangeAspect="1"/>
          </p:cNvPicPr>
          <p:nvPr/>
        </p:nvPicPr>
        <p:blipFill>
          <a:blip r:embed="rId3"/>
          <a:stretch>
            <a:fillRect/>
          </a:stretch>
        </p:blipFill>
        <p:spPr>
          <a:xfrm>
            <a:off x="1043513" y="4655393"/>
            <a:ext cx="272125" cy="272125"/>
          </a:xfrm>
          <a:prstGeom prst="rect">
            <a:avLst/>
          </a:prstGeom>
        </p:spPr>
      </p:pic>
      <p:sp>
        <p:nvSpPr>
          <p:cNvPr id="17" name="Text 12"/>
          <p:cNvSpPr/>
          <p:nvPr/>
        </p:nvSpPr>
        <p:spPr>
          <a:xfrm>
            <a:off x="1691640" y="4407408"/>
            <a:ext cx="3108960" cy="411480"/>
          </a:xfrm>
          <a:prstGeom prst="rect">
            <a:avLst/>
          </a:prstGeom>
          <a:noFill/>
          <a:ln/>
        </p:spPr>
        <p:txBody>
          <a:bodyPr wrap="square" lIns="0" tIns="0" rIns="0" bIns="0" rtlCol="0" anchor="ctr"/>
          <a:lstStyle/>
          <a:p>
            <a:pPr indent="0" marL="0">
              <a:buNone/>
            </a:pPr>
            <a:r>
              <a:rPr lang="en-US" sz="1700" b="1" dirty="0">
                <a:solidFill>
                  <a:srgbClr val="1E293B"/>
                </a:solidFill>
                <a:latin typeface="Arial" pitchFamily="34" charset="0"/>
                <a:ea typeface="Arial" pitchFamily="34" charset="-122"/>
                <a:cs typeface="Arial" pitchFamily="34" charset="-120"/>
              </a:rPr>
              <a:t>Fact memory</a:t>
            </a:r>
            <a:endParaRPr lang="en-US" sz="1700" dirty="0"/>
          </a:p>
        </p:txBody>
      </p:sp>
      <p:sp>
        <p:nvSpPr>
          <p:cNvPr id="18" name="Text 13"/>
          <p:cNvSpPr/>
          <p:nvPr/>
        </p:nvSpPr>
        <p:spPr>
          <a:xfrm>
            <a:off x="4846320" y="4407408"/>
            <a:ext cx="6492240" cy="77724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Pull out durable facts (the user's name, preferences) and always keep those.</a:t>
            </a:r>
            <a:endParaRPr lang="en-US" sz="1350" dirty="0"/>
          </a:p>
        </p:txBody>
      </p:sp>
      <p:sp>
        <p:nvSpPr>
          <p:cNvPr id="19" name="Text 14"/>
          <p:cNvSpPr/>
          <p:nvPr/>
        </p:nvSpPr>
        <p:spPr>
          <a:xfrm>
            <a:off x="640080" y="5486400"/>
            <a:ext cx="10881360" cy="457200"/>
          </a:xfrm>
          <a:prstGeom prst="rect">
            <a:avLst/>
          </a:prstGeom>
          <a:noFill/>
          <a:ln/>
        </p:spPr>
        <p:txBody>
          <a:bodyPr wrap="square" rtlCol="0" anchor="ctr"/>
          <a:lstStyle/>
          <a:p>
            <a:pPr indent="0" marL="0">
              <a:buNone/>
            </a:pPr>
            <a:r>
              <a:rPr lang="en-US" sz="1400" i="1" dirty="0">
                <a:solidFill>
                  <a:srgbClr val="0D9488"/>
                </a:solidFill>
                <a:latin typeface="Arial" pitchFamily="34" charset="0"/>
                <a:ea typeface="Arial" pitchFamily="34" charset="-122"/>
                <a:cs typeface="Arial" pitchFamily="34" charset="-120"/>
              </a:rPr>
              <a:t>Real systems combine them: keep recent turns, a rolling summary of older ones, and a few pinned facts.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MEMORY  -  CODE</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Sliding window plus a running summary</a:t>
            </a:r>
            <a:endParaRPr lang="en-US" sz="3000" dirty="0"/>
          </a:p>
        </p:txBody>
      </p:sp>
      <p:sp>
        <p:nvSpPr>
          <p:cNvPr id="4" name="Shape 2"/>
          <p:cNvSpPr/>
          <p:nvPr/>
        </p:nvSpPr>
        <p:spPr>
          <a:xfrm>
            <a:off x="640080" y="1691640"/>
            <a:ext cx="7680960" cy="4251960"/>
          </a:xfrm>
          <a:prstGeom prst="roundRect">
            <a:avLst>
              <a:gd name="adj" fmla="val 1290"/>
            </a:avLst>
          </a:prstGeom>
          <a:solidFill>
            <a:srgbClr val="0B2229"/>
          </a:solidFill>
          <a:ln/>
          <a:effectLst>
            <a:outerShdw sx="100000" sy="100000" kx="0" ky="0" algn="bl" rotWithShape="0" blurRad="88900" dist="38100" dir="5400000">
              <a:srgbClr val="0F2A33">
                <a:alpha val="16000"/>
              </a:srgbClr>
            </a:outerShdw>
          </a:effectLst>
        </p:spPr>
      </p:sp>
      <p:sp>
        <p:nvSpPr>
          <p:cNvPr id="5" name="Text 3"/>
          <p:cNvSpPr/>
          <p:nvPr/>
        </p:nvSpPr>
        <p:spPr>
          <a:xfrm>
            <a:off x="841248" y="1837944"/>
            <a:ext cx="7278624" cy="3959352"/>
          </a:xfrm>
          <a:prstGeom prst="rect">
            <a:avLst/>
          </a:prstGeom>
          <a:noFill/>
          <a:ln/>
        </p:spPr>
        <p:txBody>
          <a:bodyPr wrap="square" lIns="0" tIns="0" rIns="0" bIns="0" rtlCol="0" anchor="t"/>
          <a:lstStyle/>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history = []</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summary = </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"No earlier context yet."</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a:t>
            </a:r>
            <a:endParaRPr lang="en-US" sz="1150" dirty="0"/>
          </a:p>
          <a:p>
            <a:pPr indent="0" marL="0">
              <a:lnSpc>
                <a:spcPct val="106000"/>
              </a:lnSpc>
              <a:buNone/>
            </a:pPr>
            <a:r>
              <a:rPr lang="en-US" sz="1150" dirty="0">
                <a:solidFill>
                  <a:srgbClr val="5EEAD4"/>
                </a:solidFill>
                <a:latin typeface="Courier New" pitchFamily="34" charset="0"/>
                <a:ea typeface="Courier New" pitchFamily="34" charset="-122"/>
                <a:cs typeface="Courier New" pitchFamily="34" charset="-120"/>
              </a:rPr>
              <a:t>def </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chat</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(user_msg):</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history.append({</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"role"</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"user"</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"content"</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:user_msg})</a:t>
            </a:r>
            <a:endParaRPr lang="en-US" sz="1150" dirty="0"/>
          </a:p>
          <a:p>
            <a:pPr indent="0" marL="0">
              <a:lnSpc>
                <a:spcPct val="106000"/>
              </a:lnSpc>
              <a:buNone/>
            </a:pPr>
            <a:r>
              <a:rPr lang="en-US" sz="1150" dirty="0">
                <a:solidFill>
                  <a:srgbClr val="7DD3C8"/>
                </a:solidFill>
                <a:latin typeface="Courier New" pitchFamily="34" charset="0"/>
                <a:ea typeface="Courier New" pitchFamily="34" charset="-122"/>
                <a:cs typeface="Courier New" pitchFamily="34" charset="-120"/>
              </a:rPr>
              <a:t>    # summary of old turns + the last 4 turns verbatim</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msgs = [{</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"role"</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"system"</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"content"</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:summary}]</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msgs += history[-</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4</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r = ollama.chat(MODEL, messages=msgs)</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history.append(r.message)</a:t>
            </a:r>
            <a:endParaRPr lang="en-US" sz="1150" dirty="0"/>
          </a:p>
          <a:p>
            <a:pPr indent="0" marL="0">
              <a:lnSpc>
                <a:spcPct val="106000"/>
              </a:lnSpc>
              <a:buNone/>
            </a:pPr>
            <a:r>
              <a:rPr lang="en-US" sz="1150" dirty="0">
                <a:solidFill>
                  <a:srgbClr val="5EEAD4"/>
                </a:solidFill>
                <a:latin typeface="Courier New" pitchFamily="34" charset="0"/>
                <a:ea typeface="Courier New" pitchFamily="34" charset="-122"/>
                <a:cs typeface="Courier New" pitchFamily="34" charset="-120"/>
              </a:rPr>
              <a:t>    return </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r.message.content</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a:t>
            </a:r>
            <a:endParaRPr lang="en-US" sz="1150" dirty="0"/>
          </a:p>
          <a:p>
            <a:pPr indent="0" marL="0">
              <a:lnSpc>
                <a:spcPct val="106000"/>
              </a:lnSpc>
              <a:buNone/>
            </a:pPr>
            <a:r>
              <a:rPr lang="en-US" sz="1150" dirty="0">
                <a:solidFill>
                  <a:srgbClr val="7DD3C8"/>
                </a:solidFill>
                <a:latin typeface="Courier New" pitchFamily="34" charset="0"/>
                <a:ea typeface="Courier New" pitchFamily="34" charset="-122"/>
                <a:cs typeface="Courier New" pitchFamily="34" charset="-120"/>
              </a:rPr>
              <a:t># when history grows, fold the old turns into summary</a:t>
            </a:r>
            <a:endParaRPr lang="en-US" sz="1150" dirty="0"/>
          </a:p>
          <a:p>
            <a:pPr indent="0" marL="0">
              <a:lnSpc>
                <a:spcPct val="106000"/>
              </a:lnSpc>
              <a:buNone/>
            </a:pPr>
            <a:r>
              <a:rPr lang="en-US" sz="1150" dirty="0">
                <a:solidFill>
                  <a:srgbClr val="5EEAD4"/>
                </a:solidFill>
                <a:latin typeface="Courier New" pitchFamily="34" charset="0"/>
                <a:ea typeface="Courier New" pitchFamily="34" charset="-122"/>
                <a:cs typeface="Courier New" pitchFamily="34" charset="-120"/>
              </a:rPr>
              <a:t>def </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compress</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a:t>
            </a:r>
            <a:endParaRPr lang="en-US" sz="1150" dirty="0"/>
          </a:p>
          <a:p>
            <a:pPr indent="0" marL="0">
              <a:lnSpc>
                <a:spcPct val="106000"/>
              </a:lnSpc>
              <a:buNone/>
            </a:pPr>
            <a:r>
              <a:rPr lang="en-US" sz="1150" dirty="0">
                <a:solidFill>
                  <a:srgbClr val="5EEAD4"/>
                </a:solidFill>
                <a:latin typeface="Courier New" pitchFamily="34" charset="0"/>
                <a:ea typeface="Courier New" pitchFamily="34" charset="-122"/>
                <a:cs typeface="Courier New" pitchFamily="34" charset="-120"/>
              </a:rPr>
              <a:t>    global </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summary</a:t>
            </a:r>
            <a:endParaRPr lang="en-US" sz="1150" dirty="0"/>
          </a:p>
          <a:p>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    summary = ask(</a:t>
            </a:r>
            <a:pPr indent="0" marL="0">
              <a:lnSpc>
                <a:spcPct val="106000"/>
              </a:lnSpc>
              <a:buNone/>
            </a:pPr>
            <a:r>
              <a:rPr lang="en-US" sz="1150" dirty="0">
                <a:solidFill>
                  <a:srgbClr val="FCD34D"/>
                </a:solidFill>
                <a:latin typeface="Courier New" pitchFamily="34" charset="0"/>
                <a:ea typeface="Courier New" pitchFamily="34" charset="-122"/>
                <a:cs typeface="Courier New" pitchFamily="34" charset="-120"/>
              </a:rPr>
              <a:t>f"Summarise briefly:\n{history[:-4]}"</a:t>
            </a:r>
            <a:pPr indent="0" marL="0">
              <a:lnSpc>
                <a:spcPct val="106000"/>
              </a:lnSpc>
              <a:buNone/>
            </a:pPr>
            <a:r>
              <a:rPr lang="en-US" sz="1150" dirty="0">
                <a:solidFill>
                  <a:srgbClr val="E2E8F0"/>
                </a:solidFill>
                <a:latin typeface="Courier New" pitchFamily="34" charset="0"/>
                <a:ea typeface="Courier New" pitchFamily="34" charset="-122"/>
                <a:cs typeface="Courier New" pitchFamily="34" charset="-120"/>
              </a:rPr>
              <a:t>)</a:t>
            </a:r>
            <a:endParaRPr lang="en-US" sz="1150" dirty="0"/>
          </a:p>
        </p:txBody>
      </p:sp>
      <p:sp>
        <p:nvSpPr>
          <p:cNvPr id="6" name="Shape 4"/>
          <p:cNvSpPr/>
          <p:nvPr/>
        </p:nvSpPr>
        <p:spPr>
          <a:xfrm>
            <a:off x="8503920" y="1691640"/>
            <a:ext cx="3017520" cy="4251960"/>
          </a:xfrm>
          <a:prstGeom prst="roundRect">
            <a:avLst>
              <a:gd name="adj" fmla="val 2727"/>
            </a:avLst>
          </a:prstGeom>
          <a:solidFill>
            <a:srgbClr val="F0FDFA"/>
          </a:solidFill>
          <a:ln/>
          <a:effectLst>
            <a:outerShdw sx="100000" sy="100000" kx="0" ky="0" algn="bl" rotWithShape="0" blurRad="88900" dist="38100" dir="5400000">
              <a:srgbClr val="0F2A33">
                <a:alpha val="16000"/>
              </a:srgbClr>
            </a:outerShdw>
          </a:effectLst>
        </p:spPr>
      </p:sp>
      <p:sp>
        <p:nvSpPr>
          <p:cNvPr id="7" name="Text 5"/>
          <p:cNvSpPr/>
          <p:nvPr/>
        </p:nvSpPr>
        <p:spPr>
          <a:xfrm>
            <a:off x="8686800" y="1874520"/>
            <a:ext cx="2743200" cy="365760"/>
          </a:xfrm>
          <a:prstGeom prst="rect">
            <a:avLst/>
          </a:prstGeom>
          <a:noFill/>
          <a:ln/>
        </p:spPr>
        <p:txBody>
          <a:bodyPr wrap="square" lIns="0" tIns="0" rIns="0" bIns="0" rtlCol="0" anchor="ctr"/>
          <a:lstStyle/>
          <a:p>
            <a:pPr indent="0" marL="0">
              <a:buNone/>
            </a:pPr>
            <a:r>
              <a:rPr lang="en-US" sz="1600" b="1" dirty="0">
                <a:solidFill>
                  <a:srgbClr val="0D9488"/>
                </a:solidFill>
                <a:latin typeface="Arial" pitchFamily="34" charset="0"/>
                <a:ea typeface="Arial" pitchFamily="34" charset="-122"/>
                <a:cs typeface="Arial" pitchFamily="34" charset="-120"/>
              </a:rPr>
              <a:t>Notice</a:t>
            </a:r>
            <a:endParaRPr lang="en-US" sz="1600" dirty="0"/>
          </a:p>
        </p:txBody>
      </p:sp>
      <p:sp>
        <p:nvSpPr>
          <p:cNvPr id="8" name="Text 6"/>
          <p:cNvSpPr/>
          <p:nvPr/>
        </p:nvSpPr>
        <p:spPr>
          <a:xfrm>
            <a:off x="8732520" y="2286000"/>
            <a:ext cx="2697480" cy="3474720"/>
          </a:xfrm>
          <a:prstGeom prst="rect">
            <a:avLst/>
          </a:prstGeom>
          <a:noFill/>
          <a:ln/>
        </p:spPr>
        <p:txBody>
          <a:bodyPr wrap="square" lIns="0" tIns="0" rIns="0" bIns="0" rtlCol="0" anchor="ctr"/>
          <a:lstStyle/>
          <a:p>
            <a:pPr marL="342900" indent="-342900">
              <a:spcAft>
                <a:spcPts val="1000"/>
              </a:spcAft>
              <a:buSzPct val="100000"/>
              <a:buChar char="•"/>
            </a:pPr>
            <a:r>
              <a:rPr lang="en-US" sz="1200" dirty="0">
                <a:solidFill>
                  <a:srgbClr val="1E293B"/>
                </a:solidFill>
                <a:latin typeface="Arial" pitchFamily="34" charset="0"/>
                <a:ea typeface="Arial" pitchFamily="34" charset="-122"/>
                <a:cs typeface="Arial" pitchFamily="34" charset="-120"/>
              </a:rPr>
              <a:t>Each call sends a summary plus the recent turns.</a:t>
            </a:r>
            <a:endParaRPr lang="en-US" sz="1200" dirty="0"/>
          </a:p>
          <a:p>
            <a:pPr marL="342900" indent="-342900">
              <a:spcAft>
                <a:spcPts val="1000"/>
              </a:spcAft>
              <a:buSzPct val="100000"/>
              <a:buChar char="•"/>
            </a:pPr>
            <a:r>
              <a:rPr lang="en-US" sz="1200" dirty="0">
                <a:solidFill>
                  <a:srgbClr val="1E293B"/>
                </a:solidFill>
                <a:latin typeface="Arial" pitchFamily="34" charset="0"/>
                <a:ea typeface="Arial" pitchFamily="34" charset="-122"/>
                <a:cs typeface="Arial" pitchFamily="34" charset="-120"/>
              </a:rPr>
              <a:t>The window stays small no matter how long the chat.</a:t>
            </a:r>
            <a:endParaRPr lang="en-US" sz="1200" dirty="0"/>
          </a:p>
          <a:p>
            <a:pPr marL="342900" indent="-342900">
              <a:spcAft>
                <a:spcPts val="1000"/>
              </a:spcAft>
              <a:buSzPct val="100000"/>
              <a:buChar char="•"/>
            </a:pPr>
            <a:r>
              <a:rPr lang="en-US" sz="1200" dirty="0">
                <a:solidFill>
                  <a:srgbClr val="1E293B"/>
                </a:solidFill>
                <a:latin typeface="Arial" pitchFamily="34" charset="0"/>
                <a:ea typeface="Arial" pitchFamily="34" charset="-122"/>
                <a:cs typeface="Arial" pitchFamily="34" charset="-120"/>
              </a:rPr>
              <a:t>compress folds old turns into the summary.</a:t>
            </a:r>
            <a:endParaRPr lang="en-US" sz="1200" dirty="0"/>
          </a:p>
          <a:p>
            <a:pPr marL="342900" indent="-342900">
              <a:spcAft>
                <a:spcPts val="1000"/>
              </a:spcAft>
              <a:buSzPct val="100000"/>
              <a:buChar char="•"/>
            </a:pPr>
            <a:r>
              <a:rPr lang="en-US" sz="1200" dirty="0">
                <a:solidFill>
                  <a:srgbClr val="1E293B"/>
                </a:solidFill>
                <a:latin typeface="Arial" pitchFamily="34" charset="0"/>
                <a:ea typeface="Arial" pitchFamily="34" charset="-122"/>
                <a:cs typeface="Arial" pitchFamily="34" charset="-120"/>
              </a:rPr>
              <a:t>This is the sliding window and summary strategies, combined.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LONG-TERM MEMORY</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Store it, then search for it when relevant</a:t>
            </a:r>
            <a:endParaRPr lang="en-US" sz="3000" dirty="0"/>
          </a:p>
        </p:txBody>
      </p:sp>
      <p:sp>
        <p:nvSpPr>
          <p:cNvPr id="4" name="Shape 2"/>
          <p:cNvSpPr/>
          <p:nvPr/>
        </p:nvSpPr>
        <p:spPr>
          <a:xfrm>
            <a:off x="640080" y="1783080"/>
            <a:ext cx="10881360" cy="1188720"/>
          </a:xfrm>
          <a:prstGeom prst="roundRect">
            <a:avLst>
              <a:gd name="adj" fmla="val 6923"/>
            </a:avLst>
          </a:prstGeom>
          <a:solidFill>
            <a:srgbClr val="0F2A33"/>
          </a:solidFill>
          <a:ln/>
          <a:effectLst>
            <a:outerShdw sx="100000" sy="100000" kx="0" ky="0" algn="bl" rotWithShape="0" blurRad="88900" dist="38100" dir="5400000">
              <a:srgbClr val="0F2A33">
                <a:alpha val="16000"/>
              </a:srgbClr>
            </a:outerShdw>
          </a:effectLst>
        </p:spPr>
      </p:sp>
      <p:sp>
        <p:nvSpPr>
          <p:cNvPr id="5" name="Shape 3"/>
          <p:cNvSpPr/>
          <p:nvPr/>
        </p:nvSpPr>
        <p:spPr>
          <a:xfrm>
            <a:off x="914400" y="1993392"/>
            <a:ext cx="777240" cy="7772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16482" y="2195474"/>
            <a:ext cx="373075" cy="373075"/>
          </a:xfrm>
          <a:prstGeom prst="rect">
            <a:avLst/>
          </a:prstGeom>
        </p:spPr>
      </p:pic>
      <p:sp>
        <p:nvSpPr>
          <p:cNvPr id="7" name="Text 4"/>
          <p:cNvSpPr/>
          <p:nvPr/>
        </p:nvSpPr>
        <p:spPr>
          <a:xfrm>
            <a:off x="1920240" y="1847088"/>
            <a:ext cx="9326880" cy="105156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For memory that survives across sessions, </a:t>
            </a:r>
            <a:pPr indent="0" marL="0">
              <a:buNone/>
            </a:pPr>
            <a:r>
              <a:rPr lang="en-US" sz="1600" b="1" dirty="0">
                <a:solidFill>
                  <a:srgbClr val="5EEAD4"/>
                </a:solidFill>
                <a:latin typeface="Arial" pitchFamily="34" charset="0"/>
                <a:ea typeface="Arial" pitchFamily="34" charset="-122"/>
                <a:cs typeface="Arial" pitchFamily="34" charset="-120"/>
              </a:rPr>
              <a:t>you store information outside the model and fetch only the relevant pieces back into the prompt when you need them.</a:t>
            </a:r>
            <a:endParaRPr lang="en-US" sz="1600" dirty="0"/>
          </a:p>
        </p:txBody>
      </p:sp>
      <p:sp>
        <p:nvSpPr>
          <p:cNvPr id="8" name="Shape 5"/>
          <p:cNvSpPr/>
          <p:nvPr/>
        </p:nvSpPr>
        <p:spPr>
          <a:xfrm>
            <a:off x="640080" y="3291840"/>
            <a:ext cx="10881360" cy="713232"/>
          </a:xfrm>
          <a:prstGeom prst="roundRect">
            <a:avLst>
              <a:gd name="adj" fmla="val 8974"/>
            </a:avLst>
          </a:prstGeom>
          <a:solidFill>
            <a:srgbClr val="F0FDFA"/>
          </a:solidFill>
          <a:ln/>
          <a:effectLst>
            <a:outerShdw sx="100000" sy="100000" kx="0" ky="0" algn="bl" rotWithShape="0" blurRad="88900" dist="38100" dir="5400000">
              <a:srgbClr val="0F2A33">
                <a:alpha val="16000"/>
              </a:srgbClr>
            </a:outerShdw>
          </a:effectLst>
        </p:spPr>
      </p:sp>
      <p:sp>
        <p:nvSpPr>
          <p:cNvPr id="9" name="Text 6"/>
          <p:cNvSpPr/>
          <p:nvPr/>
        </p:nvSpPr>
        <p:spPr>
          <a:xfrm>
            <a:off x="822960" y="3291840"/>
            <a:ext cx="457200" cy="713232"/>
          </a:xfrm>
          <a:prstGeom prst="rect">
            <a:avLst/>
          </a:prstGeom>
          <a:noFill/>
          <a:ln/>
        </p:spPr>
        <p:txBody>
          <a:bodyPr wrap="square" lIns="0" tIns="0" rIns="0" bIns="0" rtlCol="0" anchor="ctr"/>
          <a:lstStyle/>
          <a:p>
            <a:pPr algn="ctr" indent="0" marL="0">
              <a:buNone/>
            </a:pPr>
            <a:r>
              <a:rPr lang="en-US" sz="1800" b="1" dirty="0">
                <a:solidFill>
                  <a:srgbClr val="F59E0B"/>
                </a:solidFill>
                <a:latin typeface="Arial" pitchFamily="34" charset="0"/>
                <a:ea typeface="Arial" pitchFamily="34" charset="-122"/>
                <a:cs typeface="Arial" pitchFamily="34" charset="-120"/>
              </a:rPr>
              <a:t>1</a:t>
            </a:r>
            <a:endParaRPr lang="en-US" sz="1800" dirty="0"/>
          </a:p>
        </p:txBody>
      </p:sp>
      <p:sp>
        <p:nvSpPr>
          <p:cNvPr id="10" name="Text 7"/>
          <p:cNvSpPr/>
          <p:nvPr/>
        </p:nvSpPr>
        <p:spPr>
          <a:xfrm>
            <a:off x="1417320" y="3291840"/>
            <a:ext cx="2377440" cy="713232"/>
          </a:xfrm>
          <a:prstGeom prst="rect">
            <a:avLst/>
          </a:prstGeom>
          <a:noFill/>
          <a:ln/>
        </p:spPr>
        <p:txBody>
          <a:bodyPr wrap="square" lIns="0" tIns="0" rIns="0" bIns="0" rtlCol="0" anchor="ctr"/>
          <a:lstStyle/>
          <a:p>
            <a:pPr indent="0" marL="0">
              <a:buNone/>
            </a:pPr>
            <a:r>
              <a:rPr lang="en-US" sz="1550" b="1" dirty="0">
                <a:solidFill>
                  <a:srgbClr val="0D9488"/>
                </a:solidFill>
                <a:latin typeface="Arial" pitchFamily="34" charset="0"/>
                <a:ea typeface="Arial" pitchFamily="34" charset="-122"/>
                <a:cs typeface="Arial" pitchFamily="34" charset="-120"/>
              </a:rPr>
              <a:t>Write</a:t>
            </a:r>
            <a:endParaRPr lang="en-US" sz="1550" dirty="0"/>
          </a:p>
        </p:txBody>
      </p:sp>
      <p:sp>
        <p:nvSpPr>
          <p:cNvPr id="11" name="Text 8"/>
          <p:cNvSpPr/>
          <p:nvPr/>
        </p:nvSpPr>
        <p:spPr>
          <a:xfrm>
            <a:off x="3931920" y="3291840"/>
            <a:ext cx="7406640" cy="713232"/>
          </a:xfrm>
          <a:prstGeom prst="rect">
            <a:avLst/>
          </a:prstGeom>
          <a:noFill/>
          <a:ln/>
        </p:spPr>
        <p:txBody>
          <a:bodyPr wrap="square" lIns="0" tIns="0" rIns="0" bIns="0" rtlCol="0" anchor="ctr"/>
          <a:lstStyle/>
          <a:p>
            <a:pPr indent="0" marL="0">
              <a:buNone/>
            </a:pPr>
            <a:r>
              <a:rPr lang="en-US" sz="1350" dirty="0">
                <a:solidFill>
                  <a:srgbClr val="1E293B"/>
                </a:solidFill>
                <a:latin typeface="Arial" pitchFamily="34" charset="0"/>
                <a:ea typeface="Arial" pitchFamily="34" charset="-122"/>
                <a:cs typeface="Arial" pitchFamily="34" charset="-120"/>
              </a:rPr>
              <a:t>After a conversation, save the useful bits: facts, decisions, summaries.</a:t>
            </a:r>
            <a:endParaRPr lang="en-US" sz="1350" dirty="0"/>
          </a:p>
        </p:txBody>
      </p:sp>
      <p:sp>
        <p:nvSpPr>
          <p:cNvPr id="12" name="Shape 9"/>
          <p:cNvSpPr/>
          <p:nvPr/>
        </p:nvSpPr>
        <p:spPr>
          <a:xfrm>
            <a:off x="640080" y="4114800"/>
            <a:ext cx="10881360" cy="713232"/>
          </a:xfrm>
          <a:prstGeom prst="roundRect">
            <a:avLst>
              <a:gd name="adj" fmla="val 8974"/>
            </a:avLst>
          </a:prstGeom>
          <a:solidFill>
            <a:srgbClr val="F1F5F9"/>
          </a:solidFill>
          <a:ln/>
          <a:effectLst>
            <a:outerShdw sx="100000" sy="100000" kx="0" ky="0" algn="bl" rotWithShape="0" blurRad="88900" dist="38100" dir="5400000">
              <a:srgbClr val="0F2A33">
                <a:alpha val="16000"/>
              </a:srgbClr>
            </a:outerShdw>
          </a:effectLst>
        </p:spPr>
      </p:sp>
      <p:sp>
        <p:nvSpPr>
          <p:cNvPr id="13" name="Text 10"/>
          <p:cNvSpPr/>
          <p:nvPr/>
        </p:nvSpPr>
        <p:spPr>
          <a:xfrm>
            <a:off x="822960" y="4114800"/>
            <a:ext cx="457200" cy="713232"/>
          </a:xfrm>
          <a:prstGeom prst="rect">
            <a:avLst/>
          </a:prstGeom>
          <a:noFill/>
          <a:ln/>
        </p:spPr>
        <p:txBody>
          <a:bodyPr wrap="square" lIns="0" tIns="0" rIns="0" bIns="0" rtlCol="0" anchor="ctr"/>
          <a:lstStyle/>
          <a:p>
            <a:pPr algn="ctr" indent="0" marL="0">
              <a:buNone/>
            </a:pPr>
            <a:r>
              <a:rPr lang="en-US" sz="1800" b="1" dirty="0">
                <a:solidFill>
                  <a:srgbClr val="F59E0B"/>
                </a:solidFill>
                <a:latin typeface="Arial" pitchFamily="34" charset="0"/>
                <a:ea typeface="Arial" pitchFamily="34" charset="-122"/>
                <a:cs typeface="Arial" pitchFamily="34" charset="-120"/>
              </a:rPr>
              <a:t>2</a:t>
            </a:r>
            <a:endParaRPr lang="en-US" sz="1800" dirty="0"/>
          </a:p>
        </p:txBody>
      </p:sp>
      <p:sp>
        <p:nvSpPr>
          <p:cNvPr id="14" name="Text 11"/>
          <p:cNvSpPr/>
          <p:nvPr/>
        </p:nvSpPr>
        <p:spPr>
          <a:xfrm>
            <a:off x="1417320" y="4114800"/>
            <a:ext cx="2377440" cy="713232"/>
          </a:xfrm>
          <a:prstGeom prst="rect">
            <a:avLst/>
          </a:prstGeom>
          <a:noFill/>
          <a:ln/>
        </p:spPr>
        <p:txBody>
          <a:bodyPr wrap="square" lIns="0" tIns="0" rIns="0" bIns="0" rtlCol="0" anchor="ctr"/>
          <a:lstStyle/>
          <a:p>
            <a:pPr indent="0" marL="0">
              <a:buNone/>
            </a:pPr>
            <a:r>
              <a:rPr lang="en-US" sz="1550" b="1" dirty="0">
                <a:solidFill>
                  <a:srgbClr val="0D9488"/>
                </a:solidFill>
                <a:latin typeface="Arial" pitchFamily="34" charset="0"/>
                <a:ea typeface="Arial" pitchFamily="34" charset="-122"/>
                <a:cs typeface="Arial" pitchFamily="34" charset="-120"/>
              </a:rPr>
              <a:t>Search</a:t>
            </a:r>
            <a:endParaRPr lang="en-US" sz="1550" dirty="0"/>
          </a:p>
        </p:txBody>
      </p:sp>
      <p:sp>
        <p:nvSpPr>
          <p:cNvPr id="15" name="Text 12"/>
          <p:cNvSpPr/>
          <p:nvPr/>
        </p:nvSpPr>
        <p:spPr>
          <a:xfrm>
            <a:off x="3931920" y="4114800"/>
            <a:ext cx="7406640" cy="713232"/>
          </a:xfrm>
          <a:prstGeom prst="rect">
            <a:avLst/>
          </a:prstGeom>
          <a:noFill/>
          <a:ln/>
        </p:spPr>
        <p:txBody>
          <a:bodyPr wrap="square" lIns="0" tIns="0" rIns="0" bIns="0" rtlCol="0" anchor="ctr"/>
          <a:lstStyle/>
          <a:p>
            <a:pPr indent="0" marL="0">
              <a:buNone/>
            </a:pPr>
            <a:r>
              <a:rPr lang="en-US" sz="1350" dirty="0">
                <a:solidFill>
                  <a:srgbClr val="1E293B"/>
                </a:solidFill>
                <a:latin typeface="Arial" pitchFamily="34" charset="0"/>
                <a:ea typeface="Arial" pitchFamily="34" charset="-122"/>
                <a:cs typeface="Arial" pitchFamily="34" charset="-120"/>
              </a:rPr>
              <a:t>On a new question, find the stored pieces most related to it.</a:t>
            </a:r>
            <a:endParaRPr lang="en-US" sz="1350" dirty="0"/>
          </a:p>
        </p:txBody>
      </p:sp>
      <p:sp>
        <p:nvSpPr>
          <p:cNvPr id="16" name="Shape 13"/>
          <p:cNvSpPr/>
          <p:nvPr/>
        </p:nvSpPr>
        <p:spPr>
          <a:xfrm>
            <a:off x="640080" y="4937760"/>
            <a:ext cx="10881360" cy="713232"/>
          </a:xfrm>
          <a:prstGeom prst="roundRect">
            <a:avLst>
              <a:gd name="adj" fmla="val 8974"/>
            </a:avLst>
          </a:prstGeom>
          <a:solidFill>
            <a:srgbClr val="F0FDFA"/>
          </a:solidFill>
          <a:ln/>
          <a:effectLst>
            <a:outerShdw sx="100000" sy="100000" kx="0" ky="0" algn="bl" rotWithShape="0" blurRad="88900" dist="38100" dir="5400000">
              <a:srgbClr val="0F2A33">
                <a:alpha val="16000"/>
              </a:srgbClr>
            </a:outerShdw>
          </a:effectLst>
        </p:spPr>
      </p:sp>
      <p:sp>
        <p:nvSpPr>
          <p:cNvPr id="17" name="Text 14"/>
          <p:cNvSpPr/>
          <p:nvPr/>
        </p:nvSpPr>
        <p:spPr>
          <a:xfrm>
            <a:off x="822960" y="4937760"/>
            <a:ext cx="457200" cy="713232"/>
          </a:xfrm>
          <a:prstGeom prst="rect">
            <a:avLst/>
          </a:prstGeom>
          <a:noFill/>
          <a:ln/>
        </p:spPr>
        <p:txBody>
          <a:bodyPr wrap="square" lIns="0" tIns="0" rIns="0" bIns="0" rtlCol="0" anchor="ctr"/>
          <a:lstStyle/>
          <a:p>
            <a:pPr algn="ctr" indent="0" marL="0">
              <a:buNone/>
            </a:pPr>
            <a:r>
              <a:rPr lang="en-US" sz="1800" b="1" dirty="0">
                <a:solidFill>
                  <a:srgbClr val="F59E0B"/>
                </a:solidFill>
                <a:latin typeface="Arial" pitchFamily="34" charset="0"/>
                <a:ea typeface="Arial" pitchFamily="34" charset="-122"/>
                <a:cs typeface="Arial" pitchFamily="34" charset="-120"/>
              </a:rPr>
              <a:t>3</a:t>
            </a:r>
            <a:endParaRPr lang="en-US" sz="1800" dirty="0"/>
          </a:p>
        </p:txBody>
      </p:sp>
      <p:sp>
        <p:nvSpPr>
          <p:cNvPr id="18" name="Text 15"/>
          <p:cNvSpPr/>
          <p:nvPr/>
        </p:nvSpPr>
        <p:spPr>
          <a:xfrm>
            <a:off x="1417320" y="4937760"/>
            <a:ext cx="2377440" cy="713232"/>
          </a:xfrm>
          <a:prstGeom prst="rect">
            <a:avLst/>
          </a:prstGeom>
          <a:noFill/>
          <a:ln/>
        </p:spPr>
        <p:txBody>
          <a:bodyPr wrap="square" lIns="0" tIns="0" rIns="0" bIns="0" rtlCol="0" anchor="ctr"/>
          <a:lstStyle/>
          <a:p>
            <a:pPr indent="0" marL="0">
              <a:buNone/>
            </a:pPr>
            <a:r>
              <a:rPr lang="en-US" sz="1550" b="1" dirty="0">
                <a:solidFill>
                  <a:srgbClr val="0D9488"/>
                </a:solidFill>
                <a:latin typeface="Arial" pitchFamily="34" charset="0"/>
                <a:ea typeface="Arial" pitchFamily="34" charset="-122"/>
                <a:cs typeface="Arial" pitchFamily="34" charset="-120"/>
              </a:rPr>
              <a:t>Recall</a:t>
            </a:r>
            <a:endParaRPr lang="en-US" sz="1550" dirty="0"/>
          </a:p>
        </p:txBody>
      </p:sp>
      <p:sp>
        <p:nvSpPr>
          <p:cNvPr id="19" name="Text 16"/>
          <p:cNvSpPr/>
          <p:nvPr/>
        </p:nvSpPr>
        <p:spPr>
          <a:xfrm>
            <a:off x="3931920" y="4937760"/>
            <a:ext cx="7406640" cy="713232"/>
          </a:xfrm>
          <a:prstGeom prst="rect">
            <a:avLst/>
          </a:prstGeom>
          <a:noFill/>
          <a:ln/>
        </p:spPr>
        <p:txBody>
          <a:bodyPr wrap="square" lIns="0" tIns="0" rIns="0" bIns="0" rtlCol="0" anchor="ctr"/>
          <a:lstStyle/>
          <a:p>
            <a:pPr indent="0" marL="0">
              <a:buNone/>
            </a:pPr>
            <a:r>
              <a:rPr lang="en-US" sz="1350" dirty="0">
                <a:solidFill>
                  <a:srgbClr val="1E293B"/>
                </a:solidFill>
                <a:latin typeface="Arial" pitchFamily="34" charset="0"/>
                <a:ea typeface="Arial" pitchFamily="34" charset="-122"/>
                <a:cs typeface="Arial" pitchFamily="34" charset="-120"/>
              </a:rPr>
              <a:t>Put those pieces into the prompt, so the agent appears to remember.</a:t>
            </a:r>
            <a:endParaRPr lang="en-US" sz="1350" dirty="0"/>
          </a:p>
        </p:txBody>
      </p:sp>
      <p:sp>
        <p:nvSpPr>
          <p:cNvPr id="20" name="Text 17"/>
          <p:cNvSpPr/>
          <p:nvPr/>
        </p:nvSpPr>
        <p:spPr>
          <a:xfrm>
            <a:off x="640080" y="5532120"/>
            <a:ext cx="10881360" cy="365760"/>
          </a:xfrm>
          <a:prstGeom prst="rect">
            <a:avLst/>
          </a:prstGeom>
          <a:noFill/>
          <a:ln/>
        </p:spPr>
        <p:txBody>
          <a:bodyPr wrap="square" rtlCol="0" anchor="ctr"/>
          <a:lstStyle/>
          <a:p>
            <a:pPr indent="0" marL="0">
              <a:buNone/>
            </a:pPr>
            <a:r>
              <a:rPr lang="en-US" sz="1400" i="1" dirty="0">
                <a:solidFill>
                  <a:srgbClr val="0D9488"/>
                </a:solidFill>
                <a:latin typeface="Arial" pitchFamily="34" charset="0"/>
                <a:ea typeface="Arial" pitchFamily="34" charset="-122"/>
                <a:cs typeface="Arial" pitchFamily="34" charset="-120"/>
              </a:rPr>
              <a:t>That search-and-recall step is exactly retrieval. Long-term memory is RAG over your own history.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MEMORY  -  TAKEAWAYS</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Memory is something you design, not something you get</a:t>
            </a:r>
            <a:endParaRPr lang="en-US" sz="3000" dirty="0"/>
          </a:p>
        </p:txBody>
      </p:sp>
      <p:sp>
        <p:nvSpPr>
          <p:cNvPr id="4" name="Shape 2"/>
          <p:cNvSpPr/>
          <p:nvPr/>
        </p:nvSpPr>
        <p:spPr>
          <a:xfrm>
            <a:off x="640080" y="1828800"/>
            <a:ext cx="5349240" cy="3383280"/>
          </a:xfrm>
          <a:prstGeom prst="roundRect">
            <a:avLst>
              <a:gd name="adj" fmla="val 2432"/>
            </a:avLst>
          </a:prstGeom>
          <a:solidFill>
            <a:srgbClr val="F0FDFA"/>
          </a:solidFill>
          <a:ln/>
          <a:effectLst>
            <a:outerShdw sx="100000" sy="100000" kx="0" ky="0" algn="bl" rotWithShape="0" blurRad="88900" dist="38100" dir="5400000">
              <a:srgbClr val="0F2A33">
                <a:alpha val="16000"/>
              </a:srgbClr>
            </a:outerShdw>
          </a:effectLst>
        </p:spPr>
      </p:sp>
      <p:sp>
        <p:nvSpPr>
          <p:cNvPr id="5" name="Shape 3"/>
          <p:cNvSpPr/>
          <p:nvPr/>
        </p:nvSpPr>
        <p:spPr>
          <a:xfrm>
            <a:off x="868680" y="2057400"/>
            <a:ext cx="548640" cy="5486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011326" y="2200046"/>
            <a:ext cx="263347" cy="263347"/>
          </a:xfrm>
          <a:prstGeom prst="rect">
            <a:avLst/>
          </a:prstGeom>
        </p:spPr>
      </p:pic>
      <p:sp>
        <p:nvSpPr>
          <p:cNvPr id="7" name="Text 4"/>
          <p:cNvSpPr/>
          <p:nvPr/>
        </p:nvSpPr>
        <p:spPr>
          <a:xfrm>
            <a:off x="1554480" y="2121408"/>
            <a:ext cx="4297680" cy="411480"/>
          </a:xfrm>
          <a:prstGeom prst="rect">
            <a:avLst/>
          </a:prstGeom>
          <a:noFill/>
          <a:ln/>
        </p:spPr>
        <p:txBody>
          <a:bodyPr wrap="square" lIns="0" tIns="0" rIns="0" bIns="0" rtlCol="0" anchor="ctr"/>
          <a:lstStyle/>
          <a:p>
            <a:pPr indent="0" marL="0">
              <a:buNone/>
            </a:pPr>
            <a:r>
              <a:rPr lang="en-US" sz="1700" b="1" dirty="0">
                <a:solidFill>
                  <a:srgbClr val="0D9488"/>
                </a:solidFill>
                <a:latin typeface="Arial" pitchFamily="34" charset="0"/>
                <a:ea typeface="Arial" pitchFamily="34" charset="-122"/>
                <a:cs typeface="Arial" pitchFamily="34" charset="-120"/>
              </a:rPr>
              <a:t>Do</a:t>
            </a:r>
            <a:endParaRPr lang="en-US" sz="1700" dirty="0"/>
          </a:p>
        </p:txBody>
      </p:sp>
      <p:sp>
        <p:nvSpPr>
          <p:cNvPr id="8" name="Text 5"/>
          <p:cNvSpPr/>
          <p:nvPr/>
        </p:nvSpPr>
        <p:spPr>
          <a:xfrm>
            <a:off x="914400" y="2743200"/>
            <a:ext cx="4846320" cy="2286000"/>
          </a:xfrm>
          <a:prstGeom prst="rect">
            <a:avLst/>
          </a:prstGeom>
          <a:noFill/>
          <a:ln/>
        </p:spPr>
        <p:txBody>
          <a:bodyPr wrap="square" lIns="0" tIns="0" rIns="0" bIns="0" rtlCol="0" anchor="ctr"/>
          <a:lstStyle/>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Append history for short-term memory</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Cap the window: drop or summarize old turns</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Pin durable facts so they are never lost</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Store to disk and retrieve for long-term memory</a:t>
            </a:r>
            <a:endParaRPr lang="en-US" sz="1350" dirty="0"/>
          </a:p>
        </p:txBody>
      </p:sp>
      <p:sp>
        <p:nvSpPr>
          <p:cNvPr id="9" name="Shape 6"/>
          <p:cNvSpPr/>
          <p:nvPr/>
        </p:nvSpPr>
        <p:spPr>
          <a:xfrm>
            <a:off x="6172200" y="1828800"/>
            <a:ext cx="5349240" cy="3383280"/>
          </a:xfrm>
          <a:prstGeom prst="roundRect">
            <a:avLst>
              <a:gd name="adj" fmla="val 2432"/>
            </a:avLst>
          </a:prstGeom>
          <a:solidFill>
            <a:srgbClr val="F1F5F9"/>
          </a:solidFill>
          <a:ln/>
          <a:effectLst>
            <a:outerShdw sx="100000" sy="100000" kx="0" ky="0" algn="bl" rotWithShape="0" blurRad="88900" dist="38100" dir="5400000">
              <a:srgbClr val="0F2A33">
                <a:alpha val="16000"/>
              </a:srgbClr>
            </a:outerShdw>
          </a:effectLst>
        </p:spPr>
      </p:sp>
      <p:sp>
        <p:nvSpPr>
          <p:cNvPr id="10" name="Shape 7"/>
          <p:cNvSpPr/>
          <p:nvPr/>
        </p:nvSpPr>
        <p:spPr>
          <a:xfrm>
            <a:off x="6400800" y="2057400"/>
            <a:ext cx="548640" cy="548640"/>
          </a:xfrm>
          <a:prstGeom prst="ellipse">
            <a:avLst/>
          </a:prstGeom>
          <a:solidFill>
            <a:srgbClr val="0F2A33"/>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6543446" y="2200046"/>
            <a:ext cx="263347" cy="263347"/>
          </a:xfrm>
          <a:prstGeom prst="rect">
            <a:avLst/>
          </a:prstGeom>
        </p:spPr>
      </p:pic>
      <p:sp>
        <p:nvSpPr>
          <p:cNvPr id="12" name="Text 8"/>
          <p:cNvSpPr/>
          <p:nvPr/>
        </p:nvSpPr>
        <p:spPr>
          <a:xfrm>
            <a:off x="7086600" y="2121408"/>
            <a:ext cx="4297680" cy="411480"/>
          </a:xfrm>
          <a:prstGeom prst="rect">
            <a:avLst/>
          </a:prstGeom>
          <a:noFill/>
          <a:ln/>
        </p:spPr>
        <p:txBody>
          <a:bodyPr wrap="square" lIns="0" tIns="0" rIns="0" bIns="0" rtlCol="0" anchor="ctr"/>
          <a:lstStyle/>
          <a:p>
            <a:pPr indent="0" marL="0">
              <a:buNone/>
            </a:pPr>
            <a:r>
              <a:rPr lang="en-US" sz="1700" b="1" dirty="0">
                <a:solidFill>
                  <a:srgbClr val="1E293B"/>
                </a:solidFill>
                <a:latin typeface="Arial" pitchFamily="34" charset="0"/>
                <a:ea typeface="Arial" pitchFamily="34" charset="-122"/>
                <a:cs typeface="Arial" pitchFamily="34" charset="-120"/>
              </a:rPr>
              <a:t>Watch out for</a:t>
            </a:r>
            <a:endParaRPr lang="en-US" sz="1700" dirty="0"/>
          </a:p>
        </p:txBody>
      </p:sp>
      <p:sp>
        <p:nvSpPr>
          <p:cNvPr id="13" name="Text 9"/>
          <p:cNvSpPr/>
          <p:nvPr/>
        </p:nvSpPr>
        <p:spPr>
          <a:xfrm>
            <a:off x="6446520" y="2743200"/>
            <a:ext cx="4846320" cy="2286000"/>
          </a:xfrm>
          <a:prstGeom prst="rect">
            <a:avLst/>
          </a:prstGeom>
          <a:noFill/>
          <a:ln/>
        </p:spPr>
        <p:txBody>
          <a:bodyPr wrap="square" lIns="0" tIns="0" rIns="0" bIns="0" rtlCol="0" anchor="ctr"/>
          <a:lstStyle/>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Appending forever until the window overflows</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Summaries that quietly drop important details</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Cost: long histories mean big, slow prompts</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Storing sensitive data without care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A33"/>
        </a:solidFill>
      </p:bgPr>
    </p:bg>
    <p:spTree>
      <p:nvGrpSpPr>
        <p:cNvPr id="1" name=""/>
        <p:cNvGrpSpPr/>
        <p:nvPr/>
      </p:nvGrpSpPr>
      <p:grpSpPr>
        <a:xfrm>
          <a:off x="0" y="0"/>
          <a:ext cx="0" cy="0"/>
          <a:chOff x="0" y="0"/>
          <a:chExt cx="0" cy="0"/>
        </a:xfrm>
      </p:grpSpPr>
      <p:sp>
        <p:nvSpPr>
          <p:cNvPr id="2" name="Shape 0"/>
          <p:cNvSpPr/>
          <p:nvPr/>
        </p:nvSpPr>
        <p:spPr>
          <a:xfrm>
            <a:off x="9509760" y="-1463040"/>
            <a:ext cx="4572000" cy="4572000"/>
          </a:xfrm>
          <a:prstGeom prst="ellipse">
            <a:avLst/>
          </a:prstGeom>
          <a:solidFill>
            <a:srgbClr val="13343B"/>
          </a:solidFill>
          <a:ln/>
        </p:spPr>
      </p:sp>
      <p:sp>
        <p:nvSpPr>
          <p:cNvPr id="3" name="Shape 1"/>
          <p:cNvSpPr/>
          <p:nvPr/>
        </p:nvSpPr>
        <p:spPr>
          <a:xfrm>
            <a:off x="10607040" y="4206240"/>
            <a:ext cx="3840480" cy="3840480"/>
          </a:xfrm>
          <a:prstGeom prst="ellipse">
            <a:avLst/>
          </a:prstGeom>
          <a:solidFill>
            <a:srgbClr val="13343B"/>
          </a:solidFill>
          <a:ln/>
        </p:spPr>
      </p:sp>
      <p:sp>
        <p:nvSpPr>
          <p:cNvPr id="4" name="Text 2"/>
          <p:cNvSpPr/>
          <p:nvPr/>
        </p:nvSpPr>
        <p:spPr>
          <a:xfrm>
            <a:off x="822960" y="2240280"/>
            <a:ext cx="8229600" cy="365760"/>
          </a:xfrm>
          <a:prstGeom prst="rect">
            <a:avLst/>
          </a:prstGeom>
          <a:noFill/>
          <a:ln/>
        </p:spPr>
        <p:txBody>
          <a:bodyPr wrap="square" rtlCol="0" anchor="ctr"/>
          <a:lstStyle/>
          <a:p>
            <a:pPr indent="0" marL="0">
              <a:buNone/>
            </a:pPr>
            <a:r>
              <a:rPr lang="en-US" sz="1500" b="1" spc="400" kern="0" dirty="0">
                <a:solidFill>
                  <a:srgbClr val="F59E0B"/>
                </a:solidFill>
                <a:latin typeface="Arial" pitchFamily="34" charset="0"/>
                <a:ea typeface="Arial" pitchFamily="34" charset="-122"/>
                <a:cs typeface="Arial" pitchFamily="34" charset="-120"/>
              </a:rPr>
              <a:t>PART 2  -  CHAPTER 14</a:t>
            </a:r>
            <a:endParaRPr lang="en-US" sz="1500" dirty="0"/>
          </a:p>
        </p:txBody>
      </p:sp>
      <p:sp>
        <p:nvSpPr>
          <p:cNvPr id="5" name="Text 3"/>
          <p:cNvSpPr/>
          <p:nvPr/>
        </p:nvSpPr>
        <p:spPr>
          <a:xfrm>
            <a:off x="777240" y="2606040"/>
            <a:ext cx="10058400" cy="1371600"/>
          </a:xfrm>
          <a:prstGeom prst="rect">
            <a:avLst/>
          </a:prstGeom>
          <a:noFill/>
          <a:ln/>
        </p:spPr>
        <p:txBody>
          <a:bodyPr wrap="square" rtlCol="0" anchor="ctr"/>
          <a:lstStyle/>
          <a:p>
            <a:pPr indent="0" marL="0">
              <a:buNone/>
            </a:pPr>
            <a:r>
              <a:rPr lang="en-US" sz="4600" b="1" dirty="0">
                <a:solidFill>
                  <a:srgbClr val="FFFFFF"/>
                </a:solidFill>
                <a:latin typeface="Arial" pitchFamily="34" charset="0"/>
                <a:ea typeface="Arial" pitchFamily="34" charset="-122"/>
                <a:cs typeface="Arial" pitchFamily="34" charset="-120"/>
              </a:rPr>
              <a:t>Knowledge Retrieval (RAG)</a:t>
            </a:r>
            <a:endParaRPr lang="en-US" sz="4600" dirty="0"/>
          </a:p>
        </p:txBody>
      </p:sp>
      <p:sp>
        <p:nvSpPr>
          <p:cNvPr id="6" name="Text 4"/>
          <p:cNvSpPr/>
          <p:nvPr/>
        </p:nvSpPr>
        <p:spPr>
          <a:xfrm>
            <a:off x="822960" y="3977640"/>
            <a:ext cx="10058400" cy="457200"/>
          </a:xfrm>
          <a:prstGeom prst="rect">
            <a:avLst/>
          </a:prstGeom>
          <a:noFill/>
          <a:ln/>
        </p:spPr>
        <p:txBody>
          <a:bodyPr wrap="square" rtlCol="0" anchor="ctr"/>
          <a:lstStyle/>
          <a:p>
            <a:pPr indent="0" marL="0">
              <a:buNone/>
            </a:pPr>
            <a:r>
              <a:rPr lang="en-US" sz="1600" i="1" dirty="0">
                <a:solidFill>
                  <a:srgbClr val="5EEAD4"/>
                </a:solidFill>
                <a:latin typeface="Arial" pitchFamily="34" charset="0"/>
                <a:ea typeface="Arial" pitchFamily="34" charset="-122"/>
                <a:cs typeface="Arial" pitchFamily="34" charset="-120"/>
              </a:rPr>
              <a:t>Look up real knowledge, then answer from it</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THE PROBLEM</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The model does not know your world</a:t>
            </a:r>
            <a:endParaRPr lang="en-US" sz="3000" dirty="0"/>
          </a:p>
        </p:txBody>
      </p:sp>
      <p:sp>
        <p:nvSpPr>
          <p:cNvPr id="4" name="Shape 2"/>
          <p:cNvSpPr/>
          <p:nvPr/>
        </p:nvSpPr>
        <p:spPr>
          <a:xfrm>
            <a:off x="640080" y="1828800"/>
            <a:ext cx="3520440" cy="2331720"/>
          </a:xfrm>
          <a:prstGeom prst="roundRect">
            <a:avLst>
              <a:gd name="adj" fmla="val 3529"/>
            </a:avLst>
          </a:prstGeom>
          <a:solidFill>
            <a:srgbClr val="F1F5F9"/>
          </a:solidFill>
          <a:ln/>
          <a:effectLst>
            <a:outerShdw sx="100000" sy="100000" kx="0" ky="0" algn="bl" rotWithShape="0" blurRad="88900" dist="38100" dir="5400000">
              <a:srgbClr val="0F2A33">
                <a:alpha val="16000"/>
              </a:srgbClr>
            </a:outerShdw>
          </a:effectLst>
        </p:spPr>
      </p:sp>
      <p:sp>
        <p:nvSpPr>
          <p:cNvPr id="5" name="Shape 3"/>
          <p:cNvSpPr/>
          <p:nvPr/>
        </p:nvSpPr>
        <p:spPr>
          <a:xfrm>
            <a:off x="914400" y="2103120"/>
            <a:ext cx="731520" cy="731520"/>
          </a:xfrm>
          <a:prstGeom prst="ellipse">
            <a:avLst/>
          </a:prstGeom>
          <a:solidFill>
            <a:srgbClr val="0F2A33"/>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04595" y="2293315"/>
            <a:ext cx="351130" cy="351130"/>
          </a:xfrm>
          <a:prstGeom prst="rect">
            <a:avLst/>
          </a:prstGeom>
        </p:spPr>
      </p:pic>
      <p:sp>
        <p:nvSpPr>
          <p:cNvPr id="7" name="Text 4"/>
          <p:cNvSpPr/>
          <p:nvPr/>
        </p:nvSpPr>
        <p:spPr>
          <a:xfrm>
            <a:off x="1828800" y="2240280"/>
            <a:ext cx="2194560" cy="54864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Private data</a:t>
            </a:r>
            <a:endParaRPr lang="en-US" sz="1600" dirty="0"/>
          </a:p>
        </p:txBody>
      </p:sp>
      <p:sp>
        <p:nvSpPr>
          <p:cNvPr id="8" name="Text 5"/>
          <p:cNvSpPr/>
          <p:nvPr/>
        </p:nvSpPr>
        <p:spPr>
          <a:xfrm>
            <a:off x="914400" y="3017520"/>
            <a:ext cx="3017520" cy="10058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It has never seen your company docs, your notes, or your database.</a:t>
            </a:r>
            <a:endParaRPr lang="en-US" sz="1300" dirty="0"/>
          </a:p>
        </p:txBody>
      </p:sp>
      <p:sp>
        <p:nvSpPr>
          <p:cNvPr id="9" name="Shape 6"/>
          <p:cNvSpPr/>
          <p:nvPr/>
        </p:nvSpPr>
        <p:spPr>
          <a:xfrm>
            <a:off x="4297680" y="1828800"/>
            <a:ext cx="3520440" cy="2331720"/>
          </a:xfrm>
          <a:prstGeom prst="roundRect">
            <a:avLst>
              <a:gd name="adj" fmla="val 3529"/>
            </a:avLst>
          </a:prstGeom>
          <a:solidFill>
            <a:srgbClr val="F1F5F9"/>
          </a:solidFill>
          <a:ln/>
          <a:effectLst>
            <a:outerShdw sx="100000" sy="100000" kx="0" ky="0" algn="bl" rotWithShape="0" blurRad="88900" dist="38100" dir="5400000">
              <a:srgbClr val="0F2A33">
                <a:alpha val="16000"/>
              </a:srgbClr>
            </a:outerShdw>
          </a:effectLst>
        </p:spPr>
      </p:sp>
      <p:sp>
        <p:nvSpPr>
          <p:cNvPr id="10" name="Shape 7"/>
          <p:cNvSpPr/>
          <p:nvPr/>
        </p:nvSpPr>
        <p:spPr>
          <a:xfrm>
            <a:off x="4572000" y="2103120"/>
            <a:ext cx="731520" cy="731520"/>
          </a:xfrm>
          <a:prstGeom prst="ellipse">
            <a:avLst/>
          </a:prstGeom>
          <a:solidFill>
            <a:srgbClr val="0F2A33"/>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4762195" y="2293315"/>
            <a:ext cx="351130" cy="351130"/>
          </a:xfrm>
          <a:prstGeom prst="rect">
            <a:avLst/>
          </a:prstGeom>
        </p:spPr>
      </p:pic>
      <p:sp>
        <p:nvSpPr>
          <p:cNvPr id="12" name="Text 8"/>
          <p:cNvSpPr/>
          <p:nvPr/>
        </p:nvSpPr>
        <p:spPr>
          <a:xfrm>
            <a:off x="5486400" y="2240280"/>
            <a:ext cx="2194560" cy="54864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Recent data</a:t>
            </a:r>
            <a:endParaRPr lang="en-US" sz="1600" dirty="0"/>
          </a:p>
        </p:txBody>
      </p:sp>
      <p:sp>
        <p:nvSpPr>
          <p:cNvPr id="13" name="Text 9"/>
          <p:cNvSpPr/>
          <p:nvPr/>
        </p:nvSpPr>
        <p:spPr>
          <a:xfrm>
            <a:off x="4572000" y="3017520"/>
            <a:ext cx="3017520" cy="10058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Its training has a cutoff. It does not know what happened since.</a:t>
            </a:r>
            <a:endParaRPr lang="en-US" sz="1300" dirty="0"/>
          </a:p>
        </p:txBody>
      </p:sp>
      <p:sp>
        <p:nvSpPr>
          <p:cNvPr id="14" name="Shape 10"/>
          <p:cNvSpPr/>
          <p:nvPr/>
        </p:nvSpPr>
        <p:spPr>
          <a:xfrm>
            <a:off x="7955280" y="1828800"/>
            <a:ext cx="3520440" cy="2331720"/>
          </a:xfrm>
          <a:prstGeom prst="roundRect">
            <a:avLst>
              <a:gd name="adj" fmla="val 3529"/>
            </a:avLst>
          </a:prstGeom>
          <a:solidFill>
            <a:srgbClr val="F1F5F9"/>
          </a:solidFill>
          <a:ln/>
          <a:effectLst>
            <a:outerShdw sx="100000" sy="100000" kx="0" ky="0" algn="bl" rotWithShape="0" blurRad="88900" dist="38100" dir="5400000">
              <a:srgbClr val="0F2A33">
                <a:alpha val="16000"/>
              </a:srgbClr>
            </a:outerShdw>
          </a:effectLst>
        </p:spPr>
      </p:sp>
      <p:sp>
        <p:nvSpPr>
          <p:cNvPr id="15" name="Shape 11"/>
          <p:cNvSpPr/>
          <p:nvPr/>
        </p:nvSpPr>
        <p:spPr>
          <a:xfrm>
            <a:off x="8229600" y="2103120"/>
            <a:ext cx="731520" cy="731520"/>
          </a:xfrm>
          <a:prstGeom prst="ellipse">
            <a:avLst/>
          </a:prstGeom>
          <a:solidFill>
            <a:srgbClr val="0F2A33"/>
          </a:solidFill>
          <a:ln/>
          <a:effectLst>
            <a:outerShdw sx="100000" sy="100000" kx="0" ky="0" algn="bl" rotWithShape="0" blurRad="88900" dist="38100" dir="5400000">
              <a:srgbClr val="0F2A33">
                <a:alpha val="16000"/>
              </a:srgbClr>
            </a:outerShdw>
          </a:effectLst>
        </p:spPr>
      </p:sp>
      <p:pic>
        <p:nvPicPr>
          <p:cNvPr id="16" name="Image 2" descr="preencoded.png">    </p:cNvPr>
          <p:cNvPicPr>
            <a:picLocks noChangeAspect="1"/>
          </p:cNvPicPr>
          <p:nvPr/>
        </p:nvPicPr>
        <p:blipFill>
          <a:blip r:embed="rId3"/>
          <a:stretch>
            <a:fillRect/>
          </a:stretch>
        </p:blipFill>
        <p:spPr>
          <a:xfrm>
            <a:off x="8419795" y="2293315"/>
            <a:ext cx="351130" cy="351130"/>
          </a:xfrm>
          <a:prstGeom prst="rect">
            <a:avLst/>
          </a:prstGeom>
        </p:spPr>
      </p:pic>
      <p:sp>
        <p:nvSpPr>
          <p:cNvPr id="17" name="Text 12"/>
          <p:cNvSpPr/>
          <p:nvPr/>
        </p:nvSpPr>
        <p:spPr>
          <a:xfrm>
            <a:off x="9144000" y="2240280"/>
            <a:ext cx="2194560" cy="54864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It hides this</a:t>
            </a:r>
            <a:endParaRPr lang="en-US" sz="1600" dirty="0"/>
          </a:p>
        </p:txBody>
      </p:sp>
      <p:sp>
        <p:nvSpPr>
          <p:cNvPr id="18" name="Text 13"/>
          <p:cNvSpPr/>
          <p:nvPr/>
        </p:nvSpPr>
        <p:spPr>
          <a:xfrm>
            <a:off x="8229600" y="3017520"/>
            <a:ext cx="3017520" cy="10058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Asked anyway, it often makes up a confident, wrong answer.</a:t>
            </a:r>
            <a:endParaRPr lang="en-US" sz="1300" dirty="0"/>
          </a:p>
        </p:txBody>
      </p:sp>
      <p:sp>
        <p:nvSpPr>
          <p:cNvPr id="19" name="Shape 14"/>
          <p:cNvSpPr/>
          <p:nvPr/>
        </p:nvSpPr>
        <p:spPr>
          <a:xfrm>
            <a:off x="640080" y="4434840"/>
            <a:ext cx="10881360" cy="1051560"/>
          </a:xfrm>
          <a:prstGeom prst="roundRect">
            <a:avLst>
              <a:gd name="adj" fmla="val 8696"/>
            </a:avLst>
          </a:prstGeom>
          <a:solidFill>
            <a:srgbClr val="0F2A33"/>
          </a:solidFill>
          <a:ln/>
          <a:effectLst>
            <a:outerShdw sx="100000" sy="100000" kx="0" ky="0" algn="bl" rotWithShape="0" blurRad="88900" dist="38100" dir="5400000">
              <a:srgbClr val="0F2A33">
                <a:alpha val="16000"/>
              </a:srgbClr>
            </a:outerShdw>
          </a:effectLst>
        </p:spPr>
      </p:sp>
      <p:sp>
        <p:nvSpPr>
          <p:cNvPr id="20" name="Shape 15"/>
          <p:cNvSpPr/>
          <p:nvPr/>
        </p:nvSpPr>
        <p:spPr>
          <a:xfrm>
            <a:off x="914400" y="4663440"/>
            <a:ext cx="594360" cy="59436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21" name="Image 3" descr="preencoded.png">    </p:cNvPr>
          <p:cNvPicPr>
            <a:picLocks noChangeAspect="1"/>
          </p:cNvPicPr>
          <p:nvPr/>
        </p:nvPicPr>
        <p:blipFill>
          <a:blip r:embed="rId4"/>
          <a:stretch>
            <a:fillRect/>
          </a:stretch>
        </p:blipFill>
        <p:spPr>
          <a:xfrm>
            <a:off x="1068934" y="4817974"/>
            <a:ext cx="285293" cy="285293"/>
          </a:xfrm>
          <a:prstGeom prst="rect">
            <a:avLst/>
          </a:prstGeom>
        </p:spPr>
      </p:pic>
      <p:sp>
        <p:nvSpPr>
          <p:cNvPr id="22" name="Text 16"/>
          <p:cNvSpPr/>
          <p:nvPr/>
        </p:nvSpPr>
        <p:spPr>
          <a:xfrm>
            <a:off x="1737360" y="4526280"/>
            <a:ext cx="9509760" cy="868680"/>
          </a:xfrm>
          <a:prstGeom prst="rect">
            <a:avLst/>
          </a:prstGeom>
          <a:noFill/>
          <a:ln/>
        </p:spPr>
        <p:txBody>
          <a:bodyPr wrap="square" lIns="0" tIns="0" rIns="0" bIns="0" rtlCol="0" anchor="ctr"/>
          <a:lstStyle/>
          <a:p>
            <a:pPr indent="0" marL="0">
              <a:buNone/>
            </a:pPr>
            <a:r>
              <a:rPr lang="en-US" sz="1450" b="1" dirty="0">
                <a:solidFill>
                  <a:srgbClr val="5EEAD4"/>
                </a:solidFill>
                <a:latin typeface="Arial" pitchFamily="34" charset="0"/>
                <a:ea typeface="Arial" pitchFamily="34" charset="-122"/>
                <a:cs typeface="Arial" pitchFamily="34" charset="-120"/>
              </a:rPr>
              <a:t>The fix is not to retrain the model. </a:t>
            </a:r>
            <a:pPr indent="0" marL="0">
              <a:buNone/>
            </a:pPr>
            <a:r>
              <a:rPr lang="en-US" sz="1450" dirty="0">
                <a:solidFill>
                  <a:srgbClr val="FFFFFF"/>
                </a:solidFill>
                <a:latin typeface="Arial" pitchFamily="34" charset="0"/>
                <a:ea typeface="Arial" pitchFamily="34" charset="-122"/>
                <a:cs typeface="Arial" pitchFamily="34" charset="-120"/>
              </a:rPr>
              <a:t>It is to find the relevant text and hand it to the model in the prompt, so it answers from real sources.</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THE IDEA</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Retrieve first, then answer from what you found</a:t>
            </a:r>
            <a:endParaRPr lang="en-US" sz="3000" dirty="0"/>
          </a:p>
        </p:txBody>
      </p:sp>
      <p:sp>
        <p:nvSpPr>
          <p:cNvPr id="4" name="Shape 2"/>
          <p:cNvSpPr/>
          <p:nvPr/>
        </p:nvSpPr>
        <p:spPr>
          <a:xfrm>
            <a:off x="640080" y="1783080"/>
            <a:ext cx="10881360" cy="1280160"/>
          </a:xfrm>
          <a:prstGeom prst="roundRect">
            <a:avLst>
              <a:gd name="adj" fmla="val 6429"/>
            </a:avLst>
          </a:prstGeom>
          <a:solidFill>
            <a:srgbClr val="0F2A33"/>
          </a:solidFill>
          <a:ln/>
          <a:effectLst>
            <a:outerShdw sx="100000" sy="100000" kx="0" ky="0" algn="bl" rotWithShape="0" blurRad="88900" dist="38100" dir="5400000">
              <a:srgbClr val="0F2A33">
                <a:alpha val="16000"/>
              </a:srgbClr>
            </a:outerShdw>
          </a:effectLst>
        </p:spPr>
      </p:sp>
      <p:sp>
        <p:nvSpPr>
          <p:cNvPr id="5" name="Shape 3"/>
          <p:cNvSpPr/>
          <p:nvPr/>
        </p:nvSpPr>
        <p:spPr>
          <a:xfrm>
            <a:off x="914400" y="2011680"/>
            <a:ext cx="822960" cy="82296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28370" y="2225650"/>
            <a:ext cx="395021" cy="395021"/>
          </a:xfrm>
          <a:prstGeom prst="rect">
            <a:avLst/>
          </a:prstGeom>
        </p:spPr>
      </p:pic>
      <p:sp>
        <p:nvSpPr>
          <p:cNvPr id="7" name="Text 4"/>
          <p:cNvSpPr/>
          <p:nvPr/>
        </p:nvSpPr>
        <p:spPr>
          <a:xfrm>
            <a:off x="1965960" y="1874520"/>
            <a:ext cx="9326880" cy="1143000"/>
          </a:xfrm>
          <a:prstGeom prst="rect">
            <a:avLst/>
          </a:prstGeom>
          <a:noFill/>
          <a:ln/>
        </p:spPr>
        <p:txBody>
          <a:bodyPr wrap="square" lIns="0" tIns="0" rIns="0" bIns="0" rtlCol="0" anchor="ctr"/>
          <a:lstStyle/>
          <a:p>
            <a:pPr indent="0" marL="0">
              <a:buNone/>
            </a:pPr>
            <a:r>
              <a:rPr lang="en-US" sz="1600" b="1" dirty="0">
                <a:solidFill>
                  <a:srgbClr val="5EEAD4"/>
                </a:solidFill>
                <a:latin typeface="Arial" pitchFamily="34" charset="0"/>
                <a:ea typeface="Arial" pitchFamily="34" charset="-122"/>
                <a:cs typeface="Arial" pitchFamily="34" charset="-120"/>
              </a:rPr>
              <a:t>RAG = Retrieval-Augmented Generation. </a:t>
            </a:r>
            <a:pPr indent="0" marL="0">
              <a:buNone/>
            </a:pPr>
            <a:r>
              <a:rPr lang="en-US" sz="1600" dirty="0">
                <a:solidFill>
                  <a:srgbClr val="FFFFFF"/>
                </a:solidFill>
                <a:latin typeface="Arial" pitchFamily="34" charset="0"/>
                <a:ea typeface="Arial" pitchFamily="34" charset="-122"/>
                <a:cs typeface="Arial" pitchFamily="34" charset="-120"/>
              </a:rPr>
              <a:t>Before answering, search your documents for the most relevant pieces, paste them into the prompt, and tell the model to answer using only that text.</a:t>
            </a:r>
            <a:endParaRPr lang="en-US" sz="1600" dirty="0"/>
          </a:p>
        </p:txBody>
      </p:sp>
      <p:sp>
        <p:nvSpPr>
          <p:cNvPr id="8" name="Shape 5"/>
          <p:cNvSpPr/>
          <p:nvPr/>
        </p:nvSpPr>
        <p:spPr>
          <a:xfrm>
            <a:off x="640080" y="3337560"/>
            <a:ext cx="3520440" cy="2148840"/>
          </a:xfrm>
          <a:prstGeom prst="roundRect">
            <a:avLst>
              <a:gd name="adj" fmla="val 3830"/>
            </a:avLst>
          </a:prstGeom>
          <a:solidFill>
            <a:srgbClr val="F0FDFA"/>
          </a:solidFill>
          <a:ln/>
          <a:effectLst>
            <a:outerShdw sx="100000" sy="100000" kx="0" ky="0" algn="bl" rotWithShape="0" blurRad="88900" dist="38100" dir="5400000">
              <a:srgbClr val="0F2A33">
                <a:alpha val="16000"/>
              </a:srgbClr>
            </a:outerShdw>
          </a:effectLst>
        </p:spPr>
      </p:sp>
      <p:sp>
        <p:nvSpPr>
          <p:cNvPr id="9" name="Shape 6"/>
          <p:cNvSpPr/>
          <p:nvPr/>
        </p:nvSpPr>
        <p:spPr>
          <a:xfrm>
            <a:off x="914400" y="3611880"/>
            <a:ext cx="713232" cy="713232"/>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0" name="Image 1" descr="preencoded.png">    </p:cNvPr>
          <p:cNvPicPr>
            <a:picLocks noChangeAspect="1"/>
          </p:cNvPicPr>
          <p:nvPr/>
        </p:nvPicPr>
        <p:blipFill>
          <a:blip r:embed="rId2"/>
          <a:stretch>
            <a:fillRect/>
          </a:stretch>
        </p:blipFill>
        <p:spPr>
          <a:xfrm>
            <a:off x="1099840" y="3797320"/>
            <a:ext cx="342351" cy="342351"/>
          </a:xfrm>
          <a:prstGeom prst="rect">
            <a:avLst/>
          </a:prstGeom>
        </p:spPr>
      </p:pic>
      <p:sp>
        <p:nvSpPr>
          <p:cNvPr id="11" name="Text 7"/>
          <p:cNvSpPr/>
          <p:nvPr/>
        </p:nvSpPr>
        <p:spPr>
          <a:xfrm>
            <a:off x="1828800" y="3749040"/>
            <a:ext cx="2194560" cy="45720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Grounded</a:t>
            </a:r>
            <a:endParaRPr lang="en-US" sz="1600" dirty="0"/>
          </a:p>
        </p:txBody>
      </p:sp>
      <p:sp>
        <p:nvSpPr>
          <p:cNvPr id="12" name="Text 8"/>
          <p:cNvSpPr/>
          <p:nvPr/>
        </p:nvSpPr>
        <p:spPr>
          <a:xfrm>
            <a:off x="914400" y="4480560"/>
            <a:ext cx="301752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Answers come from real sources, not the model's guesses</a:t>
            </a:r>
            <a:endParaRPr lang="en-US" sz="1300" dirty="0"/>
          </a:p>
        </p:txBody>
      </p:sp>
      <p:sp>
        <p:nvSpPr>
          <p:cNvPr id="13" name="Shape 9"/>
          <p:cNvSpPr/>
          <p:nvPr/>
        </p:nvSpPr>
        <p:spPr>
          <a:xfrm>
            <a:off x="4297680" y="3337560"/>
            <a:ext cx="3520440" cy="2148840"/>
          </a:xfrm>
          <a:prstGeom prst="roundRect">
            <a:avLst>
              <a:gd name="adj" fmla="val 3830"/>
            </a:avLst>
          </a:prstGeom>
          <a:solidFill>
            <a:srgbClr val="F0FDFA"/>
          </a:solidFill>
          <a:ln/>
          <a:effectLst>
            <a:outerShdw sx="100000" sy="100000" kx="0" ky="0" algn="bl" rotWithShape="0" blurRad="88900" dist="38100" dir="5400000">
              <a:srgbClr val="0F2A33">
                <a:alpha val="16000"/>
              </a:srgbClr>
            </a:outerShdw>
          </a:effectLst>
        </p:spPr>
      </p:sp>
      <p:sp>
        <p:nvSpPr>
          <p:cNvPr id="14" name="Shape 10"/>
          <p:cNvSpPr/>
          <p:nvPr/>
        </p:nvSpPr>
        <p:spPr>
          <a:xfrm>
            <a:off x="4572000" y="3611880"/>
            <a:ext cx="713232" cy="713232"/>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5" name="Image 2" descr="preencoded.png">    </p:cNvPr>
          <p:cNvPicPr>
            <a:picLocks noChangeAspect="1"/>
          </p:cNvPicPr>
          <p:nvPr/>
        </p:nvPicPr>
        <p:blipFill>
          <a:blip r:embed="rId3"/>
          <a:stretch>
            <a:fillRect/>
          </a:stretch>
        </p:blipFill>
        <p:spPr>
          <a:xfrm>
            <a:off x="4757440" y="3797320"/>
            <a:ext cx="342351" cy="342351"/>
          </a:xfrm>
          <a:prstGeom prst="rect">
            <a:avLst/>
          </a:prstGeom>
        </p:spPr>
      </p:pic>
      <p:sp>
        <p:nvSpPr>
          <p:cNvPr id="16" name="Text 11"/>
          <p:cNvSpPr/>
          <p:nvPr/>
        </p:nvSpPr>
        <p:spPr>
          <a:xfrm>
            <a:off x="5486400" y="3749040"/>
            <a:ext cx="2194560" cy="45720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Up to date</a:t>
            </a:r>
            <a:endParaRPr lang="en-US" sz="1600" dirty="0"/>
          </a:p>
        </p:txBody>
      </p:sp>
      <p:sp>
        <p:nvSpPr>
          <p:cNvPr id="17" name="Text 12"/>
          <p:cNvSpPr/>
          <p:nvPr/>
        </p:nvSpPr>
        <p:spPr>
          <a:xfrm>
            <a:off x="4572000" y="4480560"/>
            <a:ext cx="301752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Add new documents any time, no retraining needed</a:t>
            </a:r>
            <a:endParaRPr lang="en-US" sz="1300" dirty="0"/>
          </a:p>
        </p:txBody>
      </p:sp>
      <p:sp>
        <p:nvSpPr>
          <p:cNvPr id="18" name="Shape 13"/>
          <p:cNvSpPr/>
          <p:nvPr/>
        </p:nvSpPr>
        <p:spPr>
          <a:xfrm>
            <a:off x="7955280" y="3337560"/>
            <a:ext cx="3520440" cy="2148840"/>
          </a:xfrm>
          <a:prstGeom prst="roundRect">
            <a:avLst>
              <a:gd name="adj" fmla="val 3830"/>
            </a:avLst>
          </a:prstGeom>
          <a:solidFill>
            <a:srgbClr val="F0FDFA"/>
          </a:solidFill>
          <a:ln/>
          <a:effectLst>
            <a:outerShdw sx="100000" sy="100000" kx="0" ky="0" algn="bl" rotWithShape="0" blurRad="88900" dist="38100" dir="5400000">
              <a:srgbClr val="0F2A33">
                <a:alpha val="16000"/>
              </a:srgbClr>
            </a:outerShdw>
          </a:effectLst>
        </p:spPr>
      </p:sp>
      <p:sp>
        <p:nvSpPr>
          <p:cNvPr id="19" name="Shape 14"/>
          <p:cNvSpPr/>
          <p:nvPr/>
        </p:nvSpPr>
        <p:spPr>
          <a:xfrm>
            <a:off x="8229600" y="3611880"/>
            <a:ext cx="713232" cy="713232"/>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20" name="Image 3" descr="preencoded.png">    </p:cNvPr>
          <p:cNvPicPr>
            <a:picLocks noChangeAspect="1"/>
          </p:cNvPicPr>
          <p:nvPr/>
        </p:nvPicPr>
        <p:blipFill>
          <a:blip r:embed="rId4"/>
          <a:stretch>
            <a:fillRect/>
          </a:stretch>
        </p:blipFill>
        <p:spPr>
          <a:xfrm>
            <a:off x="8415040" y="3797320"/>
            <a:ext cx="342351" cy="342351"/>
          </a:xfrm>
          <a:prstGeom prst="rect">
            <a:avLst/>
          </a:prstGeom>
        </p:spPr>
      </p:pic>
      <p:sp>
        <p:nvSpPr>
          <p:cNvPr id="21" name="Text 15"/>
          <p:cNvSpPr/>
          <p:nvPr/>
        </p:nvSpPr>
        <p:spPr>
          <a:xfrm>
            <a:off x="9144000" y="3749040"/>
            <a:ext cx="2194560" cy="45720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Checkable</a:t>
            </a:r>
            <a:endParaRPr lang="en-US" sz="1600" dirty="0"/>
          </a:p>
        </p:txBody>
      </p:sp>
      <p:sp>
        <p:nvSpPr>
          <p:cNvPr id="22" name="Text 16"/>
          <p:cNvSpPr/>
          <p:nvPr/>
        </p:nvSpPr>
        <p:spPr>
          <a:xfrm>
            <a:off x="8229600" y="4480560"/>
            <a:ext cx="301752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You can show which source each answer came from</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THE RAG PIPELINE</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Index once, then retrieve for every question</a:t>
            </a:r>
            <a:endParaRPr lang="en-US" sz="3000" dirty="0"/>
          </a:p>
        </p:txBody>
      </p:sp>
      <p:sp>
        <p:nvSpPr>
          <p:cNvPr id="4" name="Text 2"/>
          <p:cNvSpPr/>
          <p:nvPr/>
        </p:nvSpPr>
        <p:spPr>
          <a:xfrm>
            <a:off x="640080" y="1691640"/>
            <a:ext cx="3657600" cy="274320"/>
          </a:xfrm>
          <a:prstGeom prst="rect">
            <a:avLst/>
          </a:prstGeom>
          <a:noFill/>
          <a:ln/>
        </p:spPr>
        <p:txBody>
          <a:bodyPr wrap="square" rtlCol="0" anchor="ctr"/>
          <a:lstStyle/>
          <a:p>
            <a:pPr indent="0" marL="0">
              <a:buNone/>
            </a:pPr>
            <a:r>
              <a:rPr lang="en-US" sz="1200" b="1" spc="200" kern="0" dirty="0">
                <a:solidFill>
                  <a:srgbClr val="0D9488"/>
                </a:solidFill>
                <a:latin typeface="Arial" pitchFamily="34" charset="0"/>
                <a:ea typeface="Arial" pitchFamily="34" charset="-122"/>
                <a:cs typeface="Arial" pitchFamily="34" charset="-120"/>
              </a:rPr>
              <a:t>INDEX ONCE</a:t>
            </a:r>
            <a:endParaRPr lang="en-US" sz="1200" dirty="0"/>
          </a:p>
        </p:txBody>
      </p:sp>
      <p:sp>
        <p:nvSpPr>
          <p:cNvPr id="5" name="Shape 3"/>
          <p:cNvSpPr/>
          <p:nvPr/>
        </p:nvSpPr>
        <p:spPr>
          <a:xfrm>
            <a:off x="640080" y="2011680"/>
            <a:ext cx="2286000" cy="868680"/>
          </a:xfrm>
          <a:prstGeom prst="roundRect">
            <a:avLst>
              <a:gd name="adj" fmla="val 9474"/>
            </a:avLst>
          </a:prstGeom>
          <a:solidFill>
            <a:srgbClr val="F1F5F9"/>
          </a:solidFill>
          <a:ln/>
          <a:effectLst>
            <a:outerShdw sx="100000" sy="100000" kx="0" ky="0" algn="bl" rotWithShape="0" blurRad="88900" dist="38100" dir="5400000">
              <a:srgbClr val="0F2A33">
                <a:alpha val="16000"/>
              </a:srgbClr>
            </a:outerShdw>
          </a:effectLst>
        </p:spPr>
      </p:sp>
      <p:sp>
        <p:nvSpPr>
          <p:cNvPr id="6" name="Shape 4"/>
          <p:cNvSpPr/>
          <p:nvPr/>
        </p:nvSpPr>
        <p:spPr>
          <a:xfrm>
            <a:off x="822960" y="2167128"/>
            <a:ext cx="548640" cy="5486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7" name="Image 0" descr="preencoded.png">    </p:cNvPr>
          <p:cNvPicPr>
            <a:picLocks noChangeAspect="1"/>
          </p:cNvPicPr>
          <p:nvPr/>
        </p:nvPicPr>
        <p:blipFill>
          <a:blip r:embed="rId1"/>
          <a:stretch>
            <a:fillRect/>
          </a:stretch>
        </p:blipFill>
        <p:spPr>
          <a:xfrm>
            <a:off x="965606" y="2309774"/>
            <a:ext cx="263347" cy="263347"/>
          </a:xfrm>
          <a:prstGeom prst="rect">
            <a:avLst/>
          </a:prstGeom>
        </p:spPr>
      </p:pic>
      <p:sp>
        <p:nvSpPr>
          <p:cNvPr id="8" name="Text 5"/>
          <p:cNvSpPr/>
          <p:nvPr/>
        </p:nvSpPr>
        <p:spPr>
          <a:xfrm>
            <a:off x="1417320" y="2011680"/>
            <a:ext cx="1463040" cy="86868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Documents</a:t>
            </a:r>
            <a:endParaRPr lang="en-US" sz="1300" dirty="0"/>
          </a:p>
        </p:txBody>
      </p:sp>
      <p:sp>
        <p:nvSpPr>
          <p:cNvPr id="9" name="Shape 6"/>
          <p:cNvSpPr/>
          <p:nvPr/>
        </p:nvSpPr>
        <p:spPr>
          <a:xfrm>
            <a:off x="2971800" y="2441448"/>
            <a:ext cx="320040" cy="0"/>
          </a:xfrm>
          <a:prstGeom prst="line">
            <a:avLst/>
          </a:prstGeom>
          <a:noFill/>
          <a:ln w="28575">
            <a:solidFill>
              <a:srgbClr val="0D9488"/>
            </a:solidFill>
            <a:prstDash val="solid"/>
            <a:tailEnd type="triangle"/>
          </a:ln>
        </p:spPr>
      </p:sp>
      <p:sp>
        <p:nvSpPr>
          <p:cNvPr id="10" name="Shape 7"/>
          <p:cNvSpPr/>
          <p:nvPr/>
        </p:nvSpPr>
        <p:spPr>
          <a:xfrm>
            <a:off x="3291840" y="2011680"/>
            <a:ext cx="2286000" cy="868680"/>
          </a:xfrm>
          <a:prstGeom prst="roundRect">
            <a:avLst>
              <a:gd name="adj" fmla="val 9474"/>
            </a:avLst>
          </a:prstGeom>
          <a:solidFill>
            <a:srgbClr val="F1F5F9"/>
          </a:solidFill>
          <a:ln/>
          <a:effectLst>
            <a:outerShdw sx="100000" sy="100000" kx="0" ky="0" algn="bl" rotWithShape="0" blurRad="88900" dist="38100" dir="5400000">
              <a:srgbClr val="0F2A33">
                <a:alpha val="16000"/>
              </a:srgbClr>
            </a:outerShdw>
          </a:effectLst>
        </p:spPr>
      </p:sp>
      <p:sp>
        <p:nvSpPr>
          <p:cNvPr id="11" name="Shape 8"/>
          <p:cNvSpPr/>
          <p:nvPr/>
        </p:nvSpPr>
        <p:spPr>
          <a:xfrm>
            <a:off x="3474720" y="2167128"/>
            <a:ext cx="548640" cy="5486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2" name="Image 1" descr="preencoded.png">    </p:cNvPr>
          <p:cNvPicPr>
            <a:picLocks noChangeAspect="1"/>
          </p:cNvPicPr>
          <p:nvPr/>
        </p:nvPicPr>
        <p:blipFill>
          <a:blip r:embed="rId2"/>
          <a:stretch>
            <a:fillRect/>
          </a:stretch>
        </p:blipFill>
        <p:spPr>
          <a:xfrm>
            <a:off x="3617366" y="2309774"/>
            <a:ext cx="263347" cy="263347"/>
          </a:xfrm>
          <a:prstGeom prst="rect">
            <a:avLst/>
          </a:prstGeom>
        </p:spPr>
      </p:pic>
      <p:sp>
        <p:nvSpPr>
          <p:cNvPr id="13" name="Text 9"/>
          <p:cNvSpPr/>
          <p:nvPr/>
        </p:nvSpPr>
        <p:spPr>
          <a:xfrm>
            <a:off x="4069080" y="2011680"/>
            <a:ext cx="1463040" cy="86868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Chunks</a:t>
            </a:r>
            <a:endParaRPr lang="en-US" sz="1300" dirty="0"/>
          </a:p>
        </p:txBody>
      </p:sp>
      <p:sp>
        <p:nvSpPr>
          <p:cNvPr id="14" name="Shape 10"/>
          <p:cNvSpPr/>
          <p:nvPr/>
        </p:nvSpPr>
        <p:spPr>
          <a:xfrm>
            <a:off x="5623560" y="2441448"/>
            <a:ext cx="320040" cy="0"/>
          </a:xfrm>
          <a:prstGeom prst="line">
            <a:avLst/>
          </a:prstGeom>
          <a:noFill/>
          <a:ln w="28575">
            <a:solidFill>
              <a:srgbClr val="0D9488"/>
            </a:solidFill>
            <a:prstDash val="solid"/>
            <a:tailEnd type="triangle"/>
          </a:ln>
        </p:spPr>
      </p:sp>
      <p:sp>
        <p:nvSpPr>
          <p:cNvPr id="15" name="Shape 11"/>
          <p:cNvSpPr/>
          <p:nvPr/>
        </p:nvSpPr>
        <p:spPr>
          <a:xfrm>
            <a:off x="5943600" y="2011680"/>
            <a:ext cx="2286000" cy="868680"/>
          </a:xfrm>
          <a:prstGeom prst="roundRect">
            <a:avLst>
              <a:gd name="adj" fmla="val 9474"/>
            </a:avLst>
          </a:prstGeom>
          <a:solidFill>
            <a:srgbClr val="F1F5F9"/>
          </a:solidFill>
          <a:ln/>
          <a:effectLst>
            <a:outerShdw sx="100000" sy="100000" kx="0" ky="0" algn="bl" rotWithShape="0" blurRad="88900" dist="38100" dir="5400000">
              <a:srgbClr val="0F2A33">
                <a:alpha val="16000"/>
              </a:srgbClr>
            </a:outerShdw>
          </a:effectLst>
        </p:spPr>
      </p:sp>
      <p:sp>
        <p:nvSpPr>
          <p:cNvPr id="16" name="Shape 12"/>
          <p:cNvSpPr/>
          <p:nvPr/>
        </p:nvSpPr>
        <p:spPr>
          <a:xfrm>
            <a:off x="6126480" y="2167128"/>
            <a:ext cx="548640" cy="5486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7" name="Image 2" descr="preencoded.png">    </p:cNvPr>
          <p:cNvPicPr>
            <a:picLocks noChangeAspect="1"/>
          </p:cNvPicPr>
          <p:nvPr/>
        </p:nvPicPr>
        <p:blipFill>
          <a:blip r:embed="rId3"/>
          <a:stretch>
            <a:fillRect/>
          </a:stretch>
        </p:blipFill>
        <p:spPr>
          <a:xfrm>
            <a:off x="6269126" y="2309774"/>
            <a:ext cx="263347" cy="263347"/>
          </a:xfrm>
          <a:prstGeom prst="rect">
            <a:avLst/>
          </a:prstGeom>
        </p:spPr>
      </p:pic>
      <p:sp>
        <p:nvSpPr>
          <p:cNvPr id="18" name="Text 13"/>
          <p:cNvSpPr/>
          <p:nvPr/>
        </p:nvSpPr>
        <p:spPr>
          <a:xfrm>
            <a:off x="6720840" y="2011680"/>
            <a:ext cx="1463040" cy="86868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Embed</a:t>
            </a:r>
            <a:endParaRPr lang="en-US" sz="1300" dirty="0"/>
          </a:p>
        </p:txBody>
      </p:sp>
      <p:sp>
        <p:nvSpPr>
          <p:cNvPr id="19" name="Shape 14"/>
          <p:cNvSpPr/>
          <p:nvPr/>
        </p:nvSpPr>
        <p:spPr>
          <a:xfrm>
            <a:off x="8275320" y="2441448"/>
            <a:ext cx="320040" cy="0"/>
          </a:xfrm>
          <a:prstGeom prst="line">
            <a:avLst/>
          </a:prstGeom>
          <a:noFill/>
          <a:ln w="28575">
            <a:solidFill>
              <a:srgbClr val="0D9488"/>
            </a:solidFill>
            <a:prstDash val="solid"/>
            <a:tailEnd type="triangle"/>
          </a:ln>
        </p:spPr>
      </p:sp>
      <p:sp>
        <p:nvSpPr>
          <p:cNvPr id="20" name="Shape 15"/>
          <p:cNvSpPr/>
          <p:nvPr/>
        </p:nvSpPr>
        <p:spPr>
          <a:xfrm>
            <a:off x="8595360" y="2011680"/>
            <a:ext cx="2286000" cy="868680"/>
          </a:xfrm>
          <a:prstGeom prst="roundRect">
            <a:avLst>
              <a:gd name="adj" fmla="val 9474"/>
            </a:avLst>
          </a:prstGeom>
          <a:solidFill>
            <a:srgbClr val="0F2A33"/>
          </a:solidFill>
          <a:ln/>
          <a:effectLst>
            <a:outerShdw sx="100000" sy="100000" kx="0" ky="0" algn="bl" rotWithShape="0" blurRad="88900" dist="38100" dir="5400000">
              <a:srgbClr val="0F2A33">
                <a:alpha val="16000"/>
              </a:srgbClr>
            </a:outerShdw>
          </a:effectLst>
        </p:spPr>
      </p:sp>
      <p:sp>
        <p:nvSpPr>
          <p:cNvPr id="21" name="Shape 16"/>
          <p:cNvSpPr/>
          <p:nvPr/>
        </p:nvSpPr>
        <p:spPr>
          <a:xfrm>
            <a:off x="8778240" y="2167128"/>
            <a:ext cx="548640" cy="5486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22" name="Image 3" descr="preencoded.png">    </p:cNvPr>
          <p:cNvPicPr>
            <a:picLocks noChangeAspect="1"/>
          </p:cNvPicPr>
          <p:nvPr/>
        </p:nvPicPr>
        <p:blipFill>
          <a:blip r:embed="rId4"/>
          <a:stretch>
            <a:fillRect/>
          </a:stretch>
        </p:blipFill>
        <p:spPr>
          <a:xfrm>
            <a:off x="8920886" y="2309774"/>
            <a:ext cx="263347" cy="263347"/>
          </a:xfrm>
          <a:prstGeom prst="rect">
            <a:avLst/>
          </a:prstGeom>
        </p:spPr>
      </p:pic>
      <p:sp>
        <p:nvSpPr>
          <p:cNvPr id="23" name="Text 17"/>
          <p:cNvSpPr/>
          <p:nvPr/>
        </p:nvSpPr>
        <p:spPr>
          <a:xfrm>
            <a:off x="9372600" y="2011680"/>
            <a:ext cx="1463040" cy="868680"/>
          </a:xfrm>
          <a:prstGeom prst="rect">
            <a:avLst/>
          </a:prstGeom>
          <a:noFill/>
          <a:ln/>
        </p:spPr>
        <p:txBody>
          <a:bodyPr wrap="square" lIns="0" tIns="0" rIns="0" bIns="0" rtlCol="0" anchor="ctr"/>
          <a:lstStyle/>
          <a:p>
            <a:pPr indent="0" marL="0">
              <a:buNone/>
            </a:pPr>
            <a:r>
              <a:rPr lang="en-US" sz="1300" b="1" dirty="0">
                <a:solidFill>
                  <a:srgbClr val="5EEAD4"/>
                </a:solidFill>
                <a:latin typeface="Arial" pitchFamily="34" charset="0"/>
                <a:ea typeface="Arial" pitchFamily="34" charset="-122"/>
                <a:cs typeface="Arial" pitchFamily="34" charset="-120"/>
              </a:rPr>
              <a:t>Vector store</a:t>
            </a:r>
            <a:endParaRPr lang="en-US" sz="1300" dirty="0"/>
          </a:p>
        </p:txBody>
      </p:sp>
      <p:sp>
        <p:nvSpPr>
          <p:cNvPr id="24" name="Text 18"/>
          <p:cNvSpPr/>
          <p:nvPr/>
        </p:nvSpPr>
        <p:spPr>
          <a:xfrm>
            <a:off x="640080" y="3200400"/>
            <a:ext cx="3657600" cy="274320"/>
          </a:xfrm>
          <a:prstGeom prst="rect">
            <a:avLst/>
          </a:prstGeom>
          <a:noFill/>
          <a:ln/>
        </p:spPr>
        <p:txBody>
          <a:bodyPr wrap="square" rtlCol="0" anchor="ctr"/>
          <a:lstStyle/>
          <a:p>
            <a:pPr indent="0" marL="0">
              <a:buNone/>
            </a:pPr>
            <a:r>
              <a:rPr lang="en-US" sz="1200" b="1" spc="200" kern="0" dirty="0">
                <a:solidFill>
                  <a:srgbClr val="F59E0B"/>
                </a:solidFill>
                <a:latin typeface="Arial" pitchFamily="34" charset="0"/>
                <a:ea typeface="Arial" pitchFamily="34" charset="-122"/>
                <a:cs typeface="Arial" pitchFamily="34" charset="-120"/>
              </a:rPr>
              <a:t>EVERY QUESTION</a:t>
            </a:r>
            <a:endParaRPr lang="en-US" sz="1200" dirty="0"/>
          </a:p>
        </p:txBody>
      </p:sp>
      <p:sp>
        <p:nvSpPr>
          <p:cNvPr id="25" name="Shape 19"/>
          <p:cNvSpPr/>
          <p:nvPr/>
        </p:nvSpPr>
        <p:spPr>
          <a:xfrm>
            <a:off x="640080" y="3520440"/>
            <a:ext cx="1874520" cy="868680"/>
          </a:xfrm>
          <a:prstGeom prst="roundRect">
            <a:avLst>
              <a:gd name="adj" fmla="val 9474"/>
            </a:avLst>
          </a:prstGeom>
          <a:solidFill>
            <a:srgbClr val="F1F5F9"/>
          </a:solidFill>
          <a:ln/>
          <a:effectLst>
            <a:outerShdw sx="100000" sy="100000" kx="0" ky="0" algn="bl" rotWithShape="0" blurRad="88900" dist="38100" dir="5400000">
              <a:srgbClr val="0F2A33">
                <a:alpha val="16000"/>
              </a:srgbClr>
            </a:outerShdw>
          </a:effectLst>
        </p:spPr>
      </p:sp>
      <p:sp>
        <p:nvSpPr>
          <p:cNvPr id="26" name="Shape 20"/>
          <p:cNvSpPr/>
          <p:nvPr/>
        </p:nvSpPr>
        <p:spPr>
          <a:xfrm>
            <a:off x="777240" y="3675888"/>
            <a:ext cx="548640" cy="54864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27" name="Image 4" descr="preencoded.png">    </p:cNvPr>
          <p:cNvPicPr>
            <a:picLocks noChangeAspect="1"/>
          </p:cNvPicPr>
          <p:nvPr/>
        </p:nvPicPr>
        <p:blipFill>
          <a:blip r:embed="rId5"/>
          <a:stretch>
            <a:fillRect/>
          </a:stretch>
        </p:blipFill>
        <p:spPr>
          <a:xfrm>
            <a:off x="919886" y="3818534"/>
            <a:ext cx="263347" cy="263347"/>
          </a:xfrm>
          <a:prstGeom prst="rect">
            <a:avLst/>
          </a:prstGeom>
        </p:spPr>
      </p:pic>
      <p:sp>
        <p:nvSpPr>
          <p:cNvPr id="28" name="Text 21"/>
          <p:cNvSpPr/>
          <p:nvPr/>
        </p:nvSpPr>
        <p:spPr>
          <a:xfrm>
            <a:off x="1353312" y="3520440"/>
            <a:ext cx="1143000" cy="868680"/>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Question</a:t>
            </a:r>
            <a:endParaRPr lang="en-US" sz="1150" dirty="0"/>
          </a:p>
        </p:txBody>
      </p:sp>
      <p:sp>
        <p:nvSpPr>
          <p:cNvPr id="29" name="Shape 22"/>
          <p:cNvSpPr/>
          <p:nvPr/>
        </p:nvSpPr>
        <p:spPr>
          <a:xfrm>
            <a:off x="2560320" y="3950208"/>
            <a:ext cx="228600" cy="0"/>
          </a:xfrm>
          <a:prstGeom prst="line">
            <a:avLst/>
          </a:prstGeom>
          <a:noFill/>
          <a:ln w="28575">
            <a:solidFill>
              <a:srgbClr val="F59E0B"/>
            </a:solidFill>
            <a:prstDash val="solid"/>
            <a:tailEnd type="triangle"/>
          </a:ln>
        </p:spPr>
      </p:sp>
      <p:sp>
        <p:nvSpPr>
          <p:cNvPr id="30" name="Shape 23"/>
          <p:cNvSpPr/>
          <p:nvPr/>
        </p:nvSpPr>
        <p:spPr>
          <a:xfrm>
            <a:off x="2834640" y="3520440"/>
            <a:ext cx="1874520" cy="868680"/>
          </a:xfrm>
          <a:prstGeom prst="roundRect">
            <a:avLst>
              <a:gd name="adj" fmla="val 9474"/>
            </a:avLst>
          </a:prstGeom>
          <a:solidFill>
            <a:srgbClr val="F1F5F9"/>
          </a:solidFill>
          <a:ln/>
          <a:effectLst>
            <a:outerShdw sx="100000" sy="100000" kx="0" ky="0" algn="bl" rotWithShape="0" blurRad="88900" dist="38100" dir="5400000">
              <a:srgbClr val="0F2A33">
                <a:alpha val="16000"/>
              </a:srgbClr>
            </a:outerShdw>
          </a:effectLst>
        </p:spPr>
      </p:sp>
      <p:sp>
        <p:nvSpPr>
          <p:cNvPr id="31" name="Shape 24"/>
          <p:cNvSpPr/>
          <p:nvPr/>
        </p:nvSpPr>
        <p:spPr>
          <a:xfrm>
            <a:off x="2971800" y="3675888"/>
            <a:ext cx="548640" cy="54864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32" name="Image 5" descr="preencoded.png">    </p:cNvPr>
          <p:cNvPicPr>
            <a:picLocks noChangeAspect="1"/>
          </p:cNvPicPr>
          <p:nvPr/>
        </p:nvPicPr>
        <p:blipFill>
          <a:blip r:embed="rId6"/>
          <a:stretch>
            <a:fillRect/>
          </a:stretch>
        </p:blipFill>
        <p:spPr>
          <a:xfrm>
            <a:off x="3114446" y="3818534"/>
            <a:ext cx="263347" cy="263347"/>
          </a:xfrm>
          <a:prstGeom prst="rect">
            <a:avLst/>
          </a:prstGeom>
        </p:spPr>
      </p:pic>
      <p:sp>
        <p:nvSpPr>
          <p:cNvPr id="33" name="Text 25"/>
          <p:cNvSpPr/>
          <p:nvPr/>
        </p:nvSpPr>
        <p:spPr>
          <a:xfrm>
            <a:off x="3547872" y="3520440"/>
            <a:ext cx="1143000" cy="868680"/>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Embed</a:t>
            </a:r>
            <a:endParaRPr lang="en-US" sz="1150" dirty="0"/>
          </a:p>
        </p:txBody>
      </p:sp>
      <p:sp>
        <p:nvSpPr>
          <p:cNvPr id="34" name="Shape 26"/>
          <p:cNvSpPr/>
          <p:nvPr/>
        </p:nvSpPr>
        <p:spPr>
          <a:xfrm>
            <a:off x="4754880" y="3950208"/>
            <a:ext cx="228600" cy="0"/>
          </a:xfrm>
          <a:prstGeom prst="line">
            <a:avLst/>
          </a:prstGeom>
          <a:noFill/>
          <a:ln w="28575">
            <a:solidFill>
              <a:srgbClr val="F59E0B"/>
            </a:solidFill>
            <a:prstDash val="solid"/>
            <a:tailEnd type="triangle"/>
          </a:ln>
        </p:spPr>
      </p:sp>
      <p:sp>
        <p:nvSpPr>
          <p:cNvPr id="35" name="Shape 27"/>
          <p:cNvSpPr/>
          <p:nvPr/>
        </p:nvSpPr>
        <p:spPr>
          <a:xfrm>
            <a:off x="5029200" y="3520440"/>
            <a:ext cx="1874520" cy="868680"/>
          </a:xfrm>
          <a:prstGeom prst="roundRect">
            <a:avLst>
              <a:gd name="adj" fmla="val 9474"/>
            </a:avLst>
          </a:prstGeom>
          <a:solidFill>
            <a:srgbClr val="F1F5F9"/>
          </a:solidFill>
          <a:ln/>
          <a:effectLst>
            <a:outerShdw sx="100000" sy="100000" kx="0" ky="0" algn="bl" rotWithShape="0" blurRad="88900" dist="38100" dir="5400000">
              <a:srgbClr val="0F2A33">
                <a:alpha val="16000"/>
              </a:srgbClr>
            </a:outerShdw>
          </a:effectLst>
        </p:spPr>
      </p:sp>
      <p:sp>
        <p:nvSpPr>
          <p:cNvPr id="36" name="Shape 28"/>
          <p:cNvSpPr/>
          <p:nvPr/>
        </p:nvSpPr>
        <p:spPr>
          <a:xfrm>
            <a:off x="5166360" y="3675888"/>
            <a:ext cx="548640" cy="54864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37" name="Image 6" descr="preencoded.png">    </p:cNvPr>
          <p:cNvPicPr>
            <a:picLocks noChangeAspect="1"/>
          </p:cNvPicPr>
          <p:nvPr/>
        </p:nvPicPr>
        <p:blipFill>
          <a:blip r:embed="rId7"/>
          <a:stretch>
            <a:fillRect/>
          </a:stretch>
        </p:blipFill>
        <p:spPr>
          <a:xfrm>
            <a:off x="5309006" y="3818534"/>
            <a:ext cx="263347" cy="263347"/>
          </a:xfrm>
          <a:prstGeom prst="rect">
            <a:avLst/>
          </a:prstGeom>
        </p:spPr>
      </p:pic>
      <p:sp>
        <p:nvSpPr>
          <p:cNvPr id="38" name="Text 29"/>
          <p:cNvSpPr/>
          <p:nvPr/>
        </p:nvSpPr>
        <p:spPr>
          <a:xfrm>
            <a:off x="5742432" y="3520440"/>
            <a:ext cx="1143000" cy="868680"/>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Search</a:t>
            </a:r>
            <a:endParaRPr lang="en-US" sz="1150" dirty="0"/>
          </a:p>
        </p:txBody>
      </p:sp>
      <p:sp>
        <p:nvSpPr>
          <p:cNvPr id="39" name="Shape 30"/>
          <p:cNvSpPr/>
          <p:nvPr/>
        </p:nvSpPr>
        <p:spPr>
          <a:xfrm>
            <a:off x="6949440" y="3950208"/>
            <a:ext cx="228600" cy="0"/>
          </a:xfrm>
          <a:prstGeom prst="line">
            <a:avLst/>
          </a:prstGeom>
          <a:noFill/>
          <a:ln w="28575">
            <a:solidFill>
              <a:srgbClr val="F59E0B"/>
            </a:solidFill>
            <a:prstDash val="solid"/>
            <a:tailEnd type="triangle"/>
          </a:ln>
        </p:spPr>
      </p:sp>
      <p:sp>
        <p:nvSpPr>
          <p:cNvPr id="40" name="Shape 31"/>
          <p:cNvSpPr/>
          <p:nvPr/>
        </p:nvSpPr>
        <p:spPr>
          <a:xfrm>
            <a:off x="7223760" y="3520440"/>
            <a:ext cx="1874520" cy="868680"/>
          </a:xfrm>
          <a:prstGeom prst="roundRect">
            <a:avLst>
              <a:gd name="adj" fmla="val 9474"/>
            </a:avLst>
          </a:prstGeom>
          <a:solidFill>
            <a:srgbClr val="F1F5F9"/>
          </a:solidFill>
          <a:ln/>
          <a:effectLst>
            <a:outerShdw sx="100000" sy="100000" kx="0" ky="0" algn="bl" rotWithShape="0" blurRad="88900" dist="38100" dir="5400000">
              <a:srgbClr val="0F2A33">
                <a:alpha val="16000"/>
              </a:srgbClr>
            </a:outerShdw>
          </a:effectLst>
        </p:spPr>
      </p:sp>
      <p:sp>
        <p:nvSpPr>
          <p:cNvPr id="41" name="Shape 32"/>
          <p:cNvSpPr/>
          <p:nvPr/>
        </p:nvSpPr>
        <p:spPr>
          <a:xfrm>
            <a:off x="7360920" y="3675888"/>
            <a:ext cx="548640" cy="54864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42" name="Image 7" descr="preencoded.png">    </p:cNvPr>
          <p:cNvPicPr>
            <a:picLocks noChangeAspect="1"/>
          </p:cNvPicPr>
          <p:nvPr/>
        </p:nvPicPr>
        <p:blipFill>
          <a:blip r:embed="rId8"/>
          <a:stretch>
            <a:fillRect/>
          </a:stretch>
        </p:blipFill>
        <p:spPr>
          <a:xfrm>
            <a:off x="7503566" y="3818534"/>
            <a:ext cx="263347" cy="263347"/>
          </a:xfrm>
          <a:prstGeom prst="rect">
            <a:avLst/>
          </a:prstGeom>
        </p:spPr>
      </p:pic>
      <p:sp>
        <p:nvSpPr>
          <p:cNvPr id="43" name="Text 33"/>
          <p:cNvSpPr/>
          <p:nvPr/>
        </p:nvSpPr>
        <p:spPr>
          <a:xfrm>
            <a:off x="7936992" y="3520440"/>
            <a:ext cx="1143000" cy="868680"/>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Context + Q</a:t>
            </a:r>
            <a:endParaRPr lang="en-US" sz="1150" dirty="0"/>
          </a:p>
        </p:txBody>
      </p:sp>
      <p:sp>
        <p:nvSpPr>
          <p:cNvPr id="44" name="Shape 34"/>
          <p:cNvSpPr/>
          <p:nvPr/>
        </p:nvSpPr>
        <p:spPr>
          <a:xfrm>
            <a:off x="9144000" y="3950208"/>
            <a:ext cx="228600" cy="0"/>
          </a:xfrm>
          <a:prstGeom prst="line">
            <a:avLst/>
          </a:prstGeom>
          <a:noFill/>
          <a:ln w="28575">
            <a:solidFill>
              <a:srgbClr val="F59E0B"/>
            </a:solidFill>
            <a:prstDash val="solid"/>
            <a:tailEnd type="triangle"/>
          </a:ln>
        </p:spPr>
      </p:sp>
      <p:sp>
        <p:nvSpPr>
          <p:cNvPr id="45" name="Shape 35"/>
          <p:cNvSpPr/>
          <p:nvPr/>
        </p:nvSpPr>
        <p:spPr>
          <a:xfrm>
            <a:off x="9418320" y="3520440"/>
            <a:ext cx="1874520" cy="868680"/>
          </a:xfrm>
          <a:prstGeom prst="roundRect">
            <a:avLst>
              <a:gd name="adj" fmla="val 9474"/>
            </a:avLst>
          </a:prstGeom>
          <a:solidFill>
            <a:srgbClr val="0D9488"/>
          </a:solidFill>
          <a:ln/>
          <a:effectLst>
            <a:outerShdw sx="100000" sy="100000" kx="0" ky="0" algn="bl" rotWithShape="0" blurRad="88900" dist="38100" dir="5400000">
              <a:srgbClr val="0F2A33">
                <a:alpha val="16000"/>
              </a:srgbClr>
            </a:outerShdw>
          </a:effectLst>
        </p:spPr>
      </p:sp>
      <p:sp>
        <p:nvSpPr>
          <p:cNvPr id="46" name="Shape 36"/>
          <p:cNvSpPr/>
          <p:nvPr/>
        </p:nvSpPr>
        <p:spPr>
          <a:xfrm>
            <a:off x="9555480" y="3675888"/>
            <a:ext cx="548640" cy="548640"/>
          </a:xfrm>
          <a:prstGeom prst="ellipse">
            <a:avLst/>
          </a:prstGeom>
          <a:solidFill>
            <a:srgbClr val="FFFFFF"/>
          </a:solidFill>
          <a:ln/>
          <a:effectLst>
            <a:outerShdw sx="100000" sy="100000" kx="0" ky="0" algn="bl" rotWithShape="0" blurRad="88900" dist="38100" dir="5400000">
              <a:srgbClr val="0F2A33">
                <a:alpha val="16000"/>
              </a:srgbClr>
            </a:outerShdw>
          </a:effectLst>
        </p:spPr>
      </p:sp>
      <p:pic>
        <p:nvPicPr>
          <p:cNvPr id="47" name="Image 8" descr="preencoded.png">    </p:cNvPr>
          <p:cNvPicPr>
            <a:picLocks noChangeAspect="1"/>
          </p:cNvPicPr>
          <p:nvPr/>
        </p:nvPicPr>
        <p:blipFill>
          <a:blip r:embed="rId9"/>
          <a:stretch>
            <a:fillRect/>
          </a:stretch>
        </p:blipFill>
        <p:spPr>
          <a:xfrm>
            <a:off x="9698126" y="3818534"/>
            <a:ext cx="263347" cy="263347"/>
          </a:xfrm>
          <a:prstGeom prst="rect">
            <a:avLst/>
          </a:prstGeom>
        </p:spPr>
      </p:pic>
      <p:sp>
        <p:nvSpPr>
          <p:cNvPr id="48" name="Text 37"/>
          <p:cNvSpPr/>
          <p:nvPr/>
        </p:nvSpPr>
        <p:spPr>
          <a:xfrm>
            <a:off x="10131552" y="3520440"/>
            <a:ext cx="1143000" cy="86868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Answer</a:t>
            </a:r>
            <a:endParaRPr lang="en-US" sz="1150" dirty="0"/>
          </a:p>
        </p:txBody>
      </p:sp>
      <p:sp>
        <p:nvSpPr>
          <p:cNvPr id="49" name="Shape 38"/>
          <p:cNvSpPr/>
          <p:nvPr/>
        </p:nvSpPr>
        <p:spPr>
          <a:xfrm>
            <a:off x="8366760" y="2880360"/>
            <a:ext cx="0" cy="640080"/>
          </a:xfrm>
          <a:prstGeom prst="line">
            <a:avLst/>
          </a:prstGeom>
          <a:noFill/>
          <a:ln w="25400">
            <a:solidFill>
              <a:srgbClr val="64748B"/>
            </a:solidFill>
            <a:prstDash val="dash"/>
            <a:tailEnd type="triangle"/>
          </a:ln>
        </p:spPr>
      </p:sp>
      <p:sp>
        <p:nvSpPr>
          <p:cNvPr id="50" name="Text 39"/>
          <p:cNvSpPr/>
          <p:nvPr/>
        </p:nvSpPr>
        <p:spPr>
          <a:xfrm>
            <a:off x="5486400" y="2907792"/>
            <a:ext cx="6035040" cy="274320"/>
          </a:xfrm>
          <a:prstGeom prst="rect">
            <a:avLst/>
          </a:prstGeom>
          <a:noFill/>
          <a:ln/>
        </p:spPr>
        <p:txBody>
          <a:bodyPr wrap="square" rtlCol="0" anchor="ctr"/>
          <a:lstStyle/>
          <a:p>
            <a:pPr indent="0" marL="0">
              <a:buNone/>
            </a:pPr>
            <a:r>
              <a:rPr lang="en-US" sz="1100" i="1" dirty="0">
                <a:solidFill>
                  <a:srgbClr val="64748B"/>
                </a:solidFill>
                <a:latin typeface="Arial" pitchFamily="34" charset="0"/>
                <a:ea typeface="Arial" pitchFamily="34" charset="-122"/>
                <a:cs typeface="Arial" pitchFamily="34" charset="-120"/>
              </a:rPr>
              <a:t>the search step looks inside the vector store you built</a:t>
            </a:r>
            <a:endParaRPr lang="en-US" sz="1100" dirty="0"/>
          </a:p>
        </p:txBody>
      </p:sp>
      <p:sp>
        <p:nvSpPr>
          <p:cNvPr id="51" name="Shape 40"/>
          <p:cNvSpPr/>
          <p:nvPr/>
        </p:nvSpPr>
        <p:spPr>
          <a:xfrm>
            <a:off x="640080" y="4800600"/>
            <a:ext cx="10881360" cy="777240"/>
          </a:xfrm>
          <a:prstGeom prst="roundRect">
            <a:avLst>
              <a:gd name="adj" fmla="val 10588"/>
            </a:avLst>
          </a:prstGeom>
          <a:solidFill>
            <a:srgbClr val="F0FDFA"/>
          </a:solidFill>
          <a:ln/>
          <a:effectLst>
            <a:outerShdw sx="100000" sy="100000" kx="0" ky="0" algn="bl" rotWithShape="0" blurRad="88900" dist="38100" dir="5400000">
              <a:srgbClr val="0F2A33">
                <a:alpha val="16000"/>
              </a:srgbClr>
            </a:outerShdw>
          </a:effectLst>
        </p:spPr>
      </p:sp>
      <p:sp>
        <p:nvSpPr>
          <p:cNvPr id="52" name="Text 41"/>
          <p:cNvSpPr/>
          <p:nvPr/>
        </p:nvSpPr>
        <p:spPr>
          <a:xfrm>
            <a:off x="914400" y="4800600"/>
            <a:ext cx="10332720" cy="777240"/>
          </a:xfrm>
          <a:prstGeom prst="rect">
            <a:avLst/>
          </a:prstGeom>
          <a:noFill/>
          <a:ln/>
        </p:spPr>
        <p:txBody>
          <a:bodyPr wrap="square" lIns="0" tIns="0" rIns="0" bIns="0" rtlCol="0" anchor="ctr"/>
          <a:lstStyle/>
          <a:p>
            <a:pPr indent="0" marL="0">
              <a:buNone/>
            </a:pPr>
            <a:r>
              <a:rPr lang="en-US" sz="1400" b="1" dirty="0">
                <a:solidFill>
                  <a:srgbClr val="0D9488"/>
                </a:solidFill>
                <a:latin typeface="Arial" pitchFamily="34" charset="0"/>
                <a:ea typeface="Arial" pitchFamily="34" charset="-122"/>
                <a:cs typeface="Arial" pitchFamily="34" charset="-120"/>
              </a:rPr>
              <a:t>In short:  </a:t>
            </a:r>
            <a:pPr indent="0" marL="0">
              <a:buNone/>
            </a:pPr>
            <a:r>
              <a:rPr lang="en-US" sz="1400" dirty="0">
                <a:solidFill>
                  <a:srgbClr val="1E293B"/>
                </a:solidFill>
                <a:latin typeface="Arial" pitchFamily="34" charset="0"/>
                <a:ea typeface="Arial" pitchFamily="34" charset="-122"/>
                <a:cs typeface="Arial" pitchFamily="34" charset="-120"/>
              </a:rPr>
              <a:t>chop your docs into chunks and store their embeddings once. For each question, embed it, find the closest chunks, and answer using them.</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EMBEDDINGS</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Turning meaning into numbers</a:t>
            </a:r>
            <a:endParaRPr lang="en-US" sz="3000" dirty="0"/>
          </a:p>
        </p:txBody>
      </p:sp>
      <p:sp>
        <p:nvSpPr>
          <p:cNvPr id="4" name="Shape 2"/>
          <p:cNvSpPr/>
          <p:nvPr/>
        </p:nvSpPr>
        <p:spPr>
          <a:xfrm>
            <a:off x="640080" y="1783080"/>
            <a:ext cx="10881360" cy="1143000"/>
          </a:xfrm>
          <a:prstGeom prst="roundRect">
            <a:avLst>
              <a:gd name="adj" fmla="val 7200"/>
            </a:avLst>
          </a:prstGeom>
          <a:solidFill>
            <a:srgbClr val="0F2A33"/>
          </a:solidFill>
          <a:ln/>
          <a:effectLst>
            <a:outerShdw sx="100000" sy="100000" kx="0" ky="0" algn="bl" rotWithShape="0" blurRad="88900" dist="38100" dir="5400000">
              <a:srgbClr val="0F2A33">
                <a:alpha val="16000"/>
              </a:srgbClr>
            </a:outerShdw>
          </a:effectLst>
        </p:spPr>
      </p:sp>
      <p:sp>
        <p:nvSpPr>
          <p:cNvPr id="5" name="Shape 3"/>
          <p:cNvSpPr/>
          <p:nvPr/>
        </p:nvSpPr>
        <p:spPr>
          <a:xfrm>
            <a:off x="914400" y="1993392"/>
            <a:ext cx="731520" cy="73152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04595" y="2183587"/>
            <a:ext cx="351130" cy="351130"/>
          </a:xfrm>
          <a:prstGeom prst="rect">
            <a:avLst/>
          </a:prstGeom>
        </p:spPr>
      </p:pic>
      <p:sp>
        <p:nvSpPr>
          <p:cNvPr id="7" name="Text 4"/>
          <p:cNvSpPr/>
          <p:nvPr/>
        </p:nvSpPr>
        <p:spPr>
          <a:xfrm>
            <a:off x="1874520" y="1874520"/>
            <a:ext cx="9418320" cy="10058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An embedding turns a piece of text into a list of numbers, a vector. </a:t>
            </a:r>
            <a:pPr indent="0" marL="0">
              <a:buNone/>
            </a:pPr>
            <a:r>
              <a:rPr lang="en-US" sz="1600" b="1" dirty="0">
                <a:solidFill>
                  <a:srgbClr val="5EEAD4"/>
                </a:solidFill>
                <a:latin typeface="Arial" pitchFamily="34" charset="0"/>
                <a:ea typeface="Arial" pitchFamily="34" charset="-122"/>
                <a:cs typeface="Arial" pitchFamily="34" charset="-120"/>
              </a:rPr>
              <a:t>Texts with similar meaning get vectors that sit close together.</a:t>
            </a:r>
            <a:endParaRPr lang="en-US" sz="1600" dirty="0"/>
          </a:p>
        </p:txBody>
      </p:sp>
      <p:sp>
        <p:nvSpPr>
          <p:cNvPr id="8" name="Shape 5"/>
          <p:cNvSpPr/>
          <p:nvPr/>
        </p:nvSpPr>
        <p:spPr>
          <a:xfrm>
            <a:off x="640080" y="3200400"/>
            <a:ext cx="5212080" cy="2286000"/>
          </a:xfrm>
          <a:prstGeom prst="roundRect">
            <a:avLst>
              <a:gd name="adj" fmla="val 3600"/>
            </a:avLst>
          </a:prstGeom>
          <a:solidFill>
            <a:srgbClr val="F1F5F9"/>
          </a:solidFill>
          <a:ln/>
          <a:effectLst>
            <a:outerShdw sx="100000" sy="100000" kx="0" ky="0" algn="bl" rotWithShape="0" blurRad="88900" dist="38100" dir="5400000">
              <a:srgbClr val="0F2A33">
                <a:alpha val="16000"/>
              </a:srgbClr>
            </a:outerShdw>
          </a:effectLst>
        </p:spPr>
      </p:sp>
      <p:sp>
        <p:nvSpPr>
          <p:cNvPr id="9" name="Text 6"/>
          <p:cNvSpPr/>
          <p:nvPr/>
        </p:nvSpPr>
        <p:spPr>
          <a:xfrm>
            <a:off x="914400" y="3383280"/>
            <a:ext cx="4663440" cy="365760"/>
          </a:xfrm>
          <a:prstGeom prst="rect">
            <a:avLst/>
          </a:prstGeom>
          <a:noFill/>
          <a:ln/>
        </p:spPr>
        <p:txBody>
          <a:bodyPr wrap="square" lIns="0" tIns="0" rIns="0" bIns="0" rtlCol="0" anchor="ctr"/>
          <a:lstStyle/>
          <a:p>
            <a:pPr indent="0" marL="0">
              <a:buNone/>
            </a:pPr>
            <a:r>
              <a:rPr lang="en-US" sz="1400" b="1" dirty="0">
                <a:solidFill>
                  <a:srgbClr val="0D9488"/>
                </a:solidFill>
                <a:latin typeface="Arial" pitchFamily="34" charset="0"/>
                <a:ea typeface="Arial" pitchFamily="34" charset="-122"/>
                <a:cs typeface="Arial" pitchFamily="34" charset="-120"/>
              </a:rPr>
              <a:t>Close in meaning, close as vectors</a:t>
            </a:r>
            <a:endParaRPr lang="en-US" sz="1400" dirty="0"/>
          </a:p>
        </p:txBody>
      </p:sp>
      <p:sp>
        <p:nvSpPr>
          <p:cNvPr id="10" name="Text 7"/>
          <p:cNvSpPr/>
          <p:nvPr/>
        </p:nvSpPr>
        <p:spPr>
          <a:xfrm>
            <a:off x="914400" y="3840480"/>
            <a:ext cx="4754880" cy="1371600"/>
          </a:xfrm>
          <a:prstGeom prst="rect">
            <a:avLst/>
          </a:prstGeom>
          <a:noFill/>
          <a:ln/>
        </p:spPr>
        <p:txBody>
          <a:bodyPr wrap="square" lIns="0" tIns="0" rIns="0" bIns="0" rtlCol="0" anchor="ctr"/>
          <a:lstStyle/>
          <a:p>
            <a:pPr indent="0" marL="0">
              <a:lnSpc>
                <a:spcPct val="140000"/>
              </a:lnSpc>
              <a:buNone/>
            </a:pPr>
            <a:r>
              <a:rPr lang="en-US" sz="1400" dirty="0">
                <a:solidFill>
                  <a:srgbClr val="1E293B"/>
                </a:solidFill>
                <a:latin typeface="Courier New" pitchFamily="34" charset="0"/>
                <a:ea typeface="Courier New" pitchFamily="34" charset="-122"/>
                <a:cs typeface="Courier New" pitchFamily="34" charset="-120"/>
              </a:rPr>
              <a:t>"cat"  and  "kitten"   </a:t>
            </a:r>
            <a:pPr indent="0" marL="0">
              <a:lnSpc>
                <a:spcPct val="140000"/>
              </a:lnSpc>
              <a:buNone/>
            </a:pPr>
            <a:r>
              <a:rPr lang="en-US" sz="1400" b="1" dirty="0">
                <a:solidFill>
                  <a:srgbClr val="0D9488"/>
                </a:solidFill>
                <a:latin typeface="Arial" pitchFamily="34" charset="0"/>
                <a:ea typeface="Arial" pitchFamily="34" charset="-122"/>
                <a:cs typeface="Arial" pitchFamily="34" charset="-120"/>
              </a:rPr>
              <a:t>-&gt;  near
</a:t>
            </a:r>
            <a:endParaRPr lang="en-US" sz="1400" dirty="0"/>
          </a:p>
          <a:p>
            <a:pPr indent="0" marL="0">
              <a:lnSpc>
                <a:spcPct val="140000"/>
              </a:lnSpc>
              <a:buNone/>
            </a:pPr>
            <a:r>
              <a:rPr lang="en-US" sz="1400" dirty="0">
                <a:solidFill>
                  <a:srgbClr val="1E293B"/>
                </a:solidFill>
                <a:latin typeface="Courier New" pitchFamily="34" charset="0"/>
                <a:ea typeface="Courier New" pitchFamily="34" charset="-122"/>
                <a:cs typeface="Courier New" pitchFamily="34" charset="-120"/>
              </a:rPr>
              <a:t>"cat"  and  "automobile"   </a:t>
            </a:r>
            <a:pPr indent="0" marL="0">
              <a:lnSpc>
                <a:spcPct val="140000"/>
              </a:lnSpc>
              <a:buNone/>
            </a:pPr>
            <a:r>
              <a:rPr lang="en-US" sz="1400" b="1" dirty="0">
                <a:solidFill>
                  <a:srgbClr val="F59E0B"/>
                </a:solidFill>
                <a:latin typeface="Arial" pitchFamily="34" charset="0"/>
                <a:ea typeface="Arial" pitchFamily="34" charset="-122"/>
                <a:cs typeface="Arial" pitchFamily="34" charset="-120"/>
              </a:rPr>
              <a:t>-&gt;  far</a:t>
            </a:r>
            <a:endParaRPr lang="en-US" sz="1400" dirty="0"/>
          </a:p>
        </p:txBody>
      </p:sp>
      <p:sp>
        <p:nvSpPr>
          <p:cNvPr id="11" name="Shape 8"/>
          <p:cNvSpPr/>
          <p:nvPr/>
        </p:nvSpPr>
        <p:spPr>
          <a:xfrm>
            <a:off x="6309360" y="3200400"/>
            <a:ext cx="5212080" cy="2286000"/>
          </a:xfrm>
          <a:prstGeom prst="roundRect">
            <a:avLst>
              <a:gd name="adj" fmla="val 3600"/>
            </a:avLst>
          </a:prstGeom>
          <a:solidFill>
            <a:srgbClr val="F0FDFA"/>
          </a:solidFill>
          <a:ln/>
          <a:effectLst>
            <a:outerShdw sx="100000" sy="100000" kx="0" ky="0" algn="bl" rotWithShape="0" blurRad="88900" dist="38100" dir="5400000">
              <a:srgbClr val="0F2A33">
                <a:alpha val="16000"/>
              </a:srgbClr>
            </a:outerShdw>
          </a:effectLst>
        </p:spPr>
      </p:sp>
      <p:sp>
        <p:nvSpPr>
          <p:cNvPr id="12" name="Text 9"/>
          <p:cNvSpPr/>
          <p:nvPr/>
        </p:nvSpPr>
        <p:spPr>
          <a:xfrm>
            <a:off x="6583680" y="3383280"/>
            <a:ext cx="4663440" cy="365760"/>
          </a:xfrm>
          <a:prstGeom prst="rect">
            <a:avLst/>
          </a:prstGeom>
          <a:noFill/>
          <a:ln/>
        </p:spPr>
        <p:txBody>
          <a:bodyPr wrap="square" lIns="0" tIns="0" rIns="0" bIns="0" rtlCol="0" anchor="ctr"/>
          <a:lstStyle/>
          <a:p>
            <a:pPr indent="0" marL="0">
              <a:buNone/>
            </a:pPr>
            <a:r>
              <a:rPr lang="en-US" sz="1400" b="1" dirty="0">
                <a:solidFill>
                  <a:srgbClr val="0D9488"/>
                </a:solidFill>
                <a:latin typeface="Arial" pitchFamily="34" charset="0"/>
                <a:ea typeface="Arial" pitchFamily="34" charset="-122"/>
                <a:cs typeface="Arial" pitchFamily="34" charset="-120"/>
              </a:rPr>
              <a:t>Why we care</a:t>
            </a:r>
            <a:endParaRPr lang="en-US" sz="1400" dirty="0"/>
          </a:p>
        </p:txBody>
      </p:sp>
      <p:sp>
        <p:nvSpPr>
          <p:cNvPr id="13" name="Text 10"/>
          <p:cNvSpPr/>
          <p:nvPr/>
        </p:nvSpPr>
        <p:spPr>
          <a:xfrm>
            <a:off x="6583680" y="3794760"/>
            <a:ext cx="4754880" cy="1554480"/>
          </a:xfrm>
          <a:prstGeom prst="rect">
            <a:avLst/>
          </a:prstGeom>
          <a:noFill/>
          <a:ln/>
        </p:spPr>
        <p:txBody>
          <a:bodyPr wrap="square" lIns="0" tIns="0" rIns="0" bIns="0" rtlCol="0" anchor="ctr"/>
          <a:lstStyle/>
          <a:p>
            <a:pPr indent="0" marL="0">
              <a:buNone/>
            </a:pPr>
            <a:r>
              <a:rPr lang="en-US" sz="1350" dirty="0">
                <a:solidFill>
                  <a:srgbClr val="1E293B"/>
                </a:solidFill>
                <a:latin typeface="Arial" pitchFamily="34" charset="0"/>
                <a:ea typeface="Arial" pitchFamily="34" charset="-122"/>
                <a:cs typeface="Arial" pitchFamily="34" charset="-120"/>
              </a:rPr>
              <a:t>To find text relevant to a question, we embed both and measure how close the vectors are. Closeness of meaning becomes a number we can sort by. A small embedding model does this; we use nomic-embed-text.</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CHUNKING</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Why we split documents into pieces</a:t>
            </a:r>
            <a:endParaRPr lang="en-US" sz="3000" dirty="0"/>
          </a:p>
        </p:txBody>
      </p:sp>
      <p:sp>
        <p:nvSpPr>
          <p:cNvPr id="4" name="Shape 2"/>
          <p:cNvSpPr/>
          <p:nvPr/>
        </p:nvSpPr>
        <p:spPr>
          <a:xfrm>
            <a:off x="640080" y="1783080"/>
            <a:ext cx="10881360" cy="868680"/>
          </a:xfrm>
          <a:prstGeom prst="roundRect">
            <a:avLst>
              <a:gd name="adj" fmla="val 8421"/>
            </a:avLst>
          </a:prstGeom>
          <a:solidFill>
            <a:srgbClr val="F0FDFA"/>
          </a:solidFill>
          <a:ln/>
          <a:effectLst>
            <a:outerShdw sx="100000" sy="100000" kx="0" ky="0" algn="bl" rotWithShape="0" blurRad="88900" dist="38100" dir="5400000">
              <a:srgbClr val="0F2A33">
                <a:alpha val="16000"/>
              </a:srgbClr>
            </a:outerShdw>
          </a:effectLst>
        </p:spPr>
      </p:sp>
      <p:sp>
        <p:nvSpPr>
          <p:cNvPr id="5" name="Shape 3"/>
          <p:cNvSpPr/>
          <p:nvPr/>
        </p:nvSpPr>
        <p:spPr>
          <a:xfrm>
            <a:off x="896112" y="1975104"/>
            <a:ext cx="502920" cy="50292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026871" y="2105863"/>
            <a:ext cx="241402" cy="241402"/>
          </a:xfrm>
          <a:prstGeom prst="rect">
            <a:avLst/>
          </a:prstGeom>
        </p:spPr>
      </p:pic>
      <p:sp>
        <p:nvSpPr>
          <p:cNvPr id="7" name="Text 4"/>
          <p:cNvSpPr/>
          <p:nvPr/>
        </p:nvSpPr>
        <p:spPr>
          <a:xfrm>
            <a:off x="1600200" y="1783080"/>
            <a:ext cx="3291840" cy="86868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Split the docs</a:t>
            </a:r>
            <a:endParaRPr lang="en-US" sz="1600" dirty="0"/>
          </a:p>
        </p:txBody>
      </p:sp>
      <p:sp>
        <p:nvSpPr>
          <p:cNvPr id="8" name="Text 5"/>
          <p:cNvSpPr/>
          <p:nvPr/>
        </p:nvSpPr>
        <p:spPr>
          <a:xfrm>
            <a:off x="4937760" y="1783080"/>
            <a:ext cx="6400800" cy="86868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Break long documents into small passages, a few sentences each.</a:t>
            </a:r>
            <a:endParaRPr lang="en-US" sz="1350" dirty="0"/>
          </a:p>
        </p:txBody>
      </p:sp>
      <p:sp>
        <p:nvSpPr>
          <p:cNvPr id="9" name="Shape 6"/>
          <p:cNvSpPr/>
          <p:nvPr/>
        </p:nvSpPr>
        <p:spPr>
          <a:xfrm>
            <a:off x="640080" y="2761488"/>
            <a:ext cx="10881360" cy="868680"/>
          </a:xfrm>
          <a:prstGeom prst="roundRect">
            <a:avLst>
              <a:gd name="adj" fmla="val 8421"/>
            </a:avLst>
          </a:prstGeom>
          <a:solidFill>
            <a:srgbClr val="F1F5F9"/>
          </a:solidFill>
          <a:ln/>
          <a:effectLst>
            <a:outerShdw sx="100000" sy="100000" kx="0" ky="0" algn="bl" rotWithShape="0" blurRad="88900" dist="38100" dir="5400000">
              <a:srgbClr val="0F2A33">
                <a:alpha val="16000"/>
              </a:srgbClr>
            </a:outerShdw>
          </a:effectLst>
        </p:spPr>
      </p:sp>
      <p:sp>
        <p:nvSpPr>
          <p:cNvPr id="10" name="Shape 7"/>
          <p:cNvSpPr/>
          <p:nvPr/>
        </p:nvSpPr>
        <p:spPr>
          <a:xfrm>
            <a:off x="896112" y="2953512"/>
            <a:ext cx="502920" cy="502920"/>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1026871" y="3084271"/>
            <a:ext cx="241402" cy="241402"/>
          </a:xfrm>
          <a:prstGeom prst="rect">
            <a:avLst/>
          </a:prstGeom>
        </p:spPr>
      </p:pic>
      <p:sp>
        <p:nvSpPr>
          <p:cNvPr id="12" name="Text 8"/>
          <p:cNvSpPr/>
          <p:nvPr/>
        </p:nvSpPr>
        <p:spPr>
          <a:xfrm>
            <a:off x="1600200" y="2761488"/>
            <a:ext cx="3291840" cy="86868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Retrieve precisely</a:t>
            </a:r>
            <a:endParaRPr lang="en-US" sz="1600" dirty="0"/>
          </a:p>
        </p:txBody>
      </p:sp>
      <p:sp>
        <p:nvSpPr>
          <p:cNvPr id="13" name="Text 9"/>
          <p:cNvSpPr/>
          <p:nvPr/>
        </p:nvSpPr>
        <p:spPr>
          <a:xfrm>
            <a:off x="4937760" y="2761488"/>
            <a:ext cx="6400800" cy="86868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You want to pull back the relevant paragraph, not a whole book.</a:t>
            </a:r>
            <a:endParaRPr lang="en-US" sz="1350" dirty="0"/>
          </a:p>
        </p:txBody>
      </p:sp>
      <p:sp>
        <p:nvSpPr>
          <p:cNvPr id="14" name="Shape 10"/>
          <p:cNvSpPr/>
          <p:nvPr/>
        </p:nvSpPr>
        <p:spPr>
          <a:xfrm>
            <a:off x="640080" y="3739896"/>
            <a:ext cx="10881360" cy="868680"/>
          </a:xfrm>
          <a:prstGeom prst="roundRect">
            <a:avLst>
              <a:gd name="adj" fmla="val 8421"/>
            </a:avLst>
          </a:prstGeom>
          <a:solidFill>
            <a:srgbClr val="F0FDFA"/>
          </a:solidFill>
          <a:ln/>
          <a:effectLst>
            <a:outerShdw sx="100000" sy="100000" kx="0" ky="0" algn="bl" rotWithShape="0" blurRad="88900" dist="38100" dir="5400000">
              <a:srgbClr val="0F2A33">
                <a:alpha val="16000"/>
              </a:srgbClr>
            </a:outerShdw>
          </a:effectLst>
        </p:spPr>
      </p:sp>
      <p:sp>
        <p:nvSpPr>
          <p:cNvPr id="15" name="Shape 11"/>
          <p:cNvSpPr/>
          <p:nvPr/>
        </p:nvSpPr>
        <p:spPr>
          <a:xfrm>
            <a:off x="896112" y="3931920"/>
            <a:ext cx="502920" cy="50292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6" name="Image 2" descr="preencoded.png">    </p:cNvPr>
          <p:cNvPicPr>
            <a:picLocks noChangeAspect="1"/>
          </p:cNvPicPr>
          <p:nvPr/>
        </p:nvPicPr>
        <p:blipFill>
          <a:blip r:embed="rId3"/>
          <a:stretch>
            <a:fillRect/>
          </a:stretch>
        </p:blipFill>
        <p:spPr>
          <a:xfrm>
            <a:off x="1026871" y="4062679"/>
            <a:ext cx="241402" cy="241402"/>
          </a:xfrm>
          <a:prstGeom prst="rect">
            <a:avLst/>
          </a:prstGeom>
        </p:spPr>
      </p:pic>
      <p:sp>
        <p:nvSpPr>
          <p:cNvPr id="17" name="Text 12"/>
          <p:cNvSpPr/>
          <p:nvPr/>
        </p:nvSpPr>
        <p:spPr>
          <a:xfrm>
            <a:off x="1600200" y="3739896"/>
            <a:ext cx="3291840" cy="86868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Fit the prompt</a:t>
            </a:r>
            <a:endParaRPr lang="en-US" sz="1600" dirty="0"/>
          </a:p>
        </p:txBody>
      </p:sp>
      <p:sp>
        <p:nvSpPr>
          <p:cNvPr id="18" name="Text 13"/>
          <p:cNvSpPr/>
          <p:nvPr/>
        </p:nvSpPr>
        <p:spPr>
          <a:xfrm>
            <a:off x="4937760" y="3739896"/>
            <a:ext cx="6400800" cy="86868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Small chunks keep the context you paste in short and on-topic.</a:t>
            </a:r>
            <a:endParaRPr lang="en-US" sz="1350" dirty="0"/>
          </a:p>
        </p:txBody>
      </p:sp>
      <p:sp>
        <p:nvSpPr>
          <p:cNvPr id="19" name="Shape 14"/>
          <p:cNvSpPr/>
          <p:nvPr/>
        </p:nvSpPr>
        <p:spPr>
          <a:xfrm>
            <a:off x="640080" y="4846320"/>
            <a:ext cx="10881360" cy="777240"/>
          </a:xfrm>
          <a:prstGeom prst="roundRect">
            <a:avLst>
              <a:gd name="adj" fmla="val 10588"/>
            </a:avLst>
          </a:prstGeom>
          <a:solidFill>
            <a:srgbClr val="0F2A33"/>
          </a:solidFill>
          <a:ln/>
          <a:effectLst>
            <a:outerShdw sx="100000" sy="100000" kx="0" ky="0" algn="bl" rotWithShape="0" blurRad="88900" dist="38100" dir="5400000">
              <a:srgbClr val="0F2A33">
                <a:alpha val="16000"/>
              </a:srgbClr>
            </a:outerShdw>
          </a:effectLst>
        </p:spPr>
      </p:sp>
      <p:sp>
        <p:nvSpPr>
          <p:cNvPr id="20" name="Text 15"/>
          <p:cNvSpPr/>
          <p:nvPr/>
        </p:nvSpPr>
        <p:spPr>
          <a:xfrm>
            <a:off x="914400" y="4846320"/>
            <a:ext cx="10332720" cy="777240"/>
          </a:xfrm>
          <a:prstGeom prst="rect">
            <a:avLst/>
          </a:prstGeom>
          <a:noFill/>
          <a:ln/>
        </p:spPr>
        <p:txBody>
          <a:bodyPr wrap="square" lIns="0" tIns="0" rIns="0" bIns="0" rtlCol="0" anchor="ctr"/>
          <a:lstStyle/>
          <a:p>
            <a:pPr indent="0" marL="0">
              <a:buNone/>
            </a:pPr>
            <a:r>
              <a:rPr lang="en-US" sz="1400" b="1" dirty="0">
                <a:solidFill>
                  <a:srgbClr val="5EEAD4"/>
                </a:solidFill>
                <a:latin typeface="Arial" pitchFamily="34" charset="0"/>
                <a:ea typeface="Arial" pitchFamily="34" charset="-122"/>
                <a:cs typeface="Arial" pitchFamily="34" charset="-120"/>
              </a:rPr>
              <a:t>The trade-off:  </a:t>
            </a:r>
            <a:pPr indent="0" marL="0">
              <a:buNone/>
            </a:pPr>
            <a:r>
              <a:rPr lang="en-US" sz="1400" dirty="0">
                <a:solidFill>
                  <a:srgbClr val="FFFFFF"/>
                </a:solidFill>
                <a:latin typeface="Arial" pitchFamily="34" charset="0"/>
                <a:ea typeface="Arial" pitchFamily="34" charset="-122"/>
                <a:cs typeface="Arial" pitchFamily="34" charset="-120"/>
              </a:rPr>
              <a:t>too big and a chunk mixes topics and dilutes the match. Too small and it loses context. A few sentences is a good starting point.</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RETRIEVAL</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Find the closest chunks to the question</a:t>
            </a:r>
            <a:endParaRPr lang="en-US" sz="3000" dirty="0"/>
          </a:p>
        </p:txBody>
      </p:sp>
      <p:sp>
        <p:nvSpPr>
          <p:cNvPr id="4" name="Shape 2"/>
          <p:cNvSpPr/>
          <p:nvPr/>
        </p:nvSpPr>
        <p:spPr>
          <a:xfrm>
            <a:off x="640080" y="1783080"/>
            <a:ext cx="10881360" cy="1188720"/>
          </a:xfrm>
          <a:prstGeom prst="roundRect">
            <a:avLst>
              <a:gd name="adj" fmla="val 6923"/>
            </a:avLst>
          </a:prstGeom>
          <a:solidFill>
            <a:srgbClr val="0F2A33"/>
          </a:solidFill>
          <a:ln/>
          <a:effectLst>
            <a:outerShdw sx="100000" sy="100000" kx="0" ky="0" algn="bl" rotWithShape="0" blurRad="88900" dist="38100" dir="5400000">
              <a:srgbClr val="0F2A33">
                <a:alpha val="16000"/>
              </a:srgbClr>
            </a:outerShdw>
          </a:effectLst>
        </p:spPr>
      </p:sp>
      <p:sp>
        <p:nvSpPr>
          <p:cNvPr id="5" name="Shape 3"/>
          <p:cNvSpPr/>
          <p:nvPr/>
        </p:nvSpPr>
        <p:spPr>
          <a:xfrm>
            <a:off x="914400" y="1993392"/>
            <a:ext cx="777240" cy="7772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16482" y="2195474"/>
            <a:ext cx="373075" cy="373075"/>
          </a:xfrm>
          <a:prstGeom prst="rect">
            <a:avLst/>
          </a:prstGeom>
        </p:spPr>
      </p:pic>
      <p:sp>
        <p:nvSpPr>
          <p:cNvPr id="7" name="Text 4"/>
          <p:cNvSpPr/>
          <p:nvPr/>
        </p:nvSpPr>
        <p:spPr>
          <a:xfrm>
            <a:off x="1920240" y="1847088"/>
            <a:ext cx="9326880" cy="105156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Embed the question, then compare it to every stored chunk. </a:t>
            </a:r>
            <a:pPr indent="0" marL="0">
              <a:buNone/>
            </a:pPr>
            <a:r>
              <a:rPr lang="en-US" sz="1600" b="1" dirty="0">
                <a:solidFill>
                  <a:srgbClr val="5EEAD4"/>
                </a:solidFill>
                <a:latin typeface="Arial" pitchFamily="34" charset="0"/>
                <a:ea typeface="Arial" pitchFamily="34" charset="-122"/>
                <a:cs typeface="Arial" pitchFamily="34" charset="-120"/>
              </a:rPr>
              <a:t>Keep the few with the highest similarity. Those are your context.</a:t>
            </a:r>
            <a:endParaRPr lang="en-US" sz="1600" dirty="0"/>
          </a:p>
        </p:txBody>
      </p:sp>
      <p:sp>
        <p:nvSpPr>
          <p:cNvPr id="8" name="Shape 5"/>
          <p:cNvSpPr/>
          <p:nvPr/>
        </p:nvSpPr>
        <p:spPr>
          <a:xfrm>
            <a:off x="640080" y="3291840"/>
            <a:ext cx="10881360" cy="713232"/>
          </a:xfrm>
          <a:prstGeom prst="roundRect">
            <a:avLst>
              <a:gd name="adj" fmla="val 8974"/>
            </a:avLst>
          </a:prstGeom>
          <a:solidFill>
            <a:srgbClr val="F0FDFA"/>
          </a:solidFill>
          <a:ln/>
          <a:effectLst>
            <a:outerShdw sx="100000" sy="100000" kx="0" ky="0" algn="bl" rotWithShape="0" blurRad="88900" dist="38100" dir="5400000">
              <a:srgbClr val="0F2A33">
                <a:alpha val="16000"/>
              </a:srgbClr>
            </a:outerShdw>
          </a:effectLst>
        </p:spPr>
      </p:sp>
      <p:sp>
        <p:nvSpPr>
          <p:cNvPr id="9" name="Text 6"/>
          <p:cNvSpPr/>
          <p:nvPr/>
        </p:nvSpPr>
        <p:spPr>
          <a:xfrm>
            <a:off x="914400" y="3291840"/>
            <a:ext cx="3200400" cy="713232"/>
          </a:xfrm>
          <a:prstGeom prst="rect">
            <a:avLst/>
          </a:prstGeom>
          <a:noFill/>
          <a:ln/>
        </p:spPr>
        <p:txBody>
          <a:bodyPr wrap="square" lIns="0" tIns="0" rIns="0" bIns="0" rtlCol="0" anchor="ctr"/>
          <a:lstStyle/>
          <a:p>
            <a:pPr indent="0" marL="0">
              <a:buNone/>
            </a:pPr>
            <a:r>
              <a:rPr lang="en-US" sz="1550" b="1" dirty="0">
                <a:solidFill>
                  <a:srgbClr val="0D9488"/>
                </a:solidFill>
                <a:latin typeface="Arial" pitchFamily="34" charset="0"/>
                <a:ea typeface="Arial" pitchFamily="34" charset="-122"/>
                <a:cs typeface="Arial" pitchFamily="34" charset="-120"/>
              </a:rPr>
              <a:t>Cosine similarity</a:t>
            </a:r>
            <a:endParaRPr lang="en-US" sz="1550" dirty="0"/>
          </a:p>
        </p:txBody>
      </p:sp>
      <p:sp>
        <p:nvSpPr>
          <p:cNvPr id="10" name="Text 7"/>
          <p:cNvSpPr/>
          <p:nvPr/>
        </p:nvSpPr>
        <p:spPr>
          <a:xfrm>
            <a:off x="4206240" y="3291840"/>
            <a:ext cx="7132320" cy="713232"/>
          </a:xfrm>
          <a:prstGeom prst="rect">
            <a:avLst/>
          </a:prstGeom>
          <a:noFill/>
          <a:ln/>
        </p:spPr>
        <p:txBody>
          <a:bodyPr wrap="square" lIns="0" tIns="0" rIns="0" bIns="0" rtlCol="0" anchor="ctr"/>
          <a:lstStyle/>
          <a:p>
            <a:pPr indent="0" marL="0">
              <a:buNone/>
            </a:pPr>
            <a:r>
              <a:rPr lang="en-US" sz="1350" dirty="0">
                <a:solidFill>
                  <a:srgbClr val="1E293B"/>
                </a:solidFill>
                <a:latin typeface="Arial" pitchFamily="34" charset="0"/>
                <a:ea typeface="Arial" pitchFamily="34" charset="-122"/>
                <a:cs typeface="Arial" pitchFamily="34" charset="-120"/>
              </a:rPr>
              <a:t>A number for how close two vectors point. Higher means more related in meaning.</a:t>
            </a:r>
            <a:endParaRPr lang="en-US" sz="1350" dirty="0"/>
          </a:p>
        </p:txBody>
      </p:sp>
      <p:sp>
        <p:nvSpPr>
          <p:cNvPr id="11" name="Shape 8"/>
          <p:cNvSpPr/>
          <p:nvPr/>
        </p:nvSpPr>
        <p:spPr>
          <a:xfrm>
            <a:off x="640080" y="4114800"/>
            <a:ext cx="10881360" cy="713232"/>
          </a:xfrm>
          <a:prstGeom prst="roundRect">
            <a:avLst>
              <a:gd name="adj" fmla="val 8974"/>
            </a:avLst>
          </a:prstGeom>
          <a:solidFill>
            <a:srgbClr val="F1F5F9"/>
          </a:solidFill>
          <a:ln/>
          <a:effectLst>
            <a:outerShdw sx="100000" sy="100000" kx="0" ky="0" algn="bl" rotWithShape="0" blurRad="88900" dist="38100" dir="5400000">
              <a:srgbClr val="0F2A33">
                <a:alpha val="16000"/>
              </a:srgbClr>
            </a:outerShdw>
          </a:effectLst>
        </p:spPr>
      </p:sp>
      <p:sp>
        <p:nvSpPr>
          <p:cNvPr id="12" name="Text 9"/>
          <p:cNvSpPr/>
          <p:nvPr/>
        </p:nvSpPr>
        <p:spPr>
          <a:xfrm>
            <a:off x="914400" y="4114800"/>
            <a:ext cx="3200400" cy="713232"/>
          </a:xfrm>
          <a:prstGeom prst="rect">
            <a:avLst/>
          </a:prstGeom>
          <a:noFill/>
          <a:ln/>
        </p:spPr>
        <p:txBody>
          <a:bodyPr wrap="square" lIns="0" tIns="0" rIns="0" bIns="0" rtlCol="0" anchor="ctr"/>
          <a:lstStyle/>
          <a:p>
            <a:pPr indent="0" marL="0">
              <a:buNone/>
            </a:pPr>
            <a:r>
              <a:rPr lang="en-US" sz="1550" b="1" dirty="0">
                <a:solidFill>
                  <a:srgbClr val="0D9488"/>
                </a:solidFill>
                <a:latin typeface="Arial" pitchFamily="34" charset="0"/>
                <a:ea typeface="Arial" pitchFamily="34" charset="-122"/>
                <a:cs typeface="Arial" pitchFamily="34" charset="-120"/>
              </a:rPr>
              <a:t>Top-k</a:t>
            </a:r>
            <a:endParaRPr lang="en-US" sz="1550" dirty="0"/>
          </a:p>
        </p:txBody>
      </p:sp>
      <p:sp>
        <p:nvSpPr>
          <p:cNvPr id="13" name="Text 10"/>
          <p:cNvSpPr/>
          <p:nvPr/>
        </p:nvSpPr>
        <p:spPr>
          <a:xfrm>
            <a:off x="4206240" y="4114800"/>
            <a:ext cx="7132320" cy="713232"/>
          </a:xfrm>
          <a:prstGeom prst="rect">
            <a:avLst/>
          </a:prstGeom>
          <a:noFill/>
          <a:ln/>
        </p:spPr>
        <p:txBody>
          <a:bodyPr wrap="square" lIns="0" tIns="0" rIns="0" bIns="0" rtlCol="0" anchor="ctr"/>
          <a:lstStyle/>
          <a:p>
            <a:pPr indent="0" marL="0">
              <a:buNone/>
            </a:pPr>
            <a:r>
              <a:rPr lang="en-US" sz="1350" dirty="0">
                <a:solidFill>
                  <a:srgbClr val="1E293B"/>
                </a:solidFill>
                <a:latin typeface="Arial" pitchFamily="34" charset="0"/>
                <a:ea typeface="Arial" pitchFamily="34" charset="-122"/>
                <a:cs typeface="Arial" pitchFamily="34" charset="-120"/>
              </a:rPr>
              <a:t>Take the k highest-scoring chunks, often just 2 or 3. Enough context, not too much.</a:t>
            </a:r>
            <a:endParaRPr lang="en-US" sz="1350" dirty="0"/>
          </a:p>
        </p:txBody>
      </p:sp>
      <p:sp>
        <p:nvSpPr>
          <p:cNvPr id="14" name="Shape 11"/>
          <p:cNvSpPr/>
          <p:nvPr/>
        </p:nvSpPr>
        <p:spPr>
          <a:xfrm>
            <a:off x="640080" y="4937760"/>
            <a:ext cx="10881360" cy="713232"/>
          </a:xfrm>
          <a:prstGeom prst="roundRect">
            <a:avLst>
              <a:gd name="adj" fmla="val 8974"/>
            </a:avLst>
          </a:prstGeom>
          <a:solidFill>
            <a:srgbClr val="F0FDFA"/>
          </a:solidFill>
          <a:ln/>
          <a:effectLst>
            <a:outerShdw sx="100000" sy="100000" kx="0" ky="0" algn="bl" rotWithShape="0" blurRad="88900" dist="38100" dir="5400000">
              <a:srgbClr val="0F2A33">
                <a:alpha val="16000"/>
              </a:srgbClr>
            </a:outerShdw>
          </a:effectLst>
        </p:spPr>
      </p:sp>
      <p:sp>
        <p:nvSpPr>
          <p:cNvPr id="15" name="Text 12"/>
          <p:cNvSpPr/>
          <p:nvPr/>
        </p:nvSpPr>
        <p:spPr>
          <a:xfrm>
            <a:off x="914400" y="4937760"/>
            <a:ext cx="3200400" cy="713232"/>
          </a:xfrm>
          <a:prstGeom prst="rect">
            <a:avLst/>
          </a:prstGeom>
          <a:noFill/>
          <a:ln/>
        </p:spPr>
        <p:txBody>
          <a:bodyPr wrap="square" lIns="0" tIns="0" rIns="0" bIns="0" rtlCol="0" anchor="ctr"/>
          <a:lstStyle/>
          <a:p>
            <a:pPr indent="0" marL="0">
              <a:buNone/>
            </a:pPr>
            <a:r>
              <a:rPr lang="en-US" sz="1550" b="1" dirty="0">
                <a:solidFill>
                  <a:srgbClr val="0D9488"/>
                </a:solidFill>
                <a:latin typeface="Arial" pitchFamily="34" charset="0"/>
                <a:ea typeface="Arial" pitchFamily="34" charset="-122"/>
                <a:cs typeface="Arial" pitchFamily="34" charset="-120"/>
              </a:rPr>
              <a:t>Paste and answer</a:t>
            </a:r>
            <a:endParaRPr lang="en-US" sz="1550" dirty="0"/>
          </a:p>
        </p:txBody>
      </p:sp>
      <p:sp>
        <p:nvSpPr>
          <p:cNvPr id="16" name="Text 13"/>
          <p:cNvSpPr/>
          <p:nvPr/>
        </p:nvSpPr>
        <p:spPr>
          <a:xfrm>
            <a:off x="4206240" y="4937760"/>
            <a:ext cx="7132320" cy="713232"/>
          </a:xfrm>
          <a:prstGeom prst="rect">
            <a:avLst/>
          </a:prstGeom>
          <a:noFill/>
          <a:ln/>
        </p:spPr>
        <p:txBody>
          <a:bodyPr wrap="square" lIns="0" tIns="0" rIns="0" bIns="0" rtlCol="0" anchor="ctr"/>
          <a:lstStyle/>
          <a:p>
            <a:pPr indent="0" marL="0">
              <a:buNone/>
            </a:pPr>
            <a:r>
              <a:rPr lang="en-US" sz="1350" dirty="0">
                <a:solidFill>
                  <a:srgbClr val="1E293B"/>
                </a:solidFill>
                <a:latin typeface="Arial" pitchFamily="34" charset="0"/>
                <a:ea typeface="Arial" pitchFamily="34" charset="-122"/>
                <a:cs typeface="Arial" pitchFamily="34" charset="-120"/>
              </a:rPr>
              <a:t>Put those chunks in the prompt and ask the model to answer using only them.</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RAG  -  CODE</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Embed, search by cosine, answer from context</a:t>
            </a:r>
            <a:endParaRPr lang="en-US" sz="3000" dirty="0"/>
          </a:p>
        </p:txBody>
      </p:sp>
      <p:sp>
        <p:nvSpPr>
          <p:cNvPr id="4" name="Shape 2"/>
          <p:cNvSpPr/>
          <p:nvPr/>
        </p:nvSpPr>
        <p:spPr>
          <a:xfrm>
            <a:off x="640080" y="1691640"/>
            <a:ext cx="7772400" cy="4251960"/>
          </a:xfrm>
          <a:prstGeom prst="roundRect">
            <a:avLst>
              <a:gd name="adj" fmla="val 1290"/>
            </a:avLst>
          </a:prstGeom>
          <a:solidFill>
            <a:srgbClr val="0B2229"/>
          </a:solidFill>
          <a:ln/>
          <a:effectLst>
            <a:outerShdw sx="100000" sy="100000" kx="0" ky="0" algn="bl" rotWithShape="0" blurRad="88900" dist="38100" dir="5400000">
              <a:srgbClr val="0F2A33">
                <a:alpha val="16000"/>
              </a:srgbClr>
            </a:outerShdw>
          </a:effectLst>
        </p:spPr>
      </p:sp>
      <p:sp>
        <p:nvSpPr>
          <p:cNvPr id="5" name="Text 3"/>
          <p:cNvSpPr/>
          <p:nvPr/>
        </p:nvSpPr>
        <p:spPr>
          <a:xfrm>
            <a:off x="841248" y="1837944"/>
            <a:ext cx="7370064" cy="3959352"/>
          </a:xfrm>
          <a:prstGeom prst="rect">
            <a:avLst/>
          </a:prstGeom>
          <a:noFill/>
          <a:ln/>
        </p:spPr>
        <p:txBody>
          <a:bodyPr wrap="square" lIns="0" tIns="0" rIns="0" bIns="0" rtlCol="0" anchor="t"/>
          <a:lstStyle/>
          <a:p>
            <a:pPr indent="0" marL="0">
              <a:lnSpc>
                <a:spcPct val="106000"/>
              </a:lnSpc>
              <a:buNone/>
            </a:pPr>
            <a:r>
              <a:rPr lang="en-US" sz="1100" dirty="0">
                <a:solidFill>
                  <a:srgbClr val="5EEAD4"/>
                </a:solidFill>
                <a:latin typeface="Courier New" pitchFamily="34" charset="0"/>
                <a:ea typeface="Courier New" pitchFamily="34" charset="-122"/>
                <a:cs typeface="Courier New" pitchFamily="34" charset="-120"/>
              </a:rPr>
              <a:t>import </a:t>
            </a:r>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ollama, numpy </a:t>
            </a:r>
            <a:pPr indent="0" marL="0">
              <a:lnSpc>
                <a:spcPct val="106000"/>
              </a:lnSpc>
              <a:buNone/>
            </a:pPr>
            <a:r>
              <a:rPr lang="en-US" sz="1100" dirty="0">
                <a:solidFill>
                  <a:srgbClr val="5EEAD4"/>
                </a:solidFill>
                <a:latin typeface="Courier New" pitchFamily="34" charset="0"/>
                <a:ea typeface="Courier New" pitchFamily="34" charset="-122"/>
                <a:cs typeface="Courier New" pitchFamily="34" charset="-120"/>
              </a:rPr>
              <a:t>as </a:t>
            </a:r>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np</a:t>
            </a:r>
            <a:endParaRPr lang="en-US" sz="1100" dirty="0"/>
          </a:p>
          <a:p>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5EEAD4"/>
                </a:solidFill>
                <a:latin typeface="Courier New" pitchFamily="34" charset="0"/>
                <a:ea typeface="Courier New" pitchFamily="34" charset="-122"/>
                <a:cs typeface="Courier New" pitchFamily="34" charset="-120"/>
              </a:rPr>
              <a:t>def </a:t>
            </a:r>
            <a:pPr indent="0" marL="0">
              <a:lnSpc>
                <a:spcPct val="106000"/>
              </a:lnSpc>
              <a:buNone/>
            </a:pPr>
            <a:r>
              <a:rPr lang="en-US" sz="1100" dirty="0">
                <a:solidFill>
                  <a:srgbClr val="FCD34D"/>
                </a:solidFill>
                <a:latin typeface="Courier New" pitchFamily="34" charset="0"/>
                <a:ea typeface="Courier New" pitchFamily="34" charset="-122"/>
                <a:cs typeface="Courier New" pitchFamily="34" charset="-120"/>
              </a:rPr>
              <a:t>embed</a:t>
            </a:r>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(text):</a:t>
            </a:r>
            <a:endParaRPr lang="en-US" sz="1100" dirty="0"/>
          </a:p>
          <a:p>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    r = ollama.embed(model=</a:t>
            </a:r>
            <a:pPr indent="0" marL="0">
              <a:lnSpc>
                <a:spcPct val="106000"/>
              </a:lnSpc>
              <a:buNone/>
            </a:pPr>
            <a:r>
              <a:rPr lang="en-US" sz="1100" dirty="0">
                <a:solidFill>
                  <a:srgbClr val="FCD34D"/>
                </a:solidFill>
                <a:latin typeface="Courier New" pitchFamily="34" charset="0"/>
                <a:ea typeface="Courier New" pitchFamily="34" charset="-122"/>
                <a:cs typeface="Courier New" pitchFamily="34" charset="-120"/>
              </a:rPr>
              <a:t>"nomic-embed-text"</a:t>
            </a:r>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 input=text)</a:t>
            </a:r>
            <a:endParaRPr lang="en-US" sz="1100" dirty="0"/>
          </a:p>
          <a:p>
            <a:pPr indent="0" marL="0">
              <a:lnSpc>
                <a:spcPct val="106000"/>
              </a:lnSpc>
              <a:buNone/>
            </a:pPr>
            <a:r>
              <a:rPr lang="en-US" sz="1100" dirty="0">
                <a:solidFill>
                  <a:srgbClr val="5EEAD4"/>
                </a:solidFill>
                <a:latin typeface="Courier New" pitchFamily="34" charset="0"/>
                <a:ea typeface="Courier New" pitchFamily="34" charset="-122"/>
                <a:cs typeface="Courier New" pitchFamily="34" charset="-120"/>
              </a:rPr>
              <a:t>    return </a:t>
            </a:r>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np.array(r.embeddings[</a:t>
            </a:r>
            <a:pPr indent="0" marL="0">
              <a:lnSpc>
                <a:spcPct val="106000"/>
              </a:lnSpc>
              <a:buNone/>
            </a:pPr>
            <a:r>
              <a:rPr lang="en-US" sz="1100" dirty="0">
                <a:solidFill>
                  <a:srgbClr val="FCD34D"/>
                </a:solidFill>
                <a:latin typeface="Courier New" pitchFamily="34" charset="0"/>
                <a:ea typeface="Courier New" pitchFamily="34" charset="-122"/>
                <a:cs typeface="Courier New" pitchFamily="34" charset="-120"/>
              </a:rPr>
              <a:t>0</a:t>
            </a:r>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vecs = [embed(d) </a:t>
            </a:r>
            <a:pPr indent="0" marL="0">
              <a:lnSpc>
                <a:spcPct val="106000"/>
              </a:lnSpc>
              <a:buNone/>
            </a:pPr>
            <a:r>
              <a:rPr lang="en-US" sz="1100" dirty="0">
                <a:solidFill>
                  <a:srgbClr val="5EEAD4"/>
                </a:solidFill>
                <a:latin typeface="Courier New" pitchFamily="34" charset="0"/>
                <a:ea typeface="Courier New" pitchFamily="34" charset="-122"/>
                <a:cs typeface="Courier New" pitchFamily="34" charset="-120"/>
              </a:rPr>
              <a:t>for </a:t>
            </a:r>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d </a:t>
            </a:r>
            <a:pPr indent="0" marL="0">
              <a:lnSpc>
                <a:spcPct val="106000"/>
              </a:lnSpc>
              <a:buNone/>
            </a:pPr>
            <a:r>
              <a:rPr lang="en-US" sz="1100" dirty="0">
                <a:solidFill>
                  <a:srgbClr val="5EEAD4"/>
                </a:solidFill>
                <a:latin typeface="Courier New" pitchFamily="34" charset="0"/>
                <a:ea typeface="Courier New" pitchFamily="34" charset="-122"/>
                <a:cs typeface="Courier New" pitchFamily="34" charset="-120"/>
              </a:rPr>
              <a:t>in </a:t>
            </a:r>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docs]   </a:t>
            </a:r>
            <a:pPr indent="0" marL="0">
              <a:lnSpc>
                <a:spcPct val="106000"/>
              </a:lnSpc>
              <a:buNone/>
            </a:pPr>
            <a:r>
              <a:rPr lang="en-US" sz="1100" dirty="0">
                <a:solidFill>
                  <a:srgbClr val="7DD3C8"/>
                </a:solidFill>
                <a:latin typeface="Courier New" pitchFamily="34" charset="0"/>
                <a:ea typeface="Courier New" pitchFamily="34" charset="-122"/>
                <a:cs typeface="Courier New" pitchFamily="34" charset="-120"/>
              </a:rPr>
              <a:t># index once</a:t>
            </a:r>
            <a:endParaRPr lang="en-US" sz="1100" dirty="0"/>
          </a:p>
          <a:p>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5EEAD4"/>
                </a:solidFill>
                <a:latin typeface="Courier New" pitchFamily="34" charset="0"/>
                <a:ea typeface="Courier New" pitchFamily="34" charset="-122"/>
                <a:cs typeface="Courier New" pitchFamily="34" charset="-120"/>
              </a:rPr>
              <a:t>def </a:t>
            </a:r>
            <a:pPr indent="0" marL="0">
              <a:lnSpc>
                <a:spcPct val="106000"/>
              </a:lnSpc>
              <a:buNone/>
            </a:pPr>
            <a:r>
              <a:rPr lang="en-US" sz="1100" dirty="0">
                <a:solidFill>
                  <a:srgbClr val="FCD34D"/>
                </a:solidFill>
                <a:latin typeface="Courier New" pitchFamily="34" charset="0"/>
                <a:ea typeface="Courier New" pitchFamily="34" charset="-122"/>
                <a:cs typeface="Courier New" pitchFamily="34" charset="-120"/>
              </a:rPr>
              <a:t>search</a:t>
            </a:r>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(query, k=</a:t>
            </a:r>
            <a:pPr indent="0" marL="0">
              <a:lnSpc>
                <a:spcPct val="106000"/>
              </a:lnSpc>
              <a:buNone/>
            </a:pPr>
            <a:r>
              <a:rPr lang="en-US" sz="1100" dirty="0">
                <a:solidFill>
                  <a:srgbClr val="FCD34D"/>
                </a:solidFill>
                <a:latin typeface="Courier New" pitchFamily="34" charset="0"/>
                <a:ea typeface="Courier New" pitchFamily="34" charset="-122"/>
                <a:cs typeface="Courier New" pitchFamily="34" charset="-120"/>
              </a:rPr>
              <a:t>2</a:t>
            </a:r>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    q = embed(query)</a:t>
            </a:r>
            <a:endParaRPr lang="en-US" sz="1100" dirty="0"/>
          </a:p>
          <a:p>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    sims = [q @ v /(np.linalg.norm(q)*np.linalg.norm(v))</a:t>
            </a:r>
            <a:endParaRPr lang="en-US" sz="1100" dirty="0"/>
          </a:p>
          <a:p>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5EEAD4"/>
                </a:solidFill>
                <a:latin typeface="Courier New" pitchFamily="34" charset="0"/>
                <a:ea typeface="Courier New" pitchFamily="34" charset="-122"/>
                <a:cs typeface="Courier New" pitchFamily="34" charset="-120"/>
              </a:rPr>
              <a:t>for </a:t>
            </a:r>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v </a:t>
            </a:r>
            <a:pPr indent="0" marL="0">
              <a:lnSpc>
                <a:spcPct val="106000"/>
              </a:lnSpc>
              <a:buNone/>
            </a:pPr>
            <a:r>
              <a:rPr lang="en-US" sz="1100" dirty="0">
                <a:solidFill>
                  <a:srgbClr val="5EEAD4"/>
                </a:solidFill>
                <a:latin typeface="Courier New" pitchFamily="34" charset="0"/>
                <a:ea typeface="Courier New" pitchFamily="34" charset="-122"/>
                <a:cs typeface="Courier New" pitchFamily="34" charset="-120"/>
              </a:rPr>
              <a:t>in </a:t>
            </a:r>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vecs]</a:t>
            </a:r>
            <a:endParaRPr lang="en-US" sz="1100" dirty="0"/>
          </a:p>
          <a:p>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    order = sorted(</a:t>
            </a:r>
            <a:pPr indent="0" marL="0">
              <a:lnSpc>
                <a:spcPct val="106000"/>
              </a:lnSpc>
              <a:buNone/>
            </a:pPr>
            <a:r>
              <a:rPr lang="en-US" sz="1100" dirty="0">
                <a:solidFill>
                  <a:srgbClr val="14B8A6"/>
                </a:solidFill>
                <a:latin typeface="Courier New" pitchFamily="34" charset="0"/>
                <a:ea typeface="Courier New" pitchFamily="34" charset="-122"/>
                <a:cs typeface="Courier New" pitchFamily="34" charset="-120"/>
              </a:rPr>
              <a:t>range</a:t>
            </a:r>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14B8A6"/>
                </a:solidFill>
                <a:latin typeface="Courier New" pitchFamily="34" charset="0"/>
                <a:ea typeface="Courier New" pitchFamily="34" charset="-122"/>
                <a:cs typeface="Courier New" pitchFamily="34" charset="-120"/>
              </a:rPr>
              <a:t>len</a:t>
            </a:r>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(docs)),</a:t>
            </a:r>
            <a:endParaRPr lang="en-US" sz="1100" dirty="0"/>
          </a:p>
          <a:p>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                   key=</a:t>
            </a:r>
            <a:pPr indent="0" marL="0">
              <a:lnSpc>
                <a:spcPct val="106000"/>
              </a:lnSpc>
              <a:buNone/>
            </a:pPr>
            <a:r>
              <a:rPr lang="en-US" sz="1100" dirty="0">
                <a:solidFill>
                  <a:srgbClr val="5EEAD4"/>
                </a:solidFill>
                <a:latin typeface="Courier New" pitchFamily="34" charset="0"/>
                <a:ea typeface="Courier New" pitchFamily="34" charset="-122"/>
                <a:cs typeface="Courier New" pitchFamily="34" charset="-120"/>
              </a:rPr>
              <a:t>lambda </a:t>
            </a:r>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i: sims[i], reverse=</a:t>
            </a:r>
            <a:pPr indent="0" marL="0">
              <a:lnSpc>
                <a:spcPct val="106000"/>
              </a:lnSpc>
              <a:buNone/>
            </a:pPr>
            <a:r>
              <a:rPr lang="en-US" sz="1100" dirty="0">
                <a:solidFill>
                  <a:srgbClr val="14B8A6"/>
                </a:solidFill>
                <a:latin typeface="Courier New" pitchFamily="34" charset="0"/>
                <a:ea typeface="Courier New" pitchFamily="34" charset="-122"/>
                <a:cs typeface="Courier New" pitchFamily="34" charset="-120"/>
              </a:rPr>
              <a:t>True</a:t>
            </a:r>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5EEAD4"/>
                </a:solidFill>
                <a:latin typeface="Courier New" pitchFamily="34" charset="0"/>
                <a:ea typeface="Courier New" pitchFamily="34" charset="-122"/>
                <a:cs typeface="Courier New" pitchFamily="34" charset="-120"/>
              </a:rPr>
              <a:t>    return </a:t>
            </a:r>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[docs[i] </a:t>
            </a:r>
            <a:pPr indent="0" marL="0">
              <a:lnSpc>
                <a:spcPct val="106000"/>
              </a:lnSpc>
              <a:buNone/>
            </a:pPr>
            <a:r>
              <a:rPr lang="en-US" sz="1100" dirty="0">
                <a:solidFill>
                  <a:srgbClr val="5EEAD4"/>
                </a:solidFill>
                <a:latin typeface="Courier New" pitchFamily="34" charset="0"/>
                <a:ea typeface="Courier New" pitchFamily="34" charset="-122"/>
                <a:cs typeface="Courier New" pitchFamily="34" charset="-120"/>
              </a:rPr>
              <a:t>for </a:t>
            </a:r>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i </a:t>
            </a:r>
            <a:pPr indent="0" marL="0">
              <a:lnSpc>
                <a:spcPct val="106000"/>
              </a:lnSpc>
              <a:buNone/>
            </a:pPr>
            <a:r>
              <a:rPr lang="en-US" sz="1100" dirty="0">
                <a:solidFill>
                  <a:srgbClr val="5EEAD4"/>
                </a:solidFill>
                <a:latin typeface="Courier New" pitchFamily="34" charset="0"/>
                <a:ea typeface="Courier New" pitchFamily="34" charset="-122"/>
                <a:cs typeface="Courier New" pitchFamily="34" charset="-120"/>
              </a:rPr>
              <a:t>in </a:t>
            </a:r>
            <a:pPr indent="0" marL="0">
              <a:lnSpc>
                <a:spcPct val="106000"/>
              </a:lnSpc>
              <a:buNone/>
            </a:pPr>
            <a:r>
              <a:rPr lang="en-US" sz="1100" dirty="0">
                <a:solidFill>
                  <a:srgbClr val="E2E8F0"/>
                </a:solidFill>
                <a:latin typeface="Courier New" pitchFamily="34" charset="0"/>
                <a:ea typeface="Courier New" pitchFamily="34" charset="-122"/>
                <a:cs typeface="Courier New" pitchFamily="34" charset="-120"/>
              </a:rPr>
              <a:t>order[:k]]</a:t>
            </a:r>
            <a:endParaRPr lang="en-US" sz="1100" dirty="0"/>
          </a:p>
        </p:txBody>
      </p:sp>
      <p:sp>
        <p:nvSpPr>
          <p:cNvPr id="6" name="Shape 4"/>
          <p:cNvSpPr/>
          <p:nvPr/>
        </p:nvSpPr>
        <p:spPr>
          <a:xfrm>
            <a:off x="8595360" y="1691640"/>
            <a:ext cx="2926080" cy="4251960"/>
          </a:xfrm>
          <a:prstGeom prst="roundRect">
            <a:avLst>
              <a:gd name="adj" fmla="val 2813"/>
            </a:avLst>
          </a:prstGeom>
          <a:solidFill>
            <a:srgbClr val="F0FDFA"/>
          </a:solidFill>
          <a:ln/>
          <a:effectLst>
            <a:outerShdw sx="100000" sy="100000" kx="0" ky="0" algn="bl" rotWithShape="0" blurRad="88900" dist="38100" dir="5400000">
              <a:srgbClr val="0F2A33">
                <a:alpha val="16000"/>
              </a:srgbClr>
            </a:outerShdw>
          </a:effectLst>
        </p:spPr>
      </p:sp>
      <p:sp>
        <p:nvSpPr>
          <p:cNvPr id="7" name="Text 5"/>
          <p:cNvSpPr/>
          <p:nvPr/>
        </p:nvSpPr>
        <p:spPr>
          <a:xfrm>
            <a:off x="8778240" y="1874520"/>
            <a:ext cx="2651760" cy="365760"/>
          </a:xfrm>
          <a:prstGeom prst="rect">
            <a:avLst/>
          </a:prstGeom>
          <a:noFill/>
          <a:ln/>
        </p:spPr>
        <p:txBody>
          <a:bodyPr wrap="square" lIns="0" tIns="0" rIns="0" bIns="0" rtlCol="0" anchor="ctr"/>
          <a:lstStyle/>
          <a:p>
            <a:pPr indent="0" marL="0">
              <a:buNone/>
            </a:pPr>
            <a:r>
              <a:rPr lang="en-US" sz="1500" b="1" dirty="0">
                <a:solidFill>
                  <a:srgbClr val="0D9488"/>
                </a:solidFill>
                <a:latin typeface="Arial" pitchFamily="34" charset="0"/>
                <a:ea typeface="Arial" pitchFamily="34" charset="-122"/>
                <a:cs typeface="Arial" pitchFamily="34" charset="-120"/>
              </a:rPr>
              <a:t>Then answer</a:t>
            </a:r>
            <a:endParaRPr lang="en-US" sz="1500" dirty="0"/>
          </a:p>
        </p:txBody>
      </p:sp>
      <p:sp>
        <p:nvSpPr>
          <p:cNvPr id="8" name="Shape 6"/>
          <p:cNvSpPr/>
          <p:nvPr/>
        </p:nvSpPr>
        <p:spPr>
          <a:xfrm>
            <a:off x="8732520" y="2286000"/>
            <a:ext cx="2651760" cy="2011680"/>
          </a:xfrm>
          <a:prstGeom prst="roundRect">
            <a:avLst>
              <a:gd name="adj" fmla="val 2727"/>
            </a:avLst>
          </a:prstGeom>
          <a:solidFill>
            <a:srgbClr val="0B2229"/>
          </a:solidFill>
          <a:ln/>
          <a:effectLst>
            <a:outerShdw sx="100000" sy="100000" kx="0" ky="0" algn="bl" rotWithShape="0" blurRad="88900" dist="38100" dir="5400000">
              <a:srgbClr val="0F2A33">
                <a:alpha val="16000"/>
              </a:srgbClr>
            </a:outerShdw>
          </a:effectLst>
        </p:spPr>
      </p:sp>
      <p:sp>
        <p:nvSpPr>
          <p:cNvPr id="9" name="Text 7"/>
          <p:cNvSpPr/>
          <p:nvPr/>
        </p:nvSpPr>
        <p:spPr>
          <a:xfrm>
            <a:off x="8933688" y="2432304"/>
            <a:ext cx="2249424" cy="1719072"/>
          </a:xfrm>
          <a:prstGeom prst="rect">
            <a:avLst/>
          </a:prstGeom>
          <a:noFill/>
          <a:ln/>
        </p:spPr>
        <p:txBody>
          <a:bodyPr wrap="square" lIns="0" tIns="0" rIns="0" bIns="0" rtlCol="0" anchor="t"/>
          <a:lstStyle/>
          <a:p>
            <a:pPr indent="0" marL="0">
              <a:lnSpc>
                <a:spcPct val="106000"/>
              </a:lnSpc>
              <a:buNone/>
            </a:pPr>
            <a:r>
              <a:rPr lang="en-US" sz="950" dirty="0">
                <a:solidFill>
                  <a:srgbClr val="E2E8F0"/>
                </a:solidFill>
                <a:latin typeface="Courier New" pitchFamily="34" charset="0"/>
                <a:ea typeface="Courier New" pitchFamily="34" charset="-122"/>
                <a:cs typeface="Courier New" pitchFamily="34" charset="-120"/>
              </a:rPr>
              <a:t>ctx = chr(10).join(</a:t>
            </a:r>
            <a:endParaRPr lang="en-US" sz="950" dirty="0"/>
          </a:p>
          <a:p>
            <a:pPr indent="0" marL="0">
              <a:lnSpc>
                <a:spcPct val="106000"/>
              </a:lnSpc>
              <a:buNone/>
            </a:pPr>
            <a:r>
              <a:rPr lang="en-US" sz="950" dirty="0">
                <a:solidFill>
                  <a:srgbClr val="E2E8F0"/>
                </a:solidFill>
                <a:latin typeface="Courier New" pitchFamily="34" charset="0"/>
                <a:ea typeface="Courier New" pitchFamily="34" charset="-122"/>
                <a:cs typeface="Courier New" pitchFamily="34" charset="-120"/>
              </a:rPr>
              <a:t>  search(q, 2))</a:t>
            </a:r>
            <a:endParaRPr lang="en-US" sz="950" dirty="0"/>
          </a:p>
          <a:p>
            <a:pPr indent="0" marL="0">
              <a:lnSpc>
                <a:spcPct val="106000"/>
              </a:lnSpc>
              <a:buNone/>
            </a:pPr>
            <a:r>
              <a:rPr lang="en-US" sz="950" dirty="0">
                <a:solidFill>
                  <a:srgbClr val="E2E8F0"/>
                </a:solidFill>
                <a:latin typeface="Courier New" pitchFamily="34" charset="0"/>
                <a:ea typeface="Courier New" pitchFamily="34" charset="-122"/>
                <a:cs typeface="Courier New" pitchFamily="34" charset="-120"/>
              </a:rPr>
              <a:t>p = </a:t>
            </a:r>
            <a:pPr indent="0" marL="0">
              <a:lnSpc>
                <a:spcPct val="106000"/>
              </a:lnSpc>
              <a:buNone/>
            </a:pPr>
            <a:r>
              <a:rPr lang="en-US" sz="950" dirty="0">
                <a:solidFill>
                  <a:srgbClr val="FCD34D"/>
                </a:solidFill>
                <a:latin typeface="Courier New" pitchFamily="34" charset="0"/>
                <a:ea typeface="Courier New" pitchFamily="34" charset="-122"/>
                <a:cs typeface="Courier New" pitchFamily="34" charset="-120"/>
              </a:rPr>
              <a:t>f"Use only:\n"</a:t>
            </a:r>
            <a:endParaRPr lang="en-US" sz="950" dirty="0"/>
          </a:p>
          <a:p>
            <a:pPr indent="0" marL="0">
              <a:lnSpc>
                <a:spcPct val="106000"/>
              </a:lnSpc>
              <a:buNone/>
            </a:pPr>
            <a:r>
              <a:rPr lang="en-US" sz="950" dirty="0">
                <a:solidFill>
                  <a:srgbClr val="E2E8F0"/>
                </a:solidFill>
                <a:latin typeface="Courier New" pitchFamily="34" charset="0"/>
                <a:ea typeface="Courier New" pitchFamily="34" charset="-122"/>
                <a:cs typeface="Courier New" pitchFamily="34" charset="-120"/>
              </a:rPr>
              <a:t>    </a:t>
            </a:r>
            <a:pPr indent="0" marL="0">
              <a:lnSpc>
                <a:spcPct val="106000"/>
              </a:lnSpc>
              <a:buNone/>
            </a:pPr>
            <a:r>
              <a:rPr lang="en-US" sz="950" dirty="0">
                <a:solidFill>
                  <a:srgbClr val="FCD34D"/>
                </a:solidFill>
                <a:latin typeface="Courier New" pitchFamily="34" charset="0"/>
                <a:ea typeface="Courier New" pitchFamily="34" charset="-122"/>
                <a:cs typeface="Courier New" pitchFamily="34" charset="-120"/>
              </a:rPr>
              <a:t>f"{ctx}\n\nQ:{q}"</a:t>
            </a:r>
            <a:endParaRPr lang="en-US" sz="950" dirty="0"/>
          </a:p>
          <a:p>
            <a:pPr indent="0" marL="0">
              <a:lnSpc>
                <a:spcPct val="106000"/>
              </a:lnSpc>
              <a:buNone/>
            </a:pPr>
            <a:r>
              <a:rPr lang="en-US" sz="950" dirty="0">
                <a:solidFill>
                  <a:srgbClr val="E2E8F0"/>
                </a:solidFill>
                <a:latin typeface="Courier New" pitchFamily="34" charset="0"/>
                <a:ea typeface="Courier New" pitchFamily="34" charset="-122"/>
                <a:cs typeface="Courier New" pitchFamily="34" charset="-120"/>
              </a:rPr>
              <a:t>ollama.chat(MODEL,</a:t>
            </a:r>
            <a:endParaRPr lang="en-US" sz="950" dirty="0"/>
          </a:p>
          <a:p>
            <a:pPr indent="0" marL="0">
              <a:lnSpc>
                <a:spcPct val="106000"/>
              </a:lnSpc>
              <a:buNone/>
            </a:pPr>
            <a:r>
              <a:rPr lang="en-US" sz="950" dirty="0">
                <a:solidFill>
                  <a:srgbClr val="E2E8F0"/>
                </a:solidFill>
                <a:latin typeface="Courier New" pitchFamily="34" charset="0"/>
                <a:ea typeface="Courier New" pitchFamily="34" charset="-122"/>
                <a:cs typeface="Courier New" pitchFamily="34" charset="-120"/>
              </a:rPr>
              <a:t>  messages=[{...p}])</a:t>
            </a:r>
            <a:endParaRPr lang="en-US" sz="950" dirty="0"/>
          </a:p>
        </p:txBody>
      </p:sp>
      <p:sp>
        <p:nvSpPr>
          <p:cNvPr id="10" name="Text 8"/>
          <p:cNvSpPr/>
          <p:nvPr/>
        </p:nvSpPr>
        <p:spPr>
          <a:xfrm>
            <a:off x="8732520" y="4434840"/>
            <a:ext cx="2651760" cy="457200"/>
          </a:xfrm>
          <a:prstGeom prst="rect">
            <a:avLst/>
          </a:prstGeom>
          <a:noFill/>
          <a:ln/>
        </p:spPr>
        <p:txBody>
          <a:bodyPr wrap="square" rtlCol="0" anchor="ctr"/>
          <a:lstStyle/>
          <a:p>
            <a:pPr algn="ctr" indent="0" marL="0">
              <a:buNone/>
            </a:pPr>
            <a:r>
              <a:rPr lang="en-US" sz="1100" i="1" dirty="0">
                <a:solidFill>
                  <a:srgbClr val="64748B"/>
                </a:solidFill>
                <a:latin typeface="Arial" pitchFamily="34" charset="0"/>
                <a:ea typeface="Arial" pitchFamily="34" charset="-122"/>
                <a:cs typeface="Arial" pitchFamily="34" charset="-120"/>
              </a:rPr>
              <a:t>no vector database needed</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WHEN TO USE RAG</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Versus the alternatives</a:t>
            </a:r>
            <a:endParaRPr lang="en-US" sz="3000" dirty="0"/>
          </a:p>
        </p:txBody>
      </p:sp>
      <p:sp>
        <p:nvSpPr>
          <p:cNvPr id="4" name="Shape 2"/>
          <p:cNvSpPr/>
          <p:nvPr/>
        </p:nvSpPr>
        <p:spPr>
          <a:xfrm>
            <a:off x="640080" y="1783080"/>
            <a:ext cx="3520440" cy="3703320"/>
          </a:xfrm>
          <a:prstGeom prst="roundRect">
            <a:avLst>
              <a:gd name="adj" fmla="val 2338"/>
            </a:avLst>
          </a:prstGeom>
          <a:solidFill>
            <a:srgbClr val="0F2A33"/>
          </a:solidFill>
          <a:ln/>
          <a:effectLst>
            <a:outerShdw sx="100000" sy="100000" kx="0" ky="0" algn="bl" rotWithShape="0" blurRad="88900" dist="38100" dir="5400000">
              <a:srgbClr val="0F2A33">
                <a:alpha val="16000"/>
              </a:srgbClr>
            </a:outerShdw>
          </a:effectLst>
        </p:spPr>
      </p:sp>
      <p:sp>
        <p:nvSpPr>
          <p:cNvPr id="5" name="Shape 3"/>
          <p:cNvSpPr/>
          <p:nvPr/>
        </p:nvSpPr>
        <p:spPr>
          <a:xfrm>
            <a:off x="914400" y="2057400"/>
            <a:ext cx="713232" cy="713232"/>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099840" y="2242840"/>
            <a:ext cx="342351" cy="342351"/>
          </a:xfrm>
          <a:prstGeom prst="rect">
            <a:avLst/>
          </a:prstGeom>
        </p:spPr>
      </p:pic>
      <p:sp>
        <p:nvSpPr>
          <p:cNvPr id="7" name="Text 4"/>
          <p:cNvSpPr/>
          <p:nvPr/>
        </p:nvSpPr>
        <p:spPr>
          <a:xfrm>
            <a:off x="1783080" y="2194560"/>
            <a:ext cx="2194560" cy="457200"/>
          </a:xfrm>
          <a:prstGeom prst="rect">
            <a:avLst/>
          </a:prstGeom>
          <a:noFill/>
          <a:ln/>
        </p:spPr>
        <p:txBody>
          <a:bodyPr wrap="square" lIns="0" tIns="0" rIns="0" bIns="0" rtlCol="0" anchor="ctr"/>
          <a:lstStyle/>
          <a:p>
            <a:pPr indent="0" marL="0">
              <a:buNone/>
            </a:pPr>
            <a:r>
              <a:rPr lang="en-US" sz="1800" b="1" dirty="0">
                <a:solidFill>
                  <a:srgbClr val="5EEAD4"/>
                </a:solidFill>
                <a:latin typeface="Arial" pitchFamily="34" charset="0"/>
                <a:ea typeface="Arial" pitchFamily="34" charset="-122"/>
                <a:cs typeface="Arial" pitchFamily="34" charset="-120"/>
              </a:rPr>
              <a:t>RAG</a:t>
            </a:r>
            <a:endParaRPr lang="en-US" sz="1800" dirty="0"/>
          </a:p>
        </p:txBody>
      </p:sp>
      <p:sp>
        <p:nvSpPr>
          <p:cNvPr id="8" name="Text 5"/>
          <p:cNvSpPr/>
          <p:nvPr/>
        </p:nvSpPr>
        <p:spPr>
          <a:xfrm>
            <a:off x="914400" y="2926080"/>
            <a:ext cx="3017520" cy="777240"/>
          </a:xfrm>
          <a:prstGeom prst="rect">
            <a:avLst/>
          </a:prstGeom>
          <a:noFill/>
          <a:ln/>
        </p:spPr>
        <p:txBody>
          <a:bodyPr wrap="square" lIns="0" tIns="0" rIns="0" bIns="0" rtlCol="0" anchor="ctr"/>
          <a:lstStyle/>
          <a:p>
            <a:pPr indent="0" marL="0">
              <a:buNone/>
            </a:pPr>
            <a:r>
              <a:rPr lang="en-US" sz="1350" i="1" dirty="0">
                <a:solidFill>
                  <a:srgbClr val="FFFFFF"/>
                </a:solidFill>
                <a:latin typeface="Arial" pitchFamily="34" charset="0"/>
                <a:ea typeface="Arial" pitchFamily="34" charset="-122"/>
                <a:cs typeface="Arial" pitchFamily="34" charset="-120"/>
              </a:rPr>
              <a:t>Retrieve relevant text into the prompt.</a:t>
            </a:r>
            <a:endParaRPr lang="en-US" sz="1350" dirty="0"/>
          </a:p>
        </p:txBody>
      </p:sp>
      <p:sp>
        <p:nvSpPr>
          <p:cNvPr id="9" name="Text 6"/>
          <p:cNvSpPr/>
          <p:nvPr/>
        </p:nvSpPr>
        <p:spPr>
          <a:xfrm>
            <a:off x="914400" y="3794760"/>
            <a:ext cx="3017520" cy="1554480"/>
          </a:xfrm>
          <a:prstGeom prst="rect">
            <a:avLst/>
          </a:prstGeom>
          <a:noFill/>
          <a:ln/>
        </p:spPr>
        <p:txBody>
          <a:bodyPr wrap="square" lIns="0" tIns="0" rIns="0" bIns="0" rtlCol="0" anchor="ctr"/>
          <a:lstStyle/>
          <a:p>
            <a:pPr indent="0" marL="0">
              <a:buNone/>
            </a:pPr>
            <a:r>
              <a:rPr lang="en-US" sz="1300" dirty="0">
                <a:solidFill>
                  <a:srgbClr val="E2E8F0"/>
                </a:solidFill>
                <a:latin typeface="Arial" pitchFamily="34" charset="0"/>
                <a:ea typeface="Arial" pitchFamily="34" charset="-122"/>
                <a:cs typeface="Arial" pitchFamily="34" charset="-120"/>
              </a:rPr>
              <a:t>Best for private or changing knowledge. Cheap to update: just add documents.</a:t>
            </a:r>
            <a:endParaRPr lang="en-US" sz="1300" dirty="0"/>
          </a:p>
        </p:txBody>
      </p:sp>
      <p:sp>
        <p:nvSpPr>
          <p:cNvPr id="10" name="Shape 7"/>
          <p:cNvSpPr/>
          <p:nvPr/>
        </p:nvSpPr>
        <p:spPr>
          <a:xfrm>
            <a:off x="4297680" y="1783080"/>
            <a:ext cx="3520440" cy="3703320"/>
          </a:xfrm>
          <a:prstGeom prst="roundRect">
            <a:avLst>
              <a:gd name="adj" fmla="val 2338"/>
            </a:avLst>
          </a:prstGeom>
          <a:solidFill>
            <a:srgbClr val="F1F5F9"/>
          </a:solidFill>
          <a:ln/>
          <a:effectLst>
            <a:outerShdw sx="100000" sy="100000" kx="0" ky="0" algn="bl" rotWithShape="0" blurRad="88900" dist="38100" dir="5400000">
              <a:srgbClr val="0F2A33">
                <a:alpha val="16000"/>
              </a:srgbClr>
            </a:outerShdw>
          </a:effectLst>
        </p:spPr>
      </p:sp>
      <p:sp>
        <p:nvSpPr>
          <p:cNvPr id="11" name="Shape 8"/>
          <p:cNvSpPr/>
          <p:nvPr/>
        </p:nvSpPr>
        <p:spPr>
          <a:xfrm>
            <a:off x="4572000" y="2057400"/>
            <a:ext cx="713232" cy="713232"/>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2" name="Image 1" descr="preencoded.png">    </p:cNvPr>
          <p:cNvPicPr>
            <a:picLocks noChangeAspect="1"/>
          </p:cNvPicPr>
          <p:nvPr/>
        </p:nvPicPr>
        <p:blipFill>
          <a:blip r:embed="rId2"/>
          <a:stretch>
            <a:fillRect/>
          </a:stretch>
        </p:blipFill>
        <p:spPr>
          <a:xfrm>
            <a:off x="4757440" y="2242840"/>
            <a:ext cx="342351" cy="342351"/>
          </a:xfrm>
          <a:prstGeom prst="rect">
            <a:avLst/>
          </a:prstGeom>
        </p:spPr>
      </p:pic>
      <p:sp>
        <p:nvSpPr>
          <p:cNvPr id="13" name="Text 9"/>
          <p:cNvSpPr/>
          <p:nvPr/>
        </p:nvSpPr>
        <p:spPr>
          <a:xfrm>
            <a:off x="5440680" y="2194560"/>
            <a:ext cx="2194560" cy="457200"/>
          </a:xfrm>
          <a:prstGeom prst="rect">
            <a:avLst/>
          </a:prstGeom>
          <a:noFill/>
          <a:ln/>
        </p:spPr>
        <p:txBody>
          <a:bodyPr wrap="square" lIns="0" tIns="0" rIns="0" bIns="0" rtlCol="0" anchor="ctr"/>
          <a:lstStyle/>
          <a:p>
            <a:pPr indent="0" marL="0">
              <a:buNone/>
            </a:pPr>
            <a:r>
              <a:rPr lang="en-US" sz="1800" b="1" dirty="0">
                <a:solidFill>
                  <a:srgbClr val="1E293B"/>
                </a:solidFill>
                <a:latin typeface="Arial" pitchFamily="34" charset="0"/>
                <a:ea typeface="Arial" pitchFamily="34" charset="-122"/>
                <a:cs typeface="Arial" pitchFamily="34" charset="-120"/>
              </a:rPr>
              <a:t>Fine-tuning</a:t>
            </a:r>
            <a:endParaRPr lang="en-US" sz="1800" dirty="0"/>
          </a:p>
        </p:txBody>
      </p:sp>
      <p:sp>
        <p:nvSpPr>
          <p:cNvPr id="14" name="Text 10"/>
          <p:cNvSpPr/>
          <p:nvPr/>
        </p:nvSpPr>
        <p:spPr>
          <a:xfrm>
            <a:off x="4572000" y="2926080"/>
            <a:ext cx="3017520" cy="777240"/>
          </a:xfrm>
          <a:prstGeom prst="rect">
            <a:avLst/>
          </a:prstGeom>
          <a:noFill/>
          <a:ln/>
        </p:spPr>
        <p:txBody>
          <a:bodyPr wrap="square" lIns="0" tIns="0" rIns="0" bIns="0" rtlCol="0" anchor="ctr"/>
          <a:lstStyle/>
          <a:p>
            <a:pPr indent="0" marL="0">
              <a:buNone/>
            </a:pPr>
            <a:r>
              <a:rPr lang="en-US" sz="1350" i="1" dirty="0">
                <a:solidFill>
                  <a:srgbClr val="1E293B"/>
                </a:solidFill>
                <a:latin typeface="Arial" pitchFamily="34" charset="0"/>
                <a:ea typeface="Arial" pitchFamily="34" charset="-122"/>
                <a:cs typeface="Arial" pitchFamily="34" charset="-120"/>
              </a:rPr>
              <a:t>Retrain the model on your data.</a:t>
            </a:r>
            <a:endParaRPr lang="en-US" sz="1350" dirty="0"/>
          </a:p>
        </p:txBody>
      </p:sp>
      <p:sp>
        <p:nvSpPr>
          <p:cNvPr id="15" name="Text 11"/>
          <p:cNvSpPr/>
          <p:nvPr/>
        </p:nvSpPr>
        <p:spPr>
          <a:xfrm>
            <a:off x="4572000" y="3794760"/>
            <a:ext cx="3017520" cy="155448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Best for teaching style or format, not facts. Costly and slow to update.</a:t>
            </a:r>
            <a:endParaRPr lang="en-US" sz="1300" dirty="0"/>
          </a:p>
        </p:txBody>
      </p:sp>
      <p:sp>
        <p:nvSpPr>
          <p:cNvPr id="16" name="Shape 12"/>
          <p:cNvSpPr/>
          <p:nvPr/>
        </p:nvSpPr>
        <p:spPr>
          <a:xfrm>
            <a:off x="7955280" y="1783080"/>
            <a:ext cx="3520440" cy="3703320"/>
          </a:xfrm>
          <a:prstGeom prst="roundRect">
            <a:avLst>
              <a:gd name="adj" fmla="val 2338"/>
            </a:avLst>
          </a:prstGeom>
          <a:solidFill>
            <a:srgbClr val="F1F5F9"/>
          </a:solidFill>
          <a:ln/>
          <a:effectLst>
            <a:outerShdw sx="100000" sy="100000" kx="0" ky="0" algn="bl" rotWithShape="0" blurRad="88900" dist="38100" dir="5400000">
              <a:srgbClr val="0F2A33">
                <a:alpha val="16000"/>
              </a:srgbClr>
            </a:outerShdw>
          </a:effectLst>
        </p:spPr>
      </p:sp>
      <p:sp>
        <p:nvSpPr>
          <p:cNvPr id="17" name="Shape 13"/>
          <p:cNvSpPr/>
          <p:nvPr/>
        </p:nvSpPr>
        <p:spPr>
          <a:xfrm>
            <a:off x="8229600" y="2057400"/>
            <a:ext cx="713232" cy="713232"/>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8" name="Image 2" descr="preencoded.png">    </p:cNvPr>
          <p:cNvPicPr>
            <a:picLocks noChangeAspect="1"/>
          </p:cNvPicPr>
          <p:nvPr/>
        </p:nvPicPr>
        <p:blipFill>
          <a:blip r:embed="rId3"/>
          <a:stretch>
            <a:fillRect/>
          </a:stretch>
        </p:blipFill>
        <p:spPr>
          <a:xfrm>
            <a:off x="8415040" y="2242840"/>
            <a:ext cx="342351" cy="342351"/>
          </a:xfrm>
          <a:prstGeom prst="rect">
            <a:avLst/>
          </a:prstGeom>
        </p:spPr>
      </p:pic>
      <p:sp>
        <p:nvSpPr>
          <p:cNvPr id="19" name="Text 14"/>
          <p:cNvSpPr/>
          <p:nvPr/>
        </p:nvSpPr>
        <p:spPr>
          <a:xfrm>
            <a:off x="9098280" y="2194560"/>
            <a:ext cx="2194560" cy="457200"/>
          </a:xfrm>
          <a:prstGeom prst="rect">
            <a:avLst/>
          </a:prstGeom>
          <a:noFill/>
          <a:ln/>
        </p:spPr>
        <p:txBody>
          <a:bodyPr wrap="square" lIns="0" tIns="0" rIns="0" bIns="0" rtlCol="0" anchor="ctr"/>
          <a:lstStyle/>
          <a:p>
            <a:pPr indent="0" marL="0">
              <a:buNone/>
            </a:pPr>
            <a:r>
              <a:rPr lang="en-US" sz="1800" b="1" dirty="0">
                <a:solidFill>
                  <a:srgbClr val="1E293B"/>
                </a:solidFill>
                <a:latin typeface="Arial" pitchFamily="34" charset="0"/>
                <a:ea typeface="Arial" pitchFamily="34" charset="-122"/>
                <a:cs typeface="Arial" pitchFamily="34" charset="-120"/>
              </a:rPr>
              <a:t>Long context</a:t>
            </a:r>
            <a:endParaRPr lang="en-US" sz="1800" dirty="0"/>
          </a:p>
        </p:txBody>
      </p:sp>
      <p:sp>
        <p:nvSpPr>
          <p:cNvPr id="20" name="Text 15"/>
          <p:cNvSpPr/>
          <p:nvPr/>
        </p:nvSpPr>
        <p:spPr>
          <a:xfrm>
            <a:off x="8229600" y="2926080"/>
            <a:ext cx="3017520" cy="777240"/>
          </a:xfrm>
          <a:prstGeom prst="rect">
            <a:avLst/>
          </a:prstGeom>
          <a:noFill/>
          <a:ln/>
        </p:spPr>
        <p:txBody>
          <a:bodyPr wrap="square" lIns="0" tIns="0" rIns="0" bIns="0" rtlCol="0" anchor="ctr"/>
          <a:lstStyle/>
          <a:p>
            <a:pPr indent="0" marL="0">
              <a:buNone/>
            </a:pPr>
            <a:r>
              <a:rPr lang="en-US" sz="1350" i="1" dirty="0">
                <a:solidFill>
                  <a:srgbClr val="1E293B"/>
                </a:solidFill>
                <a:latin typeface="Arial" pitchFamily="34" charset="0"/>
                <a:ea typeface="Arial" pitchFamily="34" charset="-122"/>
                <a:cs typeface="Arial" pitchFamily="34" charset="-120"/>
              </a:rPr>
              <a:t>Paste everything into a huge prompt.</a:t>
            </a:r>
            <a:endParaRPr lang="en-US" sz="1350" dirty="0"/>
          </a:p>
        </p:txBody>
      </p:sp>
      <p:sp>
        <p:nvSpPr>
          <p:cNvPr id="21" name="Text 16"/>
          <p:cNvSpPr/>
          <p:nvPr/>
        </p:nvSpPr>
        <p:spPr>
          <a:xfrm>
            <a:off x="8229600" y="3794760"/>
            <a:ext cx="3017520" cy="155448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Fine for small data. Expensive and slower as the data grows.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RAG  -  TAKEAWAYS AND FAILURE MODES</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Retrieval is only as good as what it finds</a:t>
            </a:r>
            <a:endParaRPr lang="en-US" sz="3000" dirty="0"/>
          </a:p>
        </p:txBody>
      </p:sp>
      <p:sp>
        <p:nvSpPr>
          <p:cNvPr id="4" name="Shape 2"/>
          <p:cNvSpPr/>
          <p:nvPr/>
        </p:nvSpPr>
        <p:spPr>
          <a:xfrm>
            <a:off x="640080" y="1828800"/>
            <a:ext cx="5349240" cy="3383280"/>
          </a:xfrm>
          <a:prstGeom prst="roundRect">
            <a:avLst>
              <a:gd name="adj" fmla="val 2432"/>
            </a:avLst>
          </a:prstGeom>
          <a:solidFill>
            <a:srgbClr val="F0FDFA"/>
          </a:solidFill>
          <a:ln/>
          <a:effectLst>
            <a:outerShdw sx="100000" sy="100000" kx="0" ky="0" algn="bl" rotWithShape="0" blurRad="88900" dist="38100" dir="5400000">
              <a:srgbClr val="0F2A33">
                <a:alpha val="16000"/>
              </a:srgbClr>
            </a:outerShdw>
          </a:effectLst>
        </p:spPr>
      </p:sp>
      <p:sp>
        <p:nvSpPr>
          <p:cNvPr id="5" name="Shape 3"/>
          <p:cNvSpPr/>
          <p:nvPr/>
        </p:nvSpPr>
        <p:spPr>
          <a:xfrm>
            <a:off x="868680" y="2057400"/>
            <a:ext cx="548640" cy="54864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011326" y="2200046"/>
            <a:ext cx="263347" cy="263347"/>
          </a:xfrm>
          <a:prstGeom prst="rect">
            <a:avLst/>
          </a:prstGeom>
        </p:spPr>
      </p:pic>
      <p:sp>
        <p:nvSpPr>
          <p:cNvPr id="7" name="Text 4"/>
          <p:cNvSpPr/>
          <p:nvPr/>
        </p:nvSpPr>
        <p:spPr>
          <a:xfrm>
            <a:off x="1554480" y="2121408"/>
            <a:ext cx="4297680" cy="411480"/>
          </a:xfrm>
          <a:prstGeom prst="rect">
            <a:avLst/>
          </a:prstGeom>
          <a:noFill/>
          <a:ln/>
        </p:spPr>
        <p:txBody>
          <a:bodyPr wrap="square" lIns="0" tIns="0" rIns="0" bIns="0" rtlCol="0" anchor="ctr"/>
          <a:lstStyle/>
          <a:p>
            <a:pPr indent="0" marL="0">
              <a:buNone/>
            </a:pPr>
            <a:r>
              <a:rPr lang="en-US" sz="1700" b="1" dirty="0">
                <a:solidFill>
                  <a:srgbClr val="0D9488"/>
                </a:solidFill>
                <a:latin typeface="Arial" pitchFamily="34" charset="0"/>
                <a:ea typeface="Arial" pitchFamily="34" charset="-122"/>
                <a:cs typeface="Arial" pitchFamily="34" charset="-120"/>
              </a:rPr>
              <a:t>Do</a:t>
            </a:r>
            <a:endParaRPr lang="en-US" sz="1700" dirty="0"/>
          </a:p>
        </p:txBody>
      </p:sp>
      <p:sp>
        <p:nvSpPr>
          <p:cNvPr id="8" name="Text 5"/>
          <p:cNvSpPr/>
          <p:nvPr/>
        </p:nvSpPr>
        <p:spPr>
          <a:xfrm>
            <a:off x="914400" y="2743200"/>
            <a:ext cx="4846320" cy="2286000"/>
          </a:xfrm>
          <a:prstGeom prst="rect">
            <a:avLst/>
          </a:prstGeom>
          <a:noFill/>
          <a:ln/>
        </p:spPr>
        <p:txBody>
          <a:bodyPr wrap="square" lIns="0" tIns="0" rIns="0" bIns="0" rtlCol="0" anchor="ctr"/>
          <a:lstStyle/>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Chunk to a few sentences, tune the size</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Keep k small, usually 2 or 3</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Tell the model to answer only from the context</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Show which chunk an answer came from</a:t>
            </a:r>
            <a:endParaRPr lang="en-US" sz="1350" dirty="0"/>
          </a:p>
        </p:txBody>
      </p:sp>
      <p:sp>
        <p:nvSpPr>
          <p:cNvPr id="9" name="Shape 6"/>
          <p:cNvSpPr/>
          <p:nvPr/>
        </p:nvSpPr>
        <p:spPr>
          <a:xfrm>
            <a:off x="6172200" y="1828800"/>
            <a:ext cx="5349240" cy="3383280"/>
          </a:xfrm>
          <a:prstGeom prst="roundRect">
            <a:avLst>
              <a:gd name="adj" fmla="val 2432"/>
            </a:avLst>
          </a:prstGeom>
          <a:solidFill>
            <a:srgbClr val="F1F5F9"/>
          </a:solidFill>
          <a:ln/>
          <a:effectLst>
            <a:outerShdw sx="100000" sy="100000" kx="0" ky="0" algn="bl" rotWithShape="0" blurRad="88900" dist="38100" dir="5400000">
              <a:srgbClr val="0F2A33">
                <a:alpha val="16000"/>
              </a:srgbClr>
            </a:outerShdw>
          </a:effectLst>
        </p:spPr>
      </p:sp>
      <p:sp>
        <p:nvSpPr>
          <p:cNvPr id="10" name="Shape 7"/>
          <p:cNvSpPr/>
          <p:nvPr/>
        </p:nvSpPr>
        <p:spPr>
          <a:xfrm>
            <a:off x="6400800" y="2057400"/>
            <a:ext cx="548640" cy="548640"/>
          </a:xfrm>
          <a:prstGeom prst="ellipse">
            <a:avLst/>
          </a:prstGeom>
          <a:solidFill>
            <a:srgbClr val="0F2A33"/>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6543446" y="2200046"/>
            <a:ext cx="263347" cy="263347"/>
          </a:xfrm>
          <a:prstGeom prst="rect">
            <a:avLst/>
          </a:prstGeom>
        </p:spPr>
      </p:pic>
      <p:sp>
        <p:nvSpPr>
          <p:cNvPr id="12" name="Text 8"/>
          <p:cNvSpPr/>
          <p:nvPr/>
        </p:nvSpPr>
        <p:spPr>
          <a:xfrm>
            <a:off x="7086600" y="2121408"/>
            <a:ext cx="4297680" cy="411480"/>
          </a:xfrm>
          <a:prstGeom prst="rect">
            <a:avLst/>
          </a:prstGeom>
          <a:noFill/>
          <a:ln/>
        </p:spPr>
        <p:txBody>
          <a:bodyPr wrap="square" lIns="0" tIns="0" rIns="0" bIns="0" rtlCol="0" anchor="ctr"/>
          <a:lstStyle/>
          <a:p>
            <a:pPr indent="0" marL="0">
              <a:buNone/>
            </a:pPr>
            <a:r>
              <a:rPr lang="en-US" sz="1700" b="1" dirty="0">
                <a:solidFill>
                  <a:srgbClr val="1E293B"/>
                </a:solidFill>
                <a:latin typeface="Arial" pitchFamily="34" charset="0"/>
                <a:ea typeface="Arial" pitchFamily="34" charset="-122"/>
                <a:cs typeface="Arial" pitchFamily="34" charset="-120"/>
              </a:rPr>
              <a:t>Watch out for</a:t>
            </a:r>
            <a:endParaRPr lang="en-US" sz="1700" dirty="0"/>
          </a:p>
        </p:txBody>
      </p:sp>
      <p:sp>
        <p:nvSpPr>
          <p:cNvPr id="13" name="Text 9"/>
          <p:cNvSpPr/>
          <p:nvPr/>
        </p:nvSpPr>
        <p:spPr>
          <a:xfrm>
            <a:off x="6446520" y="2743200"/>
            <a:ext cx="4846320" cy="2286000"/>
          </a:xfrm>
          <a:prstGeom prst="rect">
            <a:avLst/>
          </a:prstGeom>
          <a:noFill/>
          <a:ln/>
        </p:spPr>
        <p:txBody>
          <a:bodyPr wrap="square" lIns="0" tIns="0" rIns="0" bIns="0" rtlCol="0" anchor="ctr"/>
          <a:lstStyle/>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Garbage in: bad chunks give bad answers</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Retrieval misses the right passage entirely</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The model still hallucinates beyond the context</a:t>
            </a:r>
            <a:endParaRPr lang="en-US" sz="1350" dirty="0"/>
          </a:p>
          <a:p>
            <a:pPr marL="342900" indent="-342900">
              <a:spcAft>
                <a:spcPts val="1100"/>
              </a:spcAft>
              <a:buSzPct val="100000"/>
              <a:buChar char="•"/>
            </a:pPr>
            <a:r>
              <a:rPr lang="en-US" sz="1350" dirty="0">
                <a:solidFill>
                  <a:srgbClr val="1E293B"/>
                </a:solidFill>
                <a:latin typeface="Arial" pitchFamily="34" charset="0"/>
                <a:ea typeface="Arial" pitchFamily="34" charset="-122"/>
                <a:cs typeface="Arial" pitchFamily="34" charset="-120"/>
              </a:rPr>
              <a:t>Stale store: update it when the docs change</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PUTTING TODAY TOGETHER</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An agent that remembers and looks things up</a:t>
            </a:r>
            <a:endParaRPr lang="en-US" sz="3000" dirty="0"/>
          </a:p>
        </p:txBody>
      </p:sp>
      <p:sp>
        <p:nvSpPr>
          <p:cNvPr id="4" name="Shape 2"/>
          <p:cNvSpPr/>
          <p:nvPr/>
        </p:nvSpPr>
        <p:spPr>
          <a:xfrm>
            <a:off x="640080" y="1828800"/>
            <a:ext cx="5212080" cy="3566160"/>
          </a:xfrm>
          <a:prstGeom prst="roundRect">
            <a:avLst>
              <a:gd name="adj" fmla="val 2308"/>
            </a:avLst>
          </a:prstGeom>
          <a:solidFill>
            <a:srgbClr val="F0FDFA"/>
          </a:solidFill>
          <a:ln/>
          <a:effectLst>
            <a:outerShdw sx="100000" sy="100000" kx="0" ky="0" algn="bl" rotWithShape="0" blurRad="88900" dist="38100" dir="5400000">
              <a:srgbClr val="0F2A33">
                <a:alpha val="16000"/>
              </a:srgbClr>
            </a:outerShdw>
          </a:effectLst>
        </p:spPr>
      </p:sp>
      <p:sp>
        <p:nvSpPr>
          <p:cNvPr id="5" name="Shape 3"/>
          <p:cNvSpPr/>
          <p:nvPr/>
        </p:nvSpPr>
        <p:spPr>
          <a:xfrm>
            <a:off x="914400" y="2103120"/>
            <a:ext cx="640080" cy="64008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080821" y="2269541"/>
            <a:ext cx="307238" cy="307238"/>
          </a:xfrm>
          <a:prstGeom prst="rect">
            <a:avLst/>
          </a:prstGeom>
        </p:spPr>
      </p:pic>
      <p:sp>
        <p:nvSpPr>
          <p:cNvPr id="7" name="Text 4"/>
          <p:cNvSpPr/>
          <p:nvPr/>
        </p:nvSpPr>
        <p:spPr>
          <a:xfrm>
            <a:off x="1691640" y="2194560"/>
            <a:ext cx="4023360" cy="411480"/>
          </a:xfrm>
          <a:prstGeom prst="rect">
            <a:avLst/>
          </a:prstGeom>
          <a:noFill/>
          <a:ln/>
        </p:spPr>
        <p:txBody>
          <a:bodyPr wrap="square" lIns="0" tIns="0" rIns="0" bIns="0" rtlCol="0" anchor="ctr"/>
          <a:lstStyle/>
          <a:p>
            <a:pPr indent="0" marL="0">
              <a:buNone/>
            </a:pPr>
            <a:r>
              <a:rPr lang="en-US" sz="1800" b="1" dirty="0">
                <a:solidFill>
                  <a:srgbClr val="0D9488"/>
                </a:solidFill>
                <a:latin typeface="Arial" pitchFamily="34" charset="0"/>
                <a:ea typeface="Arial" pitchFamily="34" charset="-122"/>
                <a:cs typeface="Arial" pitchFamily="34" charset="-120"/>
              </a:rPr>
              <a:t>Memory</a:t>
            </a:r>
            <a:endParaRPr lang="en-US" sz="1800" dirty="0"/>
          </a:p>
        </p:txBody>
      </p:sp>
      <p:sp>
        <p:nvSpPr>
          <p:cNvPr id="8" name="Text 5"/>
          <p:cNvSpPr/>
          <p:nvPr/>
        </p:nvSpPr>
        <p:spPr>
          <a:xfrm>
            <a:off x="960120" y="2926080"/>
            <a:ext cx="4754880" cy="237744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1E293B"/>
                </a:solidFill>
                <a:latin typeface="Arial" pitchFamily="34" charset="0"/>
                <a:ea typeface="Arial" pitchFamily="34" charset="-122"/>
                <a:cs typeface="Arial" pitchFamily="34" charset="-120"/>
              </a:rPr>
              <a:t>Keeps the conversation in context</a:t>
            </a:r>
            <a:endParaRPr lang="en-US" sz="1400" dirty="0"/>
          </a:p>
          <a:p>
            <a:pPr marL="342900" indent="-342900">
              <a:spcAft>
                <a:spcPts val="1200"/>
              </a:spcAft>
              <a:buSzPct val="100000"/>
              <a:buChar char="•"/>
            </a:pPr>
            <a:r>
              <a:rPr lang="en-US" sz="1400" dirty="0">
                <a:solidFill>
                  <a:srgbClr val="1E293B"/>
                </a:solidFill>
                <a:latin typeface="Arial" pitchFamily="34" charset="0"/>
                <a:ea typeface="Arial" pitchFamily="34" charset="-122"/>
                <a:cs typeface="Arial" pitchFamily="34" charset="-120"/>
              </a:rPr>
              <a:t>Summarizes old turns to stay small</a:t>
            </a:r>
            <a:endParaRPr lang="en-US" sz="1400" dirty="0"/>
          </a:p>
          <a:p>
            <a:pPr marL="342900" indent="-342900">
              <a:spcAft>
                <a:spcPts val="1200"/>
              </a:spcAft>
              <a:buSzPct val="100000"/>
              <a:buChar char="•"/>
            </a:pPr>
            <a:r>
              <a:rPr lang="en-US" sz="1400" dirty="0">
                <a:solidFill>
                  <a:srgbClr val="1E293B"/>
                </a:solidFill>
                <a:latin typeface="Arial" pitchFamily="34" charset="0"/>
                <a:ea typeface="Arial" pitchFamily="34" charset="-122"/>
                <a:cs typeface="Arial" pitchFamily="34" charset="-120"/>
              </a:rPr>
              <a:t>Pins durable facts about the user</a:t>
            </a:r>
            <a:endParaRPr lang="en-US" sz="1400" dirty="0"/>
          </a:p>
          <a:p>
            <a:pPr marL="342900" indent="-342900">
              <a:spcAft>
                <a:spcPts val="1200"/>
              </a:spcAft>
              <a:buSzPct val="100000"/>
              <a:buChar char="•"/>
            </a:pPr>
            <a:r>
              <a:rPr lang="en-US" sz="1400" dirty="0">
                <a:solidFill>
                  <a:srgbClr val="1E293B"/>
                </a:solidFill>
                <a:latin typeface="Arial" pitchFamily="34" charset="0"/>
                <a:ea typeface="Arial" pitchFamily="34" charset="-122"/>
                <a:cs typeface="Arial" pitchFamily="34" charset="-120"/>
              </a:rPr>
              <a:t>Stores and recalls across sessions</a:t>
            </a:r>
            <a:endParaRPr lang="en-US" sz="1400" dirty="0"/>
          </a:p>
        </p:txBody>
      </p:sp>
      <p:sp>
        <p:nvSpPr>
          <p:cNvPr id="9" name="Shape 6"/>
          <p:cNvSpPr/>
          <p:nvPr/>
        </p:nvSpPr>
        <p:spPr>
          <a:xfrm>
            <a:off x="6309360" y="1828800"/>
            <a:ext cx="5212080" cy="3566160"/>
          </a:xfrm>
          <a:prstGeom prst="roundRect">
            <a:avLst>
              <a:gd name="adj" fmla="val 2308"/>
            </a:avLst>
          </a:prstGeom>
          <a:solidFill>
            <a:srgbClr val="0F2A33"/>
          </a:solidFill>
          <a:ln/>
          <a:effectLst>
            <a:outerShdw sx="100000" sy="100000" kx="0" ky="0" algn="bl" rotWithShape="0" blurRad="88900" dist="38100" dir="5400000">
              <a:srgbClr val="0F2A33">
                <a:alpha val="16000"/>
              </a:srgbClr>
            </a:outerShdw>
          </a:effectLst>
        </p:spPr>
      </p:sp>
      <p:sp>
        <p:nvSpPr>
          <p:cNvPr id="10" name="Shape 7"/>
          <p:cNvSpPr/>
          <p:nvPr/>
        </p:nvSpPr>
        <p:spPr>
          <a:xfrm>
            <a:off x="6583680" y="2103120"/>
            <a:ext cx="640080" cy="64008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11" name="Image 1" descr="preencoded.png">    </p:cNvPr>
          <p:cNvPicPr>
            <a:picLocks noChangeAspect="1"/>
          </p:cNvPicPr>
          <p:nvPr/>
        </p:nvPicPr>
        <p:blipFill>
          <a:blip r:embed="rId2"/>
          <a:stretch>
            <a:fillRect/>
          </a:stretch>
        </p:blipFill>
        <p:spPr>
          <a:xfrm>
            <a:off x="6750101" y="2269541"/>
            <a:ext cx="307238" cy="307238"/>
          </a:xfrm>
          <a:prstGeom prst="rect">
            <a:avLst/>
          </a:prstGeom>
        </p:spPr>
      </p:pic>
      <p:sp>
        <p:nvSpPr>
          <p:cNvPr id="12" name="Text 8"/>
          <p:cNvSpPr/>
          <p:nvPr/>
        </p:nvSpPr>
        <p:spPr>
          <a:xfrm>
            <a:off x="7086600" y="2194560"/>
            <a:ext cx="4023360" cy="411480"/>
          </a:xfrm>
          <a:prstGeom prst="rect">
            <a:avLst/>
          </a:prstGeom>
          <a:noFill/>
          <a:ln/>
        </p:spPr>
        <p:txBody>
          <a:bodyPr wrap="square" lIns="0" tIns="0" rIns="0" bIns="0" rtlCol="0" anchor="ctr"/>
          <a:lstStyle/>
          <a:p>
            <a:pPr indent="0" marL="0">
              <a:buNone/>
            </a:pPr>
            <a:r>
              <a:rPr lang="en-US" sz="1800" b="1" dirty="0">
                <a:solidFill>
                  <a:srgbClr val="5EEAD4"/>
                </a:solidFill>
                <a:latin typeface="Arial" pitchFamily="34" charset="0"/>
                <a:ea typeface="Arial" pitchFamily="34" charset="-122"/>
                <a:cs typeface="Arial" pitchFamily="34" charset="-120"/>
              </a:rPr>
              <a:t>Retrieval</a:t>
            </a:r>
            <a:endParaRPr lang="en-US" sz="1800" dirty="0"/>
          </a:p>
        </p:txBody>
      </p:sp>
      <p:sp>
        <p:nvSpPr>
          <p:cNvPr id="13" name="Text 9"/>
          <p:cNvSpPr/>
          <p:nvPr/>
        </p:nvSpPr>
        <p:spPr>
          <a:xfrm>
            <a:off x="6629400" y="2926080"/>
            <a:ext cx="4754880" cy="237744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FFFFFF"/>
                </a:solidFill>
                <a:latin typeface="Arial" pitchFamily="34" charset="0"/>
                <a:ea typeface="Arial" pitchFamily="34" charset="-122"/>
                <a:cs typeface="Arial" pitchFamily="34" charset="-120"/>
              </a:rPr>
              <a:t>Looks up real knowledge on demand</a:t>
            </a:r>
            <a:endParaRPr lang="en-US" sz="1400" dirty="0"/>
          </a:p>
          <a:p>
            <a:pPr marL="342900" indent="-342900">
              <a:spcAft>
                <a:spcPts val="1200"/>
              </a:spcAft>
              <a:buSzPct val="100000"/>
              <a:buChar char="•"/>
            </a:pPr>
            <a:r>
              <a:rPr lang="en-US" sz="1400" dirty="0">
                <a:solidFill>
                  <a:srgbClr val="FFFFFF"/>
                </a:solidFill>
                <a:latin typeface="Arial" pitchFamily="34" charset="0"/>
                <a:ea typeface="Arial" pitchFamily="34" charset="-122"/>
                <a:cs typeface="Arial" pitchFamily="34" charset="-120"/>
              </a:rPr>
              <a:t>Grounds answers in actual sources</a:t>
            </a:r>
            <a:endParaRPr lang="en-US" sz="1400" dirty="0"/>
          </a:p>
          <a:p>
            <a:pPr marL="342900" indent="-342900">
              <a:spcAft>
                <a:spcPts val="1200"/>
              </a:spcAft>
              <a:buSzPct val="100000"/>
              <a:buChar char="•"/>
            </a:pPr>
            <a:r>
              <a:rPr lang="en-US" sz="1400" dirty="0">
                <a:solidFill>
                  <a:srgbClr val="FFFFFF"/>
                </a:solidFill>
                <a:latin typeface="Arial" pitchFamily="34" charset="0"/>
                <a:ea typeface="Arial" pitchFamily="34" charset="-122"/>
                <a:cs typeface="Arial" pitchFamily="34" charset="-120"/>
              </a:rPr>
              <a:t>Stays current as documents change</a:t>
            </a:r>
            <a:endParaRPr lang="en-US" sz="1400" dirty="0"/>
          </a:p>
          <a:p>
            <a:pPr marL="342900" indent="-342900">
              <a:spcAft>
                <a:spcPts val="1200"/>
              </a:spcAft>
              <a:buSzPct val="100000"/>
              <a:buChar char="•"/>
            </a:pPr>
            <a:r>
              <a:rPr lang="en-US" sz="1400" dirty="0">
                <a:solidFill>
                  <a:srgbClr val="FFFFFF"/>
                </a:solidFill>
                <a:latin typeface="Arial" pitchFamily="34" charset="0"/>
                <a:ea typeface="Arial" pitchFamily="34" charset="-122"/>
                <a:cs typeface="Arial" pitchFamily="34" charset="-120"/>
              </a:rPr>
              <a:t>Is the engine behind long-term memory</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2A33"/>
        </a:solidFill>
      </p:bgPr>
    </p:bg>
    <p:spTree>
      <p:nvGrpSpPr>
        <p:cNvPr id="1" name=""/>
        <p:cNvGrpSpPr/>
        <p:nvPr/>
      </p:nvGrpSpPr>
      <p:grpSpPr>
        <a:xfrm>
          <a:off x="0" y="0"/>
          <a:ext cx="0" cy="0"/>
          <a:chOff x="0" y="0"/>
          <a:chExt cx="0" cy="0"/>
        </a:xfrm>
      </p:grpSpPr>
      <p:sp>
        <p:nvSpPr>
          <p:cNvPr id="2" name="Shape 0"/>
          <p:cNvSpPr/>
          <p:nvPr/>
        </p:nvSpPr>
        <p:spPr>
          <a:xfrm>
            <a:off x="9509760" y="-1463040"/>
            <a:ext cx="4572000" cy="4572000"/>
          </a:xfrm>
          <a:prstGeom prst="ellipse">
            <a:avLst/>
          </a:prstGeom>
          <a:solidFill>
            <a:srgbClr val="13343B"/>
          </a:solidFill>
          <a:ln/>
        </p:spPr>
      </p:sp>
      <p:sp>
        <p:nvSpPr>
          <p:cNvPr id="3" name="Shape 1"/>
          <p:cNvSpPr/>
          <p:nvPr/>
        </p:nvSpPr>
        <p:spPr>
          <a:xfrm>
            <a:off x="10607040" y="4206240"/>
            <a:ext cx="3840480" cy="3840480"/>
          </a:xfrm>
          <a:prstGeom prst="ellipse">
            <a:avLst/>
          </a:prstGeom>
          <a:solidFill>
            <a:srgbClr val="13343B"/>
          </a:solidFill>
          <a:ln/>
        </p:spPr>
      </p:sp>
      <p:sp>
        <p:nvSpPr>
          <p:cNvPr id="4" name="Text 2"/>
          <p:cNvSpPr/>
          <p:nvPr/>
        </p:nvSpPr>
        <p:spPr>
          <a:xfrm>
            <a:off x="822960" y="2240280"/>
            <a:ext cx="8229600" cy="365760"/>
          </a:xfrm>
          <a:prstGeom prst="rect">
            <a:avLst/>
          </a:prstGeom>
          <a:noFill/>
          <a:ln/>
        </p:spPr>
        <p:txBody>
          <a:bodyPr wrap="square" rtlCol="0" anchor="ctr"/>
          <a:lstStyle/>
          <a:p>
            <a:pPr indent="0" marL="0">
              <a:buNone/>
            </a:pPr>
            <a:r>
              <a:rPr lang="en-US" sz="1500" b="1" spc="400" kern="0" dirty="0">
                <a:solidFill>
                  <a:srgbClr val="F59E0B"/>
                </a:solidFill>
                <a:latin typeface="Arial" pitchFamily="34" charset="0"/>
                <a:ea typeface="Arial" pitchFamily="34" charset="-122"/>
                <a:cs typeface="Arial" pitchFamily="34" charset="-120"/>
              </a:rPr>
              <a:t>PRACTICAL  -  3 HOURS</a:t>
            </a:r>
            <a:endParaRPr lang="en-US" sz="1500" dirty="0"/>
          </a:p>
        </p:txBody>
      </p:sp>
      <p:sp>
        <p:nvSpPr>
          <p:cNvPr id="5" name="Text 3"/>
          <p:cNvSpPr/>
          <p:nvPr/>
        </p:nvSpPr>
        <p:spPr>
          <a:xfrm>
            <a:off x="777240" y="2606040"/>
            <a:ext cx="10058400" cy="1371600"/>
          </a:xfrm>
          <a:prstGeom prst="rect">
            <a:avLst/>
          </a:prstGeom>
          <a:noFill/>
          <a:ln/>
        </p:spPr>
        <p:txBody>
          <a:bodyPr wrap="square" rtlCol="0" anchor="ctr"/>
          <a:lstStyle/>
          <a:p>
            <a:pPr indent="0" marL="0">
              <a:buNone/>
            </a:pPr>
            <a:r>
              <a:rPr lang="en-US" sz="4600" b="1" dirty="0">
                <a:solidFill>
                  <a:srgbClr val="FFFFFF"/>
                </a:solidFill>
                <a:latin typeface="Arial" pitchFamily="34" charset="0"/>
                <a:ea typeface="Arial" pitchFamily="34" charset="-122"/>
                <a:cs typeface="Arial" pitchFamily="34" charset="-120"/>
              </a:rPr>
              <a:t>Build memory and a mini RAG</a:t>
            </a:r>
            <a:endParaRPr lang="en-US" sz="4600" dirty="0"/>
          </a:p>
        </p:txBody>
      </p:sp>
      <p:sp>
        <p:nvSpPr>
          <p:cNvPr id="6" name="Text 4"/>
          <p:cNvSpPr/>
          <p:nvPr/>
        </p:nvSpPr>
        <p:spPr>
          <a:xfrm>
            <a:off x="822960" y="3977640"/>
            <a:ext cx="10058400" cy="457200"/>
          </a:xfrm>
          <a:prstGeom prst="rect">
            <a:avLst/>
          </a:prstGeom>
          <a:noFill/>
          <a:ln/>
        </p:spPr>
        <p:txBody>
          <a:bodyPr wrap="square" rtlCol="0" anchor="ctr"/>
          <a:lstStyle/>
          <a:p>
            <a:pPr indent="0" marL="0">
              <a:buNone/>
            </a:pPr>
            <a:r>
              <a:rPr lang="en-US" sz="1600" i="1" dirty="0">
                <a:solidFill>
                  <a:srgbClr val="5EEAD4"/>
                </a:solidFill>
                <a:latin typeface="Arial" pitchFamily="34" charset="0"/>
                <a:ea typeface="Arial" pitchFamily="34" charset="-122"/>
                <a:cs typeface="Arial" pitchFamily="34" charset="-120"/>
              </a:rPr>
              <a:t>Conversation memory, then retrieval over your own docs, on Ollama</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TODAY'S LAB</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Give your agent memory and a library</a:t>
            </a:r>
            <a:endParaRPr lang="en-US" sz="3000" dirty="0"/>
          </a:p>
        </p:txBody>
      </p:sp>
      <p:sp>
        <p:nvSpPr>
          <p:cNvPr id="4" name="Shape 2"/>
          <p:cNvSpPr/>
          <p:nvPr/>
        </p:nvSpPr>
        <p:spPr>
          <a:xfrm>
            <a:off x="640080" y="1737360"/>
            <a:ext cx="10881360" cy="1143000"/>
          </a:xfrm>
          <a:prstGeom prst="roundRect">
            <a:avLst>
              <a:gd name="adj" fmla="val 7200"/>
            </a:avLst>
          </a:prstGeom>
          <a:solidFill>
            <a:srgbClr val="0F2A33"/>
          </a:solidFill>
          <a:ln/>
          <a:effectLst>
            <a:outerShdw sx="100000" sy="100000" kx="0" ky="0" algn="bl" rotWithShape="0" blurRad="88900" dist="38100" dir="5400000">
              <a:srgbClr val="0F2A33">
                <a:alpha val="16000"/>
              </a:srgbClr>
            </a:outerShdw>
          </a:effectLst>
        </p:spPr>
      </p:sp>
      <p:sp>
        <p:nvSpPr>
          <p:cNvPr id="5" name="Shape 3"/>
          <p:cNvSpPr/>
          <p:nvPr/>
        </p:nvSpPr>
        <p:spPr>
          <a:xfrm>
            <a:off x="914400" y="1938528"/>
            <a:ext cx="731520" cy="731520"/>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6" name="Image 0" descr="preencoded.png">    </p:cNvPr>
          <p:cNvPicPr>
            <a:picLocks noChangeAspect="1"/>
          </p:cNvPicPr>
          <p:nvPr/>
        </p:nvPicPr>
        <p:blipFill>
          <a:blip r:embed="rId1"/>
          <a:stretch>
            <a:fillRect/>
          </a:stretch>
        </p:blipFill>
        <p:spPr>
          <a:xfrm>
            <a:off x="1104595" y="2128723"/>
            <a:ext cx="351130" cy="351130"/>
          </a:xfrm>
          <a:prstGeom prst="rect">
            <a:avLst/>
          </a:prstGeom>
        </p:spPr>
      </p:pic>
      <p:sp>
        <p:nvSpPr>
          <p:cNvPr id="7" name="Text 4"/>
          <p:cNvSpPr/>
          <p:nvPr/>
        </p:nvSpPr>
        <p:spPr>
          <a:xfrm>
            <a:off x="1874520" y="1810512"/>
            <a:ext cx="9418320" cy="1005840"/>
          </a:xfrm>
          <a:prstGeom prst="rect">
            <a:avLst/>
          </a:prstGeom>
          <a:noFill/>
          <a:ln/>
        </p:spPr>
        <p:txBody>
          <a:bodyPr wrap="square" lIns="0" tIns="0" rIns="0" bIns="0" rtlCol="0" anchor="ctr"/>
          <a:lstStyle/>
          <a:p>
            <a:pPr indent="0" marL="0">
              <a:buNone/>
            </a:pPr>
            <a:r>
              <a:rPr lang="en-US" sz="1550" b="1" dirty="0">
                <a:solidFill>
                  <a:srgbClr val="5EEAD4"/>
                </a:solidFill>
                <a:latin typeface="Arial" pitchFamily="34" charset="0"/>
                <a:ea typeface="Arial" pitchFamily="34" charset="-122"/>
                <a:cs typeface="Arial" pitchFamily="34" charset="-120"/>
              </a:rPr>
              <a:t>Goal:  </a:t>
            </a:r>
            <a:pPr indent="0" marL="0">
              <a:buNone/>
            </a:pPr>
            <a:r>
              <a:rPr lang="en-US" sz="1550" dirty="0">
                <a:solidFill>
                  <a:srgbClr val="FFFFFF"/>
                </a:solidFill>
                <a:latin typeface="Arial" pitchFamily="34" charset="0"/>
                <a:ea typeface="Arial" pitchFamily="34" charset="-122"/>
                <a:cs typeface="Arial" pitchFamily="34" charset="-120"/>
              </a:rPr>
              <a:t>build conversation memory that stays small, then a mini RAG that answers questions from your own documents. All local on Ollama.</a:t>
            </a:r>
            <a:endParaRPr lang="en-US" sz="1550" dirty="0"/>
          </a:p>
        </p:txBody>
      </p:sp>
      <p:sp>
        <p:nvSpPr>
          <p:cNvPr id="8" name="Shape 5"/>
          <p:cNvSpPr/>
          <p:nvPr/>
        </p:nvSpPr>
        <p:spPr>
          <a:xfrm>
            <a:off x="640080" y="3108960"/>
            <a:ext cx="3520440" cy="2331720"/>
          </a:xfrm>
          <a:prstGeom prst="roundRect">
            <a:avLst>
              <a:gd name="adj" fmla="val 3529"/>
            </a:avLst>
          </a:prstGeom>
          <a:solidFill>
            <a:srgbClr val="F0FDFA"/>
          </a:solidFill>
          <a:ln/>
          <a:effectLst>
            <a:outerShdw sx="100000" sy="100000" kx="0" ky="0" algn="bl" rotWithShape="0" blurRad="88900" dist="38100" dir="5400000">
              <a:srgbClr val="0F2A33">
                <a:alpha val="16000"/>
              </a:srgbClr>
            </a:outerShdw>
          </a:effectLst>
        </p:spPr>
      </p:sp>
      <p:sp>
        <p:nvSpPr>
          <p:cNvPr id="9" name="Shape 6"/>
          <p:cNvSpPr/>
          <p:nvPr/>
        </p:nvSpPr>
        <p:spPr>
          <a:xfrm>
            <a:off x="914400" y="3383280"/>
            <a:ext cx="713232" cy="713232"/>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0" name="Image 1" descr="preencoded.png">    </p:cNvPr>
          <p:cNvPicPr>
            <a:picLocks noChangeAspect="1"/>
          </p:cNvPicPr>
          <p:nvPr/>
        </p:nvPicPr>
        <p:blipFill>
          <a:blip r:embed="rId2"/>
          <a:stretch>
            <a:fillRect/>
          </a:stretch>
        </p:blipFill>
        <p:spPr>
          <a:xfrm>
            <a:off x="1099840" y="3568720"/>
            <a:ext cx="342351" cy="342351"/>
          </a:xfrm>
          <a:prstGeom prst="rect">
            <a:avLst/>
          </a:prstGeom>
        </p:spPr>
      </p:pic>
      <p:sp>
        <p:nvSpPr>
          <p:cNvPr id="11" name="Text 7"/>
          <p:cNvSpPr/>
          <p:nvPr/>
        </p:nvSpPr>
        <p:spPr>
          <a:xfrm>
            <a:off x="1828800" y="3520440"/>
            <a:ext cx="2194560" cy="45720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Memory</a:t>
            </a:r>
            <a:endParaRPr lang="en-US" sz="1600" dirty="0"/>
          </a:p>
        </p:txBody>
      </p:sp>
      <p:sp>
        <p:nvSpPr>
          <p:cNvPr id="12" name="Text 8"/>
          <p:cNvSpPr/>
          <p:nvPr/>
        </p:nvSpPr>
        <p:spPr>
          <a:xfrm>
            <a:off x="914400" y="4297680"/>
            <a:ext cx="3017520" cy="10058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sliding window plus a running summary</a:t>
            </a:r>
            <a:endParaRPr lang="en-US" sz="1300" dirty="0"/>
          </a:p>
        </p:txBody>
      </p:sp>
      <p:sp>
        <p:nvSpPr>
          <p:cNvPr id="13" name="Shape 9"/>
          <p:cNvSpPr/>
          <p:nvPr/>
        </p:nvSpPr>
        <p:spPr>
          <a:xfrm>
            <a:off x="4297680" y="3108960"/>
            <a:ext cx="3520440" cy="2331720"/>
          </a:xfrm>
          <a:prstGeom prst="roundRect">
            <a:avLst>
              <a:gd name="adj" fmla="val 3529"/>
            </a:avLst>
          </a:prstGeom>
          <a:solidFill>
            <a:srgbClr val="F0FDFA"/>
          </a:solidFill>
          <a:ln/>
          <a:effectLst>
            <a:outerShdw sx="100000" sy="100000" kx="0" ky="0" algn="bl" rotWithShape="0" blurRad="88900" dist="38100" dir="5400000">
              <a:srgbClr val="0F2A33">
                <a:alpha val="16000"/>
              </a:srgbClr>
            </a:outerShdw>
          </a:effectLst>
        </p:spPr>
      </p:sp>
      <p:sp>
        <p:nvSpPr>
          <p:cNvPr id="14" name="Shape 10"/>
          <p:cNvSpPr/>
          <p:nvPr/>
        </p:nvSpPr>
        <p:spPr>
          <a:xfrm>
            <a:off x="4572000" y="3383280"/>
            <a:ext cx="713232" cy="713232"/>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15" name="Image 2" descr="preencoded.png">    </p:cNvPr>
          <p:cNvPicPr>
            <a:picLocks noChangeAspect="1"/>
          </p:cNvPicPr>
          <p:nvPr/>
        </p:nvPicPr>
        <p:blipFill>
          <a:blip r:embed="rId3"/>
          <a:stretch>
            <a:fillRect/>
          </a:stretch>
        </p:blipFill>
        <p:spPr>
          <a:xfrm>
            <a:off x="4757440" y="3568720"/>
            <a:ext cx="342351" cy="342351"/>
          </a:xfrm>
          <a:prstGeom prst="rect">
            <a:avLst/>
          </a:prstGeom>
        </p:spPr>
      </p:pic>
      <p:sp>
        <p:nvSpPr>
          <p:cNvPr id="16" name="Text 11"/>
          <p:cNvSpPr/>
          <p:nvPr/>
        </p:nvSpPr>
        <p:spPr>
          <a:xfrm>
            <a:off x="5486400" y="3520440"/>
            <a:ext cx="2194560" cy="45720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Embeddings</a:t>
            </a:r>
            <a:endParaRPr lang="en-US" sz="1600" dirty="0"/>
          </a:p>
        </p:txBody>
      </p:sp>
      <p:sp>
        <p:nvSpPr>
          <p:cNvPr id="17" name="Text 12"/>
          <p:cNvSpPr/>
          <p:nvPr/>
        </p:nvSpPr>
        <p:spPr>
          <a:xfrm>
            <a:off x="4572000" y="4297680"/>
            <a:ext cx="3017520" cy="10058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pull nomic-embed-text, embed and compare text</a:t>
            </a:r>
            <a:endParaRPr lang="en-US" sz="1300" dirty="0"/>
          </a:p>
        </p:txBody>
      </p:sp>
      <p:sp>
        <p:nvSpPr>
          <p:cNvPr id="18" name="Shape 13"/>
          <p:cNvSpPr/>
          <p:nvPr/>
        </p:nvSpPr>
        <p:spPr>
          <a:xfrm>
            <a:off x="7955280" y="3108960"/>
            <a:ext cx="3520440" cy="2331720"/>
          </a:xfrm>
          <a:prstGeom prst="roundRect">
            <a:avLst>
              <a:gd name="adj" fmla="val 3529"/>
            </a:avLst>
          </a:prstGeom>
          <a:solidFill>
            <a:srgbClr val="F0FDFA"/>
          </a:solidFill>
          <a:ln/>
          <a:effectLst>
            <a:outerShdw sx="100000" sy="100000" kx="0" ky="0" algn="bl" rotWithShape="0" blurRad="88900" dist="38100" dir="5400000">
              <a:srgbClr val="0F2A33">
                <a:alpha val="16000"/>
              </a:srgbClr>
            </a:outerShdw>
          </a:effectLst>
        </p:spPr>
      </p:sp>
      <p:sp>
        <p:nvSpPr>
          <p:cNvPr id="19" name="Shape 14"/>
          <p:cNvSpPr/>
          <p:nvPr/>
        </p:nvSpPr>
        <p:spPr>
          <a:xfrm>
            <a:off x="8229600" y="3383280"/>
            <a:ext cx="713232" cy="713232"/>
          </a:xfrm>
          <a:prstGeom prst="ellipse">
            <a:avLst/>
          </a:prstGeom>
          <a:solidFill>
            <a:srgbClr val="F59E0B"/>
          </a:solidFill>
          <a:ln/>
          <a:effectLst>
            <a:outerShdw sx="100000" sy="100000" kx="0" ky="0" algn="bl" rotWithShape="0" blurRad="88900" dist="38100" dir="5400000">
              <a:srgbClr val="0F2A33">
                <a:alpha val="16000"/>
              </a:srgbClr>
            </a:outerShdw>
          </a:effectLst>
        </p:spPr>
      </p:sp>
      <p:pic>
        <p:nvPicPr>
          <p:cNvPr id="20" name="Image 3" descr="preencoded.png">    </p:cNvPr>
          <p:cNvPicPr>
            <a:picLocks noChangeAspect="1"/>
          </p:cNvPicPr>
          <p:nvPr/>
        </p:nvPicPr>
        <p:blipFill>
          <a:blip r:embed="rId4"/>
          <a:stretch>
            <a:fillRect/>
          </a:stretch>
        </p:blipFill>
        <p:spPr>
          <a:xfrm>
            <a:off x="8415040" y="3568720"/>
            <a:ext cx="342351" cy="342351"/>
          </a:xfrm>
          <a:prstGeom prst="rect">
            <a:avLst/>
          </a:prstGeom>
        </p:spPr>
      </p:pic>
      <p:sp>
        <p:nvSpPr>
          <p:cNvPr id="21" name="Text 15"/>
          <p:cNvSpPr/>
          <p:nvPr/>
        </p:nvSpPr>
        <p:spPr>
          <a:xfrm>
            <a:off x="9144000" y="3520440"/>
            <a:ext cx="2194560" cy="457200"/>
          </a:xfrm>
          <a:prstGeom prst="rect">
            <a:avLst/>
          </a:prstGeom>
          <a:noFill/>
          <a:ln/>
        </p:spPr>
        <p:txBody>
          <a:bodyPr wrap="square" lIns="0" tIns="0" rIns="0" bIns="0" rtlCol="0" anchor="ctr"/>
          <a:lstStyle/>
          <a:p>
            <a:pPr indent="0" marL="0">
              <a:buNone/>
            </a:pPr>
            <a:r>
              <a:rPr lang="en-US" sz="1600" b="1" dirty="0">
                <a:solidFill>
                  <a:srgbClr val="1E293B"/>
                </a:solidFill>
                <a:latin typeface="Arial" pitchFamily="34" charset="0"/>
                <a:ea typeface="Arial" pitchFamily="34" charset="-122"/>
                <a:cs typeface="Arial" pitchFamily="34" charset="-120"/>
              </a:rPr>
              <a:t>Mini RAG</a:t>
            </a:r>
            <a:endParaRPr lang="en-US" sz="1600" dirty="0"/>
          </a:p>
        </p:txBody>
      </p:sp>
      <p:sp>
        <p:nvSpPr>
          <p:cNvPr id="22" name="Text 16"/>
          <p:cNvSpPr/>
          <p:nvPr/>
        </p:nvSpPr>
        <p:spPr>
          <a:xfrm>
            <a:off x="8229600" y="4297680"/>
            <a:ext cx="3017520" cy="100584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chunk, embed, retrieve, answer grounded</a:t>
            </a:r>
            <a:endParaRPr lang="en-US" sz="1300" dirty="0"/>
          </a:p>
        </p:txBody>
      </p:sp>
      <p:sp>
        <p:nvSpPr>
          <p:cNvPr id="23" name="Shape 17"/>
          <p:cNvSpPr/>
          <p:nvPr/>
        </p:nvSpPr>
        <p:spPr>
          <a:xfrm>
            <a:off x="640080" y="5577840"/>
            <a:ext cx="10881360" cy="502920"/>
          </a:xfrm>
          <a:prstGeom prst="roundRect">
            <a:avLst>
              <a:gd name="adj" fmla="val 45455"/>
            </a:avLst>
          </a:prstGeom>
          <a:solidFill>
            <a:srgbClr val="F1F5F9"/>
          </a:solidFill>
          <a:ln/>
        </p:spPr>
      </p:sp>
      <p:sp>
        <p:nvSpPr>
          <p:cNvPr id="24" name="Text 18"/>
          <p:cNvSpPr/>
          <p:nvPr/>
        </p:nvSpPr>
        <p:spPr>
          <a:xfrm>
            <a:off x="914400" y="5577840"/>
            <a:ext cx="10332720" cy="502920"/>
          </a:xfrm>
          <a:prstGeom prst="rect">
            <a:avLst/>
          </a:prstGeom>
          <a:noFill/>
          <a:ln/>
        </p:spPr>
        <p:txBody>
          <a:bodyPr wrap="square" lIns="0" tIns="0" rIns="0" bIns="0" rtlCol="0" anchor="ctr"/>
          <a:lstStyle/>
          <a:p>
            <a:pPr indent="0" marL="0">
              <a:buNone/>
            </a:pPr>
            <a:r>
              <a:rPr lang="en-US" sz="1300" b="1" dirty="0">
                <a:solidFill>
                  <a:srgbClr val="0D9488"/>
                </a:solidFill>
                <a:latin typeface="Arial" pitchFamily="34" charset="0"/>
                <a:ea typeface="Arial" pitchFamily="34" charset="-122"/>
                <a:cs typeface="Arial" pitchFamily="34" charset="-120"/>
              </a:rPr>
              <a:t>Setup:  </a:t>
            </a:r>
            <a:pPr indent="0" marL="0">
              <a:buNone/>
            </a:pPr>
            <a:r>
              <a:rPr lang="en-US" sz="1300" dirty="0">
                <a:solidFill>
                  <a:srgbClr val="1E293B"/>
                </a:solidFill>
                <a:latin typeface="Courier New" pitchFamily="34" charset="0"/>
                <a:ea typeface="Courier New" pitchFamily="34" charset="-122"/>
                <a:cs typeface="Courier New" pitchFamily="34" charset="-120"/>
              </a:rPr>
              <a:t>ollama pull nomic-embed-text   and   pip install numpy</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74320"/>
          </a:xfrm>
          <a:prstGeom prst="rect">
            <a:avLst/>
          </a:prstGeom>
          <a:noFill/>
          <a:ln/>
        </p:spPr>
        <p:txBody>
          <a:bodyPr wrap="square" rtlCol="0" anchor="ctr"/>
          <a:lstStyle/>
          <a:p>
            <a:pPr indent="0" marL="0">
              <a:buNone/>
            </a:pPr>
            <a:r>
              <a:rPr lang="en-US" sz="1200" b="1" spc="300" kern="0" dirty="0">
                <a:solidFill>
                  <a:srgbClr val="0D9488"/>
                </a:solidFill>
                <a:latin typeface="Arial" pitchFamily="34" charset="0"/>
                <a:ea typeface="Arial" pitchFamily="34" charset="-122"/>
                <a:cs typeface="Arial" pitchFamily="34" charset="-120"/>
              </a:rPr>
              <a:t>LAB MILESTONES</a:t>
            </a:r>
            <a:endParaRPr lang="en-US" sz="1200" dirty="0"/>
          </a:p>
        </p:txBody>
      </p:sp>
      <p:sp>
        <p:nvSpPr>
          <p:cNvPr id="3" name="Text 1"/>
          <p:cNvSpPr/>
          <p:nvPr/>
        </p:nvSpPr>
        <p:spPr>
          <a:xfrm>
            <a:off x="640080" y="658368"/>
            <a:ext cx="10881360" cy="777240"/>
          </a:xfrm>
          <a:prstGeom prst="rect">
            <a:avLst/>
          </a:prstGeom>
          <a:noFill/>
          <a:ln/>
        </p:spPr>
        <p:txBody>
          <a:bodyPr wrap="square" rtlCol="0" anchor="ctr"/>
          <a:lstStyle/>
          <a:p>
            <a:pPr indent="0" marL="0">
              <a:buNone/>
            </a:pPr>
            <a:r>
              <a:rPr lang="en-US" sz="3000" b="1" dirty="0">
                <a:solidFill>
                  <a:srgbClr val="1E293B"/>
                </a:solidFill>
                <a:latin typeface="Arial" pitchFamily="34" charset="0"/>
                <a:ea typeface="Arial" pitchFamily="34" charset="-122"/>
                <a:cs typeface="Arial" pitchFamily="34" charset="-120"/>
              </a:rPr>
              <a:t>Memory first, then retrieval</a:t>
            </a:r>
            <a:endParaRPr lang="en-US" sz="3000" dirty="0"/>
          </a:p>
        </p:txBody>
      </p:sp>
      <p:sp>
        <p:nvSpPr>
          <p:cNvPr id="4" name="Shape 2"/>
          <p:cNvSpPr/>
          <p:nvPr/>
        </p:nvSpPr>
        <p:spPr>
          <a:xfrm>
            <a:off x="640080" y="1783080"/>
            <a:ext cx="3520440" cy="1645920"/>
          </a:xfrm>
          <a:prstGeom prst="roundRect">
            <a:avLst>
              <a:gd name="adj" fmla="val 5000"/>
            </a:avLst>
          </a:prstGeom>
          <a:solidFill>
            <a:srgbClr val="F0FDFA"/>
          </a:solidFill>
          <a:ln/>
          <a:effectLst>
            <a:outerShdw sx="100000" sy="100000" kx="0" ky="0" algn="bl" rotWithShape="0" blurRad="88900" dist="38100" dir="5400000">
              <a:srgbClr val="0F2A33">
                <a:alpha val="16000"/>
              </a:srgbClr>
            </a:outerShdw>
          </a:effectLst>
        </p:spPr>
      </p:sp>
      <p:sp>
        <p:nvSpPr>
          <p:cNvPr id="5" name="Shape 3"/>
          <p:cNvSpPr/>
          <p:nvPr/>
        </p:nvSpPr>
        <p:spPr>
          <a:xfrm>
            <a:off x="896112" y="2039112"/>
            <a:ext cx="548640" cy="548640"/>
          </a:xfrm>
          <a:prstGeom prst="ellipse">
            <a:avLst/>
          </a:prstGeom>
          <a:solidFill>
            <a:srgbClr val="0D9488"/>
          </a:solidFill>
          <a:ln/>
        </p:spPr>
      </p:sp>
      <p:sp>
        <p:nvSpPr>
          <p:cNvPr id="6" name="Text 4"/>
          <p:cNvSpPr/>
          <p:nvPr/>
        </p:nvSpPr>
        <p:spPr>
          <a:xfrm>
            <a:off x="896112" y="2039112"/>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1</a:t>
            </a:r>
            <a:endParaRPr lang="en-US" sz="1900" dirty="0"/>
          </a:p>
        </p:txBody>
      </p:sp>
      <p:sp>
        <p:nvSpPr>
          <p:cNvPr id="7" name="Text 5"/>
          <p:cNvSpPr/>
          <p:nvPr/>
        </p:nvSpPr>
        <p:spPr>
          <a:xfrm>
            <a:off x="1600200" y="2057400"/>
            <a:ext cx="2423160" cy="502920"/>
          </a:xfrm>
          <a:prstGeom prst="rect">
            <a:avLst/>
          </a:prstGeom>
          <a:noFill/>
          <a:ln/>
        </p:spPr>
        <p:txBody>
          <a:bodyPr wrap="square" lIns="0" tIns="0" rIns="0" bIns="0" rtlCol="0" anchor="ctr"/>
          <a:lstStyle/>
          <a:p>
            <a:pPr indent="0" marL="0">
              <a:buNone/>
            </a:pPr>
            <a:r>
              <a:rPr lang="en-US" sz="1450" b="1" dirty="0">
                <a:solidFill>
                  <a:srgbClr val="1E293B"/>
                </a:solidFill>
                <a:latin typeface="Arial" pitchFamily="34" charset="0"/>
                <a:ea typeface="Arial" pitchFamily="34" charset="-122"/>
                <a:cs typeface="Arial" pitchFamily="34" charset="-120"/>
              </a:rPr>
              <a:t>Conversation memory</a:t>
            </a:r>
            <a:endParaRPr lang="en-US" sz="1450" dirty="0"/>
          </a:p>
        </p:txBody>
      </p:sp>
      <p:sp>
        <p:nvSpPr>
          <p:cNvPr id="8" name="Text 6"/>
          <p:cNvSpPr/>
          <p:nvPr/>
        </p:nvSpPr>
        <p:spPr>
          <a:xfrm>
            <a:off x="914400" y="2651760"/>
            <a:ext cx="3017520" cy="6858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Keep history and watch the agent recall your name.</a:t>
            </a:r>
            <a:endParaRPr lang="en-US" sz="1200" dirty="0"/>
          </a:p>
        </p:txBody>
      </p:sp>
      <p:sp>
        <p:nvSpPr>
          <p:cNvPr id="9" name="Shape 7"/>
          <p:cNvSpPr/>
          <p:nvPr/>
        </p:nvSpPr>
        <p:spPr>
          <a:xfrm>
            <a:off x="4297680" y="1783080"/>
            <a:ext cx="3520440" cy="1645920"/>
          </a:xfrm>
          <a:prstGeom prst="roundRect">
            <a:avLst>
              <a:gd name="adj" fmla="val 5000"/>
            </a:avLst>
          </a:prstGeom>
          <a:solidFill>
            <a:srgbClr val="F1F5F9"/>
          </a:solidFill>
          <a:ln/>
          <a:effectLst>
            <a:outerShdw sx="100000" sy="100000" kx="0" ky="0" algn="bl" rotWithShape="0" blurRad="88900" dist="38100" dir="5400000">
              <a:srgbClr val="0F2A33">
                <a:alpha val="16000"/>
              </a:srgbClr>
            </a:outerShdw>
          </a:effectLst>
        </p:spPr>
      </p:sp>
      <p:sp>
        <p:nvSpPr>
          <p:cNvPr id="10" name="Shape 8"/>
          <p:cNvSpPr/>
          <p:nvPr/>
        </p:nvSpPr>
        <p:spPr>
          <a:xfrm>
            <a:off x="4553712" y="2039112"/>
            <a:ext cx="548640" cy="548640"/>
          </a:xfrm>
          <a:prstGeom prst="ellipse">
            <a:avLst/>
          </a:prstGeom>
          <a:solidFill>
            <a:srgbClr val="0D9488"/>
          </a:solidFill>
          <a:ln/>
        </p:spPr>
      </p:sp>
      <p:sp>
        <p:nvSpPr>
          <p:cNvPr id="11" name="Text 9"/>
          <p:cNvSpPr/>
          <p:nvPr/>
        </p:nvSpPr>
        <p:spPr>
          <a:xfrm>
            <a:off x="4553712" y="2039112"/>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2</a:t>
            </a:r>
            <a:endParaRPr lang="en-US" sz="1900" dirty="0"/>
          </a:p>
        </p:txBody>
      </p:sp>
      <p:sp>
        <p:nvSpPr>
          <p:cNvPr id="12" name="Text 10"/>
          <p:cNvSpPr/>
          <p:nvPr/>
        </p:nvSpPr>
        <p:spPr>
          <a:xfrm>
            <a:off x="5257800" y="2057400"/>
            <a:ext cx="2423160" cy="502920"/>
          </a:xfrm>
          <a:prstGeom prst="rect">
            <a:avLst/>
          </a:prstGeom>
          <a:noFill/>
          <a:ln/>
        </p:spPr>
        <p:txBody>
          <a:bodyPr wrap="square" lIns="0" tIns="0" rIns="0" bIns="0" rtlCol="0" anchor="ctr"/>
          <a:lstStyle/>
          <a:p>
            <a:pPr indent="0" marL="0">
              <a:buNone/>
            </a:pPr>
            <a:r>
              <a:rPr lang="en-US" sz="1450" b="1" dirty="0">
                <a:solidFill>
                  <a:srgbClr val="1E293B"/>
                </a:solidFill>
                <a:latin typeface="Arial" pitchFamily="34" charset="0"/>
                <a:ea typeface="Arial" pitchFamily="34" charset="-122"/>
                <a:cs typeface="Arial" pitchFamily="34" charset="-120"/>
              </a:rPr>
              <a:t>Sliding window</a:t>
            </a:r>
            <a:endParaRPr lang="en-US" sz="1450" dirty="0"/>
          </a:p>
        </p:txBody>
      </p:sp>
      <p:sp>
        <p:nvSpPr>
          <p:cNvPr id="13" name="Text 11"/>
          <p:cNvSpPr/>
          <p:nvPr/>
        </p:nvSpPr>
        <p:spPr>
          <a:xfrm>
            <a:off x="4572000" y="2651760"/>
            <a:ext cx="3017520" cy="6858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Cap to recent turns and watch it forget older ones.</a:t>
            </a:r>
            <a:endParaRPr lang="en-US" sz="1200" dirty="0"/>
          </a:p>
        </p:txBody>
      </p:sp>
      <p:sp>
        <p:nvSpPr>
          <p:cNvPr id="14" name="Shape 12"/>
          <p:cNvSpPr/>
          <p:nvPr/>
        </p:nvSpPr>
        <p:spPr>
          <a:xfrm>
            <a:off x="7955280" y="1783080"/>
            <a:ext cx="3520440" cy="1645920"/>
          </a:xfrm>
          <a:prstGeom prst="roundRect">
            <a:avLst>
              <a:gd name="adj" fmla="val 5000"/>
            </a:avLst>
          </a:prstGeom>
          <a:solidFill>
            <a:srgbClr val="F0FDFA"/>
          </a:solidFill>
          <a:ln/>
          <a:effectLst>
            <a:outerShdw sx="100000" sy="100000" kx="0" ky="0" algn="bl" rotWithShape="0" blurRad="88900" dist="38100" dir="5400000">
              <a:srgbClr val="0F2A33">
                <a:alpha val="16000"/>
              </a:srgbClr>
            </a:outerShdw>
          </a:effectLst>
        </p:spPr>
      </p:sp>
      <p:sp>
        <p:nvSpPr>
          <p:cNvPr id="15" name="Shape 13"/>
          <p:cNvSpPr/>
          <p:nvPr/>
        </p:nvSpPr>
        <p:spPr>
          <a:xfrm>
            <a:off x="8211312" y="2039112"/>
            <a:ext cx="548640" cy="548640"/>
          </a:xfrm>
          <a:prstGeom prst="ellipse">
            <a:avLst/>
          </a:prstGeom>
          <a:solidFill>
            <a:srgbClr val="0D9488"/>
          </a:solidFill>
          <a:ln/>
        </p:spPr>
      </p:sp>
      <p:sp>
        <p:nvSpPr>
          <p:cNvPr id="16" name="Text 14"/>
          <p:cNvSpPr/>
          <p:nvPr/>
        </p:nvSpPr>
        <p:spPr>
          <a:xfrm>
            <a:off x="8211312" y="2039112"/>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3</a:t>
            </a:r>
            <a:endParaRPr lang="en-US" sz="1900" dirty="0"/>
          </a:p>
        </p:txBody>
      </p:sp>
      <p:sp>
        <p:nvSpPr>
          <p:cNvPr id="17" name="Text 15"/>
          <p:cNvSpPr/>
          <p:nvPr/>
        </p:nvSpPr>
        <p:spPr>
          <a:xfrm>
            <a:off x="8915400" y="2057400"/>
            <a:ext cx="2423160" cy="502920"/>
          </a:xfrm>
          <a:prstGeom prst="rect">
            <a:avLst/>
          </a:prstGeom>
          <a:noFill/>
          <a:ln/>
        </p:spPr>
        <p:txBody>
          <a:bodyPr wrap="square" lIns="0" tIns="0" rIns="0" bIns="0" rtlCol="0" anchor="ctr"/>
          <a:lstStyle/>
          <a:p>
            <a:pPr indent="0" marL="0">
              <a:buNone/>
            </a:pPr>
            <a:r>
              <a:rPr lang="en-US" sz="1450" b="1" dirty="0">
                <a:solidFill>
                  <a:srgbClr val="1E293B"/>
                </a:solidFill>
                <a:latin typeface="Arial" pitchFamily="34" charset="0"/>
                <a:ea typeface="Arial" pitchFamily="34" charset="-122"/>
                <a:cs typeface="Arial" pitchFamily="34" charset="-120"/>
              </a:rPr>
              <a:t>Summary memory</a:t>
            </a:r>
            <a:endParaRPr lang="en-US" sz="1450" dirty="0"/>
          </a:p>
        </p:txBody>
      </p:sp>
      <p:sp>
        <p:nvSpPr>
          <p:cNvPr id="18" name="Text 16"/>
          <p:cNvSpPr/>
          <p:nvPr/>
        </p:nvSpPr>
        <p:spPr>
          <a:xfrm>
            <a:off x="8229600" y="2651760"/>
            <a:ext cx="3017520" cy="6858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Fold old turns into a running summary, keep recent ones.</a:t>
            </a:r>
            <a:endParaRPr lang="en-US" sz="1200" dirty="0"/>
          </a:p>
        </p:txBody>
      </p:sp>
      <p:sp>
        <p:nvSpPr>
          <p:cNvPr id="19" name="Shape 17"/>
          <p:cNvSpPr/>
          <p:nvPr/>
        </p:nvSpPr>
        <p:spPr>
          <a:xfrm>
            <a:off x="640080" y="3703320"/>
            <a:ext cx="3520440" cy="1645920"/>
          </a:xfrm>
          <a:prstGeom prst="roundRect">
            <a:avLst>
              <a:gd name="adj" fmla="val 5000"/>
            </a:avLst>
          </a:prstGeom>
          <a:solidFill>
            <a:srgbClr val="F1F5F9"/>
          </a:solidFill>
          <a:ln/>
          <a:effectLst>
            <a:outerShdw sx="100000" sy="100000" kx="0" ky="0" algn="bl" rotWithShape="0" blurRad="88900" dist="38100" dir="5400000">
              <a:srgbClr val="0F2A33">
                <a:alpha val="16000"/>
              </a:srgbClr>
            </a:outerShdw>
          </a:effectLst>
        </p:spPr>
      </p:sp>
      <p:sp>
        <p:nvSpPr>
          <p:cNvPr id="20" name="Shape 18"/>
          <p:cNvSpPr/>
          <p:nvPr/>
        </p:nvSpPr>
        <p:spPr>
          <a:xfrm>
            <a:off x="896112" y="3959352"/>
            <a:ext cx="548640" cy="548640"/>
          </a:xfrm>
          <a:prstGeom prst="ellipse">
            <a:avLst/>
          </a:prstGeom>
          <a:solidFill>
            <a:srgbClr val="F59E0B"/>
          </a:solidFill>
          <a:ln/>
        </p:spPr>
      </p:sp>
      <p:sp>
        <p:nvSpPr>
          <p:cNvPr id="21" name="Text 19"/>
          <p:cNvSpPr/>
          <p:nvPr/>
        </p:nvSpPr>
        <p:spPr>
          <a:xfrm>
            <a:off x="896112" y="3959352"/>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4</a:t>
            </a:r>
            <a:endParaRPr lang="en-US" sz="1900" dirty="0"/>
          </a:p>
        </p:txBody>
      </p:sp>
      <p:sp>
        <p:nvSpPr>
          <p:cNvPr id="22" name="Text 20"/>
          <p:cNvSpPr/>
          <p:nvPr/>
        </p:nvSpPr>
        <p:spPr>
          <a:xfrm>
            <a:off x="1600200" y="3977640"/>
            <a:ext cx="2423160" cy="502920"/>
          </a:xfrm>
          <a:prstGeom prst="rect">
            <a:avLst/>
          </a:prstGeom>
          <a:noFill/>
          <a:ln/>
        </p:spPr>
        <p:txBody>
          <a:bodyPr wrap="square" lIns="0" tIns="0" rIns="0" bIns="0" rtlCol="0" anchor="ctr"/>
          <a:lstStyle/>
          <a:p>
            <a:pPr indent="0" marL="0">
              <a:buNone/>
            </a:pPr>
            <a:r>
              <a:rPr lang="en-US" sz="1450" b="1" dirty="0">
                <a:solidFill>
                  <a:srgbClr val="1E293B"/>
                </a:solidFill>
                <a:latin typeface="Arial" pitchFamily="34" charset="0"/>
                <a:ea typeface="Arial" pitchFamily="34" charset="-122"/>
                <a:cs typeface="Arial" pitchFamily="34" charset="-120"/>
              </a:rPr>
              <a:t>Embeddings</a:t>
            </a:r>
            <a:endParaRPr lang="en-US" sz="1450" dirty="0"/>
          </a:p>
        </p:txBody>
      </p:sp>
      <p:sp>
        <p:nvSpPr>
          <p:cNvPr id="23" name="Text 21"/>
          <p:cNvSpPr/>
          <p:nvPr/>
        </p:nvSpPr>
        <p:spPr>
          <a:xfrm>
            <a:off x="914400" y="4572000"/>
            <a:ext cx="3017520" cy="6858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Embed sentences and see related ones score close.</a:t>
            </a:r>
            <a:endParaRPr lang="en-US" sz="1200" dirty="0"/>
          </a:p>
        </p:txBody>
      </p:sp>
      <p:sp>
        <p:nvSpPr>
          <p:cNvPr id="24" name="Shape 22"/>
          <p:cNvSpPr/>
          <p:nvPr/>
        </p:nvSpPr>
        <p:spPr>
          <a:xfrm>
            <a:off x="4297680" y="3703320"/>
            <a:ext cx="3520440" cy="1645920"/>
          </a:xfrm>
          <a:prstGeom prst="roundRect">
            <a:avLst>
              <a:gd name="adj" fmla="val 5000"/>
            </a:avLst>
          </a:prstGeom>
          <a:solidFill>
            <a:srgbClr val="F0FDFA"/>
          </a:solidFill>
          <a:ln/>
          <a:effectLst>
            <a:outerShdw sx="100000" sy="100000" kx="0" ky="0" algn="bl" rotWithShape="0" blurRad="88900" dist="38100" dir="5400000">
              <a:srgbClr val="0F2A33">
                <a:alpha val="16000"/>
              </a:srgbClr>
            </a:outerShdw>
          </a:effectLst>
        </p:spPr>
      </p:sp>
      <p:sp>
        <p:nvSpPr>
          <p:cNvPr id="25" name="Shape 23"/>
          <p:cNvSpPr/>
          <p:nvPr/>
        </p:nvSpPr>
        <p:spPr>
          <a:xfrm>
            <a:off x="4553712" y="3959352"/>
            <a:ext cx="548640" cy="548640"/>
          </a:xfrm>
          <a:prstGeom prst="ellipse">
            <a:avLst/>
          </a:prstGeom>
          <a:solidFill>
            <a:srgbClr val="F59E0B"/>
          </a:solidFill>
          <a:ln/>
        </p:spPr>
      </p:sp>
      <p:sp>
        <p:nvSpPr>
          <p:cNvPr id="26" name="Text 24"/>
          <p:cNvSpPr/>
          <p:nvPr/>
        </p:nvSpPr>
        <p:spPr>
          <a:xfrm>
            <a:off x="4553712" y="3959352"/>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5</a:t>
            </a:r>
            <a:endParaRPr lang="en-US" sz="1900" dirty="0"/>
          </a:p>
        </p:txBody>
      </p:sp>
      <p:sp>
        <p:nvSpPr>
          <p:cNvPr id="27" name="Text 25"/>
          <p:cNvSpPr/>
          <p:nvPr/>
        </p:nvSpPr>
        <p:spPr>
          <a:xfrm>
            <a:off x="5257800" y="3977640"/>
            <a:ext cx="2423160" cy="502920"/>
          </a:xfrm>
          <a:prstGeom prst="rect">
            <a:avLst/>
          </a:prstGeom>
          <a:noFill/>
          <a:ln/>
        </p:spPr>
        <p:txBody>
          <a:bodyPr wrap="square" lIns="0" tIns="0" rIns="0" bIns="0" rtlCol="0" anchor="ctr"/>
          <a:lstStyle/>
          <a:p>
            <a:pPr indent="0" marL="0">
              <a:buNone/>
            </a:pPr>
            <a:r>
              <a:rPr lang="en-US" sz="1450" b="1" dirty="0">
                <a:solidFill>
                  <a:srgbClr val="1E293B"/>
                </a:solidFill>
                <a:latin typeface="Arial" pitchFamily="34" charset="0"/>
                <a:ea typeface="Arial" pitchFamily="34" charset="-122"/>
                <a:cs typeface="Arial" pitchFamily="34" charset="-120"/>
              </a:rPr>
              <a:t>Mini RAG</a:t>
            </a:r>
            <a:endParaRPr lang="en-US" sz="1450" dirty="0"/>
          </a:p>
        </p:txBody>
      </p:sp>
      <p:sp>
        <p:nvSpPr>
          <p:cNvPr id="28" name="Text 26"/>
          <p:cNvSpPr/>
          <p:nvPr/>
        </p:nvSpPr>
        <p:spPr>
          <a:xfrm>
            <a:off x="4572000" y="4572000"/>
            <a:ext cx="3017520" cy="6858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Chunk a doc, embed, retrieve the top chunks, answer.</a:t>
            </a:r>
            <a:endParaRPr lang="en-US" sz="1200" dirty="0"/>
          </a:p>
        </p:txBody>
      </p:sp>
      <p:sp>
        <p:nvSpPr>
          <p:cNvPr id="29" name="Shape 27"/>
          <p:cNvSpPr/>
          <p:nvPr/>
        </p:nvSpPr>
        <p:spPr>
          <a:xfrm>
            <a:off x="7955280" y="3703320"/>
            <a:ext cx="3520440" cy="1645920"/>
          </a:xfrm>
          <a:prstGeom prst="roundRect">
            <a:avLst>
              <a:gd name="adj" fmla="val 5000"/>
            </a:avLst>
          </a:prstGeom>
          <a:solidFill>
            <a:srgbClr val="F1F5F9"/>
          </a:solidFill>
          <a:ln/>
          <a:effectLst>
            <a:outerShdw sx="100000" sy="100000" kx="0" ky="0" algn="bl" rotWithShape="0" blurRad="88900" dist="38100" dir="5400000">
              <a:srgbClr val="0F2A33">
                <a:alpha val="16000"/>
              </a:srgbClr>
            </a:outerShdw>
          </a:effectLst>
        </p:spPr>
      </p:sp>
      <p:sp>
        <p:nvSpPr>
          <p:cNvPr id="30" name="Shape 28"/>
          <p:cNvSpPr/>
          <p:nvPr/>
        </p:nvSpPr>
        <p:spPr>
          <a:xfrm>
            <a:off x="8211312" y="3959352"/>
            <a:ext cx="548640" cy="548640"/>
          </a:xfrm>
          <a:prstGeom prst="ellipse">
            <a:avLst/>
          </a:prstGeom>
          <a:solidFill>
            <a:srgbClr val="F59E0B"/>
          </a:solidFill>
          <a:ln/>
        </p:spPr>
      </p:sp>
      <p:sp>
        <p:nvSpPr>
          <p:cNvPr id="31" name="Text 29"/>
          <p:cNvSpPr/>
          <p:nvPr/>
        </p:nvSpPr>
        <p:spPr>
          <a:xfrm>
            <a:off x="8211312" y="3959352"/>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6</a:t>
            </a:r>
            <a:endParaRPr lang="en-US" sz="1900" dirty="0"/>
          </a:p>
        </p:txBody>
      </p:sp>
      <p:sp>
        <p:nvSpPr>
          <p:cNvPr id="32" name="Text 30"/>
          <p:cNvSpPr/>
          <p:nvPr/>
        </p:nvSpPr>
        <p:spPr>
          <a:xfrm>
            <a:off x="8915400" y="3977640"/>
            <a:ext cx="2423160" cy="502920"/>
          </a:xfrm>
          <a:prstGeom prst="rect">
            <a:avLst/>
          </a:prstGeom>
          <a:noFill/>
          <a:ln/>
        </p:spPr>
        <p:txBody>
          <a:bodyPr wrap="square" lIns="0" tIns="0" rIns="0" bIns="0" rtlCol="0" anchor="ctr"/>
          <a:lstStyle/>
          <a:p>
            <a:pPr indent="0" marL="0">
              <a:buNone/>
            </a:pPr>
            <a:r>
              <a:rPr lang="en-US" sz="1450" b="1" dirty="0">
                <a:solidFill>
                  <a:srgbClr val="1E293B"/>
                </a:solidFill>
                <a:latin typeface="Arial" pitchFamily="34" charset="0"/>
                <a:ea typeface="Arial" pitchFamily="34" charset="-122"/>
                <a:cs typeface="Arial" pitchFamily="34" charset="-120"/>
              </a:rPr>
              <a:t>Grounded or not</a:t>
            </a:r>
            <a:endParaRPr lang="en-US" sz="1450" dirty="0"/>
          </a:p>
        </p:txBody>
      </p:sp>
      <p:sp>
        <p:nvSpPr>
          <p:cNvPr id="33" name="Text 31"/>
          <p:cNvSpPr/>
          <p:nvPr/>
        </p:nvSpPr>
        <p:spPr>
          <a:xfrm>
            <a:off x="8229600" y="4572000"/>
            <a:ext cx="3017520" cy="685800"/>
          </a:xfrm>
          <a:prstGeom prst="rect">
            <a:avLst/>
          </a:prstGeom>
          <a:noFill/>
          <a:ln/>
        </p:spPr>
        <p:txBody>
          <a:bodyPr wrap="square" lIns="0" tIns="0" rIns="0" bIns="0" rtlCol="0" anchor="ctr"/>
          <a:lstStyle/>
          <a:p>
            <a:pPr indent="0" marL="0">
              <a:buNone/>
            </a:pPr>
            <a:r>
              <a:rPr lang="en-US" sz="1200" dirty="0">
                <a:solidFill>
                  <a:srgbClr val="64748B"/>
                </a:solidFill>
                <a:latin typeface="Arial" pitchFamily="34" charset="0"/>
                <a:ea typeface="Arial" pitchFamily="34" charset="-122"/>
                <a:cs typeface="Arial" pitchFamily="34" charset="-120"/>
              </a:rPr>
              <a:t>Ask with and without retrieval, compare the answers.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2A33"/>
        </a:solidFill>
      </p:bgPr>
    </p:bg>
    <p:spTree>
      <p:nvGrpSpPr>
        <p:cNvPr id="1" name=""/>
        <p:cNvGrpSpPr/>
        <p:nvPr/>
      </p:nvGrpSpPr>
      <p:grpSpPr>
        <a:xfrm>
          <a:off x="0" y="0"/>
          <a:ext cx="0" cy="0"/>
          <a:chOff x="0" y="0"/>
          <a:chExt cx="0" cy="0"/>
        </a:xfrm>
      </p:grpSpPr>
      <p:sp>
        <p:nvSpPr>
          <p:cNvPr id="2" name="Shape 0"/>
          <p:cNvSpPr/>
          <p:nvPr/>
        </p:nvSpPr>
        <p:spPr>
          <a:xfrm>
            <a:off x="9326880" y="-1645920"/>
            <a:ext cx="4754880" cy="4754880"/>
          </a:xfrm>
          <a:prstGeom prst="ellipse">
            <a:avLst/>
          </a:prstGeom>
          <a:solidFill>
            <a:srgbClr val="13343B"/>
          </a:solidFill>
          <a:ln/>
        </p:spPr>
      </p:sp>
      <p:sp>
        <p:nvSpPr>
          <p:cNvPr id="3" name="Text 1"/>
          <p:cNvSpPr/>
          <p:nvPr/>
        </p:nvSpPr>
        <p:spPr>
          <a:xfrm>
            <a:off x="822960" y="777240"/>
            <a:ext cx="10058400" cy="365760"/>
          </a:xfrm>
          <a:prstGeom prst="rect">
            <a:avLst/>
          </a:prstGeom>
          <a:noFill/>
          <a:ln/>
        </p:spPr>
        <p:txBody>
          <a:bodyPr wrap="square" rtlCol="0" anchor="ctr"/>
          <a:lstStyle/>
          <a:p>
            <a:pPr indent="0" marL="0">
              <a:buNone/>
            </a:pPr>
            <a:r>
              <a:rPr lang="en-US" sz="1400" b="1" spc="400" kern="0" dirty="0">
                <a:solidFill>
                  <a:srgbClr val="5EEAD4"/>
                </a:solidFill>
                <a:latin typeface="Arial" pitchFamily="34" charset="0"/>
                <a:ea typeface="Arial" pitchFamily="34" charset="-122"/>
                <a:cs typeface="Arial" pitchFamily="34" charset="-120"/>
              </a:rPr>
              <a:t>DAY 4 DONE</a:t>
            </a:r>
            <a:endParaRPr lang="en-US" sz="1400" dirty="0"/>
          </a:p>
        </p:txBody>
      </p:sp>
      <p:sp>
        <p:nvSpPr>
          <p:cNvPr id="4" name="Text 2"/>
          <p:cNvSpPr/>
          <p:nvPr/>
        </p:nvSpPr>
        <p:spPr>
          <a:xfrm>
            <a:off x="822960" y="1143000"/>
            <a:ext cx="10789920" cy="914400"/>
          </a:xfrm>
          <a:prstGeom prst="rect">
            <a:avLst/>
          </a:prstGeom>
          <a:noFill/>
          <a:ln/>
        </p:spPr>
        <p:txBody>
          <a:bodyPr wrap="square" rtlCol="0" anchor="ctr"/>
          <a:lstStyle/>
          <a:p>
            <a:pPr indent="0" marL="0">
              <a:buNone/>
            </a:pPr>
            <a:r>
              <a:rPr lang="en-US" sz="3100" b="1" dirty="0">
                <a:solidFill>
                  <a:srgbClr val="FFFFFF"/>
                </a:solidFill>
                <a:latin typeface="Arial" pitchFamily="34" charset="0"/>
                <a:ea typeface="Arial" pitchFamily="34" charset="-122"/>
                <a:cs typeface="Arial" pitchFamily="34" charset="-120"/>
              </a:rPr>
              <a:t>The agent can remember and look things up</a:t>
            </a:r>
            <a:endParaRPr lang="en-US" sz="3100" dirty="0"/>
          </a:p>
        </p:txBody>
      </p:sp>
      <p:sp>
        <p:nvSpPr>
          <p:cNvPr id="5" name="Shape 3"/>
          <p:cNvSpPr/>
          <p:nvPr/>
        </p:nvSpPr>
        <p:spPr>
          <a:xfrm>
            <a:off x="822960" y="2423160"/>
            <a:ext cx="5212080" cy="3108960"/>
          </a:xfrm>
          <a:prstGeom prst="roundRect">
            <a:avLst>
              <a:gd name="adj" fmla="val 2647"/>
            </a:avLst>
          </a:prstGeom>
          <a:solidFill>
            <a:srgbClr val="13343B"/>
          </a:solidFill>
          <a:ln/>
          <a:effectLst>
            <a:outerShdw sx="100000" sy="100000" kx="0" ky="0" algn="bl" rotWithShape="0" blurRad="88900" dist="38100" dir="5400000">
              <a:srgbClr val="0F2A33">
                <a:alpha val="16000"/>
              </a:srgbClr>
            </a:outerShdw>
          </a:effectLst>
        </p:spPr>
      </p:sp>
      <p:sp>
        <p:nvSpPr>
          <p:cNvPr id="6" name="Shape 4"/>
          <p:cNvSpPr/>
          <p:nvPr/>
        </p:nvSpPr>
        <p:spPr>
          <a:xfrm>
            <a:off x="1097280" y="2697480"/>
            <a:ext cx="566928" cy="566928"/>
          </a:xfrm>
          <a:prstGeom prst="ellipse">
            <a:avLst/>
          </a:prstGeom>
          <a:solidFill>
            <a:srgbClr val="0D9488"/>
          </a:solidFill>
          <a:ln/>
          <a:effectLst>
            <a:outerShdw sx="100000" sy="100000" kx="0" ky="0" algn="bl" rotWithShape="0" blurRad="88900" dist="38100" dir="5400000">
              <a:srgbClr val="0F2A33">
                <a:alpha val="16000"/>
              </a:srgbClr>
            </a:outerShdw>
          </a:effectLst>
        </p:spPr>
      </p:sp>
      <p:pic>
        <p:nvPicPr>
          <p:cNvPr id="7" name="Image 0" descr="preencoded.png">    </p:cNvPr>
          <p:cNvPicPr>
            <a:picLocks noChangeAspect="1"/>
          </p:cNvPicPr>
          <p:nvPr/>
        </p:nvPicPr>
        <p:blipFill>
          <a:blip r:embed="rId1"/>
          <a:stretch>
            <a:fillRect/>
          </a:stretch>
        </p:blipFill>
        <p:spPr>
          <a:xfrm>
            <a:off x="1244681" y="2844881"/>
            <a:ext cx="272125" cy="272125"/>
          </a:xfrm>
          <a:prstGeom prst="rect">
            <a:avLst/>
          </a:prstGeom>
        </p:spPr>
      </p:pic>
      <p:sp>
        <p:nvSpPr>
          <p:cNvPr id="8" name="Text 5"/>
          <p:cNvSpPr/>
          <p:nvPr/>
        </p:nvSpPr>
        <p:spPr>
          <a:xfrm>
            <a:off x="1783080" y="2743200"/>
            <a:ext cx="4114800" cy="457200"/>
          </a:xfrm>
          <a:prstGeom prst="rect">
            <a:avLst/>
          </a:prstGeom>
          <a:noFill/>
          <a:ln/>
        </p:spPr>
        <p:txBody>
          <a:bodyPr wrap="square" lIns="0" tIns="0" rIns="0" bIns="0" rtlCol="0" anchor="ctr"/>
          <a:lstStyle/>
          <a:p>
            <a:pPr indent="0" marL="0">
              <a:buNone/>
            </a:pPr>
            <a:r>
              <a:rPr lang="en-US" sz="1700" b="1" dirty="0">
                <a:solidFill>
                  <a:srgbClr val="5EEAD4"/>
                </a:solidFill>
                <a:latin typeface="Arial" pitchFamily="34" charset="0"/>
                <a:ea typeface="Arial" pitchFamily="34" charset="-122"/>
                <a:cs typeface="Arial" pitchFamily="34" charset="-120"/>
              </a:rPr>
              <a:t>Locked in today</a:t>
            </a:r>
            <a:endParaRPr lang="en-US" sz="1700" dirty="0"/>
          </a:p>
        </p:txBody>
      </p:sp>
      <p:sp>
        <p:nvSpPr>
          <p:cNvPr id="9" name="Text 6"/>
          <p:cNvSpPr/>
          <p:nvPr/>
        </p:nvSpPr>
        <p:spPr>
          <a:xfrm>
            <a:off x="1143000" y="3383280"/>
            <a:ext cx="4663440" cy="2011680"/>
          </a:xfrm>
          <a:prstGeom prst="rect">
            <a:avLst/>
          </a:prstGeom>
          <a:noFill/>
          <a:ln/>
        </p:spPr>
        <p:txBody>
          <a:bodyPr wrap="square" lIns="0" tIns="0" rIns="0" bIns="0" rtlCol="0" anchor="ctr"/>
          <a:lstStyle/>
          <a:p>
            <a:pPr marL="342900" indent="-342900">
              <a:spcAft>
                <a:spcPts val="1100"/>
              </a:spcAft>
              <a:buSzPct val="100000"/>
              <a:buChar char="•"/>
            </a:pPr>
            <a:r>
              <a:rPr lang="en-US" sz="1350" dirty="0">
                <a:solidFill>
                  <a:srgbClr val="E2E8F0"/>
                </a:solidFill>
                <a:latin typeface="Arial" pitchFamily="34" charset="0"/>
                <a:ea typeface="Arial" pitchFamily="34" charset="-122"/>
                <a:cs typeface="Arial" pitchFamily="34" charset="-120"/>
              </a:rPr>
              <a:t>Memory is what you keep in the prompt</a:t>
            </a:r>
            <a:endParaRPr lang="en-US" sz="1350" dirty="0"/>
          </a:p>
          <a:p>
            <a:pPr marL="342900" indent="-342900">
              <a:spcAft>
                <a:spcPts val="1100"/>
              </a:spcAft>
              <a:buSzPct val="100000"/>
              <a:buChar char="•"/>
            </a:pPr>
            <a:r>
              <a:rPr lang="en-US" sz="1350" dirty="0">
                <a:solidFill>
                  <a:srgbClr val="E2E8F0"/>
                </a:solidFill>
                <a:latin typeface="Arial" pitchFamily="34" charset="0"/>
                <a:ea typeface="Arial" pitchFamily="34" charset="-122"/>
                <a:cs typeface="Arial" pitchFamily="34" charset="-120"/>
              </a:rPr>
              <a:t>Window, summary, and fact strategies</a:t>
            </a:r>
            <a:endParaRPr lang="en-US" sz="1350" dirty="0"/>
          </a:p>
          <a:p>
            <a:pPr marL="342900" indent="-342900">
              <a:spcAft>
                <a:spcPts val="1100"/>
              </a:spcAft>
              <a:buSzPct val="100000"/>
              <a:buChar char="•"/>
            </a:pPr>
            <a:r>
              <a:rPr lang="en-US" sz="1350" dirty="0">
                <a:solidFill>
                  <a:srgbClr val="E2E8F0"/>
                </a:solidFill>
                <a:latin typeface="Arial" pitchFamily="34" charset="0"/>
                <a:ea typeface="Arial" pitchFamily="34" charset="-122"/>
                <a:cs typeface="Arial" pitchFamily="34" charset="-120"/>
              </a:rPr>
              <a:t>Embeddings turn meaning into vectors</a:t>
            </a:r>
            <a:endParaRPr lang="en-US" sz="1350" dirty="0"/>
          </a:p>
          <a:p>
            <a:pPr marL="342900" indent="-342900">
              <a:spcAft>
                <a:spcPts val="1100"/>
              </a:spcAft>
              <a:buSzPct val="100000"/>
              <a:buChar char="•"/>
            </a:pPr>
            <a:r>
              <a:rPr lang="en-US" sz="1350" dirty="0">
                <a:solidFill>
                  <a:srgbClr val="E2E8F0"/>
                </a:solidFill>
                <a:latin typeface="Arial" pitchFamily="34" charset="0"/>
                <a:ea typeface="Arial" pitchFamily="34" charset="-122"/>
                <a:cs typeface="Arial" pitchFamily="34" charset="-120"/>
              </a:rPr>
              <a:t>RAG: retrieve relevant text, then answer</a:t>
            </a:r>
            <a:endParaRPr lang="en-US" sz="1350" dirty="0"/>
          </a:p>
        </p:txBody>
      </p:sp>
      <p:sp>
        <p:nvSpPr>
          <p:cNvPr id="10" name="Shape 7"/>
          <p:cNvSpPr/>
          <p:nvPr/>
        </p:nvSpPr>
        <p:spPr>
          <a:xfrm>
            <a:off x="6309360" y="2423160"/>
            <a:ext cx="5029200" cy="3108960"/>
          </a:xfrm>
          <a:prstGeom prst="roundRect">
            <a:avLst>
              <a:gd name="adj" fmla="val 2647"/>
            </a:avLst>
          </a:prstGeom>
          <a:solidFill>
            <a:srgbClr val="0D9488"/>
          </a:solidFill>
          <a:ln/>
          <a:effectLst>
            <a:outerShdw sx="100000" sy="100000" kx="0" ky="0" algn="bl" rotWithShape="0" blurRad="88900" dist="38100" dir="5400000">
              <a:srgbClr val="0F2A33">
                <a:alpha val="16000"/>
              </a:srgbClr>
            </a:outerShdw>
          </a:effectLst>
        </p:spPr>
      </p:sp>
      <p:sp>
        <p:nvSpPr>
          <p:cNvPr id="11" name="Shape 8"/>
          <p:cNvSpPr/>
          <p:nvPr/>
        </p:nvSpPr>
        <p:spPr>
          <a:xfrm>
            <a:off x="6583680" y="2697480"/>
            <a:ext cx="566928" cy="566928"/>
          </a:xfrm>
          <a:prstGeom prst="ellipse">
            <a:avLst/>
          </a:prstGeom>
          <a:solidFill>
            <a:srgbClr val="FFFFFF"/>
          </a:solidFill>
          <a:ln/>
          <a:effectLst>
            <a:outerShdw sx="100000" sy="100000" kx="0" ky="0" algn="bl" rotWithShape="0" blurRad="88900" dist="38100" dir="5400000">
              <a:srgbClr val="0F2A33">
                <a:alpha val="16000"/>
              </a:srgbClr>
            </a:outerShdw>
          </a:effectLst>
        </p:spPr>
      </p:sp>
      <p:pic>
        <p:nvPicPr>
          <p:cNvPr id="12" name="Image 1" descr="preencoded.png">    </p:cNvPr>
          <p:cNvPicPr>
            <a:picLocks noChangeAspect="1"/>
          </p:cNvPicPr>
          <p:nvPr/>
        </p:nvPicPr>
        <p:blipFill>
          <a:blip r:embed="rId2"/>
          <a:stretch>
            <a:fillRect/>
          </a:stretch>
        </p:blipFill>
        <p:spPr>
          <a:xfrm>
            <a:off x="6731081" y="2844881"/>
            <a:ext cx="272125" cy="272125"/>
          </a:xfrm>
          <a:prstGeom prst="rect">
            <a:avLst/>
          </a:prstGeom>
        </p:spPr>
      </p:pic>
      <p:sp>
        <p:nvSpPr>
          <p:cNvPr id="13" name="Text 9"/>
          <p:cNvSpPr/>
          <p:nvPr/>
        </p:nvSpPr>
        <p:spPr>
          <a:xfrm>
            <a:off x="7269480" y="2743200"/>
            <a:ext cx="393192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Tomorrow, Day 5</a:t>
            </a:r>
            <a:endParaRPr lang="en-US" sz="1700" dirty="0"/>
          </a:p>
        </p:txBody>
      </p:sp>
      <p:sp>
        <p:nvSpPr>
          <p:cNvPr id="14" name="Text 10"/>
          <p:cNvSpPr/>
          <p:nvPr/>
        </p:nvSpPr>
        <p:spPr>
          <a:xfrm>
            <a:off x="6629400" y="3383280"/>
            <a:ext cx="4480560" cy="2011680"/>
          </a:xfrm>
          <a:prstGeom prst="rect">
            <a:avLst/>
          </a:prstGeom>
          <a:noFill/>
          <a:ln/>
        </p:spPr>
        <p:txBody>
          <a:bodyPr wrap="square" lIns="0" tIns="0" rIns="0" bIns="0" rtlCol="0" anchor="ctr"/>
          <a:lstStyle/>
          <a:p>
            <a:pPr marL="342900" indent="-342900">
              <a:spcAft>
                <a:spcPts val="1300"/>
              </a:spcAft>
              <a:buSzPct val="100000"/>
              <a:buChar char="•"/>
            </a:pPr>
            <a:r>
              <a:rPr lang="en-US" sz="1400" dirty="0">
                <a:solidFill>
                  <a:srgbClr val="ECFDF5"/>
                </a:solidFill>
                <a:latin typeface="Arial" pitchFamily="34" charset="0"/>
                <a:ea typeface="Arial" pitchFamily="34" charset="-122"/>
                <a:cs typeface="Arial" pitchFamily="34" charset="-120"/>
              </a:rPr>
              <a:t>Multi-agent systems: agents working together</a:t>
            </a:r>
            <a:endParaRPr lang="en-US" sz="1400" dirty="0"/>
          </a:p>
          <a:p>
            <a:pPr marL="342900" indent="-342900">
              <a:spcAft>
                <a:spcPts val="1300"/>
              </a:spcAft>
              <a:buSzPct val="100000"/>
              <a:buChar char="•"/>
            </a:pPr>
            <a:r>
              <a:rPr lang="en-US" sz="1400" dirty="0">
                <a:solidFill>
                  <a:srgbClr val="ECFDF5"/>
                </a:solidFill>
                <a:latin typeface="Arial" pitchFamily="34" charset="0"/>
                <a:ea typeface="Arial" pitchFamily="34" charset="-122"/>
                <a:cs typeface="Arial" pitchFamily="34" charset="-120"/>
              </a:rPr>
              <a:t>Guardrails and safety</a:t>
            </a:r>
            <a:endParaRPr lang="en-US" sz="1400" dirty="0"/>
          </a:p>
          <a:p>
            <a:pPr marL="342900" indent="-342900">
              <a:spcAft>
                <a:spcPts val="1300"/>
              </a:spcAft>
              <a:buSzPct val="100000"/>
              <a:buChar char="•"/>
            </a:pPr>
            <a:r>
              <a:rPr lang="en-US" sz="1400" dirty="0">
                <a:solidFill>
                  <a:srgbClr val="ECFDF5"/>
                </a:solidFill>
                <a:latin typeface="Arial" pitchFamily="34" charset="0"/>
                <a:ea typeface="Arial" pitchFamily="34" charset="-122"/>
                <a:cs typeface="Arial" pitchFamily="34" charset="-120"/>
              </a:rPr>
              <a:t>A capstone that ties the whole week together</a:t>
            </a:r>
            <a:endParaRPr lang="en-US" sz="1400" dirty="0"/>
          </a:p>
        </p:txBody>
      </p:sp>
      <p:sp>
        <p:nvSpPr>
          <p:cNvPr id="15" name="Text 11"/>
          <p:cNvSpPr/>
          <p:nvPr/>
        </p:nvSpPr>
        <p:spPr>
          <a:xfrm>
            <a:off x="822960" y="5852160"/>
            <a:ext cx="10058400" cy="457200"/>
          </a:xfrm>
          <a:prstGeom prst="rect">
            <a:avLst/>
          </a:prstGeom>
          <a:noFill/>
          <a:ln/>
        </p:spPr>
        <p:txBody>
          <a:bodyPr wrap="square" rtlCol="0" anchor="ctr"/>
          <a:lstStyle/>
          <a:p>
            <a:pPr indent="0" marL="0">
              <a:buNone/>
            </a:pPr>
            <a:r>
              <a:rPr lang="en-US" sz="1500" i="1" dirty="0">
                <a:solidFill>
                  <a:srgbClr val="5EEAD4"/>
                </a:solidFill>
                <a:latin typeface="Arial" pitchFamily="34" charset="0"/>
                <a:ea typeface="Arial" pitchFamily="34" charset="-122"/>
                <a:cs typeface="Arial" pitchFamily="34" charset="-120"/>
              </a:rPr>
              <a:t>Questions?  Then break, and we build.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 Day 4</dc:title>
  <dc:subject>PptxGenJS Presentation</dc:subject>
  <dc:creator>Agentic AI Course</dc:creator>
  <cp:lastModifiedBy>Agentic AI Course</cp:lastModifiedBy>
  <cp:revision>1</cp:revision>
  <dcterms:created xsi:type="dcterms:W3CDTF">2026-06-17T15:54:55Z</dcterms:created>
  <dcterms:modified xsi:type="dcterms:W3CDTF">2026-06-17T15:54:55Z</dcterms:modified>
</cp:coreProperties>
</file>