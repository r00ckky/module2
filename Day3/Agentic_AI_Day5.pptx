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day. Everything so far has been a single agent getting smarter. Today: many agents working together, keeping a human in the loop for risky steps, and guardrails to keep the whole thing safe. Then a capstone where they assemble the entire week into one agent. End on a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beat to celebrate how far they have come. In four days they went from one model call to a memory-equipped, knowledge-retrieving, self-driving agent. Today is the capstone day: teamwork, human oversight, safety, and a build that uses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 out the finale. Three shorter theory topics this morning because the afternoon capstone is bigger than the usual lab. Tell them the capstone is where it all clicks into one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intuition is a team versus one person. One agent told to research, write, and fact-check tends to do all three poorly. Split it into specialists and each part gets better and simpler. Same lesson as routing and chaining: small focused units beat one big do-everything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week's recurring rule, one more time. Multi-agent is powerful but adds coordination, cost, and failure points. If a single agent works, use it. Reach for a team only when the job genuinely has separate roles. If you cannot name each agent's job in a sentence, you are not ready to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patterns they will recognise from earlier days. Orchestrator-workers is routing plus delegation. Pipeline is chaining across agents. Review or debate is reflection with a separate critic. So multi-agent is mostly the patterns they already know, applied across several agents instead of inside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The orchestrator is the only one that sees the whole goal. Workers receive a narrow subtask and return a result. This is exactly routing plus chaining, with each branch being a full agent. It is the shape they will build in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agent communication. At its simplest it is one function returning a string that another function takes as input. The fancier version wraps an agent as a tool so the orchestrator model can choose to delegate, which is Day 1 tool use pointed at another agent. Start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multi-agent can be this simple. Three functions, each a specialist with its own prompt, and an orchestrator that sequences them. This is a pipeline. Stress again it is plain Python: frameworks help at scale, but the idea is just functions passing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multi-agent. The big risk is compounding errors: a mistake early in a pipeline poisons everything after it. And agents can loop talking to each other. Same discipline as before: a budget, clear roles, and only split when the job truly needs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is trust. An autonomous agent that can send emails or move money is powerful and dangerous. Human-in-the-loop puts a person at the risky moments. The art is choosing where: too many checkpoints and it is not automation, too few and it is unsafe.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specific about placement. Gate the write actions, not the read actions. The agent can search, reason, and draft freely; the human only signs off on the irreversible step. This keeps most of the speed of automation while removing the worst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all human-in-the-loop needs to be at this level: print the intended action, ask, and only proceed on yes. Note that cancelling returns a normal string the agent can handle, so the loop continues gracefully. They add this to one tool in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human-in-the-loop. The balance is everything: gate the few actions that can cause real harm, and let the agent run free on everything else. Over-gating defeats the purpose. The default on uncertainty should be to stop and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risk concrete: prompt injection from a document, leaking data, dangerous tool arguments, scope creep. This connects back to the Day 1 point that the model only proposes and your code disposes. Guardrails are that principle made systematic. This matters more as agents gain autonomy.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places to put a guardrail: input, output, actions, and scope. Action limits are the most important for tool-using agents, an allow-list of tools plus argument validation. Input checks matter once you add retrieval, because a document can carry a hidden instruction. They build action guardrails in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slots into the execution loop from Day 1 and 3, replacing the raw tool call. The allow-list is the single highest-value guardrail for a tool-using agent: even if the model hallucinates a dangerous tool, it cannot run. Argument validation catches the rest. They wire this into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light but important touch. Beginners change a prompt and have no idea if they made it better or worse. A tiny golden set, even five cases, turns that into a number. Mention LLM non-determinism: run a few times, expect some variation, which is why a set beats a single anecdote.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safety. The one habit to carry forever: never trust model output blindly. Validate before acting, constrain what is possible, and test. As agents get more capable and more autonomous, these stop being optional. This is the professional difference between a demo and a deployable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synthesis slide. Everything from five days, as four layers: reason and plan, act with tools, remember and retrieve, stay safe. A real agent is exactly this stack. The capstone has them assemble all four into a single working system. Linger here, it is the payoff of the whole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them to the real world without selling a specific tool. The deliberate choice all week was to build by hand so the concepts are solid. Now frameworks are just convenience layers over patterns they understand. That is a far stronger position than learning a framework first and never knowing what it does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capstone. They reuse code from across the week: the ReAct loop, the memory functions, the RAG search, and the guardrails. Nothing here is new, it is assembly. Confirm Ollama and both models, chat and embedding, are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milestones, mostly assembly from earlier days. One to three add capability, four and five add safety, six proves it works. Encourage them to demo to a neighbour at the end. The strongest students can add a second agent, a checker, to make it multi-agent.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course. Recap the arc from one call to a full agent, and genuinely congratulate them. Point forward: the rest of the book, a framework, and a real project. End on go build. If there is time, invite a few volunteers to demo their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3"/>
        </a:solidFill>
      </p:bgPr>
    </p:bg>
    <p:spTree>
      <p:nvGrpSpPr>
        <p:cNvPr id="1" name=""/>
        <p:cNvGrpSpPr/>
        <p:nvPr/>
      </p:nvGrpSpPr>
      <p:grpSpPr>
        <a:xfrm>
          <a:off x="0" y="0"/>
          <a:ext cx="0" cy="0"/>
          <a:chOff x="0" y="0"/>
          <a:chExt cx="0" cy="0"/>
        </a:xfrm>
      </p:grpSpPr>
      <p:sp>
        <p:nvSpPr>
          <p:cNvPr id="2" name="Shape 0"/>
          <p:cNvSpPr/>
          <p:nvPr/>
        </p:nvSpPr>
        <p:spPr>
          <a:xfrm>
            <a:off x="8778240" y="-1920240"/>
            <a:ext cx="5852160" cy="5852160"/>
          </a:xfrm>
          <a:prstGeom prst="ellipse">
            <a:avLst/>
          </a:prstGeom>
          <a:solidFill>
            <a:srgbClr val="13343B"/>
          </a:solidFill>
          <a:ln/>
        </p:spPr>
      </p:sp>
      <p:sp>
        <p:nvSpPr>
          <p:cNvPr id="3" name="Shape 1"/>
          <p:cNvSpPr/>
          <p:nvPr/>
        </p:nvSpPr>
        <p:spPr>
          <a:xfrm>
            <a:off x="10332720" y="3840480"/>
            <a:ext cx="4206240" cy="4206240"/>
          </a:xfrm>
          <a:prstGeom prst="ellipse">
            <a:avLst/>
          </a:prstGeom>
          <a:solidFill>
            <a:srgbClr val="0D9488"/>
          </a:solidFill>
          <a:ln/>
        </p:spPr>
      </p:sp>
      <p:sp>
        <p:nvSpPr>
          <p:cNvPr id="4" name="Shape 2"/>
          <p:cNvSpPr/>
          <p:nvPr/>
        </p:nvSpPr>
        <p:spPr>
          <a:xfrm>
            <a:off x="10332720" y="3840480"/>
            <a:ext cx="4206240" cy="4206240"/>
          </a:xfrm>
          <a:prstGeom prst="ellipse">
            <a:avLst/>
          </a:prstGeom>
          <a:solidFill>
            <a:srgbClr val="0F2A33">
              <a:alpha val="88000"/>
            </a:srgbClr>
          </a:solidFill>
          <a:ln/>
        </p:spPr>
      </p:sp>
      <p:sp>
        <p:nvSpPr>
          <p:cNvPr id="5" name="Shape 3"/>
          <p:cNvSpPr/>
          <p:nvPr/>
        </p:nvSpPr>
        <p:spPr>
          <a:xfrm>
            <a:off x="868680" y="1371600"/>
            <a:ext cx="1051560" cy="105156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42086" y="1645006"/>
            <a:ext cx="504749" cy="504749"/>
          </a:xfrm>
          <a:prstGeom prst="rect">
            <a:avLst/>
          </a:prstGeom>
        </p:spPr>
      </p:pic>
      <p:sp>
        <p:nvSpPr>
          <p:cNvPr id="7" name="Text 4"/>
          <p:cNvSpPr/>
          <p:nvPr/>
        </p:nvSpPr>
        <p:spPr>
          <a:xfrm>
            <a:off x="822960" y="2697480"/>
            <a:ext cx="10058400" cy="1005840"/>
          </a:xfrm>
          <a:prstGeom prst="rect">
            <a:avLst/>
          </a:prstGeom>
          <a:noFill/>
          <a:ln/>
        </p:spPr>
        <p:txBody>
          <a:bodyPr wrap="square" rtlCol="0" anchor="ctr"/>
          <a:lstStyle/>
          <a:p>
            <a:pPr indent="0" marL="0">
              <a:buNone/>
            </a:pPr>
            <a:r>
              <a:rPr lang="en-US" sz="6200" b="1" dirty="0">
                <a:solidFill>
                  <a:srgbClr val="FFFFFF"/>
                </a:solidFill>
                <a:latin typeface="Arial" pitchFamily="34" charset="0"/>
                <a:ea typeface="Arial" pitchFamily="34" charset="-122"/>
                <a:cs typeface="Arial" pitchFamily="34" charset="-120"/>
              </a:rPr>
              <a:t>AGENTIC AI</a:t>
            </a:r>
            <a:endParaRPr lang="en-US" sz="6200" dirty="0"/>
          </a:p>
        </p:txBody>
      </p:sp>
      <p:sp>
        <p:nvSpPr>
          <p:cNvPr id="8" name="Text 5"/>
          <p:cNvSpPr/>
          <p:nvPr/>
        </p:nvSpPr>
        <p:spPr>
          <a:xfrm>
            <a:off x="868680" y="3794760"/>
            <a:ext cx="10881360" cy="548640"/>
          </a:xfrm>
          <a:prstGeom prst="rect">
            <a:avLst/>
          </a:prstGeom>
          <a:noFill/>
          <a:ln/>
        </p:spPr>
        <p:txBody>
          <a:bodyPr wrap="square" rtlCol="0" anchor="ctr"/>
          <a:lstStyle/>
          <a:p>
            <a:pPr indent="0" marL="0">
              <a:buNone/>
            </a:pPr>
            <a:r>
              <a:rPr lang="en-US" sz="2000" dirty="0">
                <a:solidFill>
                  <a:srgbClr val="5EEAD4"/>
                </a:solidFill>
                <a:latin typeface="Arial" pitchFamily="34" charset="0"/>
                <a:ea typeface="Arial" pitchFamily="34" charset="-122"/>
                <a:cs typeface="Arial" pitchFamily="34" charset="-120"/>
              </a:rPr>
              <a:t>Day 5  -  Multi-Agent Systems, Guardrails, Capstone</a:t>
            </a:r>
            <a:endParaRPr lang="en-US" sz="2000" dirty="0"/>
          </a:p>
        </p:txBody>
      </p:sp>
      <p:sp>
        <p:nvSpPr>
          <p:cNvPr id="9" name="Text 6"/>
          <p:cNvSpPr/>
          <p:nvPr/>
        </p:nvSpPr>
        <p:spPr>
          <a:xfrm>
            <a:off x="868680" y="5029200"/>
            <a:ext cx="10881360" cy="822960"/>
          </a:xfrm>
          <a:prstGeom prst="rect">
            <a:avLst/>
          </a:prstGeom>
          <a:noFill/>
          <a:ln/>
        </p:spPr>
        <p:txBody>
          <a:bodyPr wrap="square" rtlCol="0" anchor="ctr"/>
          <a:lstStyle/>
          <a:p>
            <a:pPr indent="0" marL="0">
              <a:buNone/>
            </a:pPr>
            <a:r>
              <a:rPr lang="en-US" sz="1400" dirty="0">
                <a:solidFill>
                  <a:srgbClr val="CBD5E1"/>
                </a:solidFill>
                <a:latin typeface="Arial" pitchFamily="34" charset="0"/>
                <a:ea typeface="Arial" pitchFamily="34" charset="-122"/>
                <a:cs typeface="Arial" pitchFamily="34" charset="-120"/>
              </a:rPr>
              <a:t>Week 5  -  Hands-on Agentic AI  -  the finale</a:t>
            </a:r>
            <a:endParaRPr lang="en-US" sz="1400" dirty="0"/>
          </a:p>
          <a:p>
            <a:pPr indent="0" marL="0">
              <a:buNone/>
            </a:pPr>
            <a:r>
              <a:rPr lang="en-US" sz="1400" dirty="0">
                <a:solidFill>
                  <a:srgbClr val="64748B"/>
                </a:solidFill>
                <a:latin typeface="Arial" pitchFamily="34" charset="0"/>
                <a:ea typeface="Arial" pitchFamily="34" charset="-122"/>
                <a:cs typeface="Arial" pitchFamily="34" charset="-120"/>
              </a:rPr>
              <a:t>Based on  Agentic Design Patterns  by Antonio Gulli, Chapters 7, 13, 18, 19</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THE WEEK SO FAR</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Four days of building blocks</a:t>
            </a:r>
            <a:endParaRPr lang="en-US" sz="3000" dirty="0"/>
          </a:p>
        </p:txBody>
      </p:sp>
      <p:sp>
        <p:nvSpPr>
          <p:cNvPr id="4" name="Shape 2"/>
          <p:cNvSpPr/>
          <p:nvPr/>
        </p:nvSpPr>
        <p:spPr>
          <a:xfrm>
            <a:off x="640080" y="1828800"/>
            <a:ext cx="2606040" cy="1737360"/>
          </a:xfrm>
          <a:prstGeom prst="roundRect">
            <a:avLst>
              <a:gd name="adj" fmla="val 4737"/>
            </a:avLst>
          </a:prstGeom>
          <a:solidFill>
            <a:srgbClr val="F1F5F9"/>
          </a:solidFill>
          <a:ln/>
          <a:effectLst>
            <a:outerShdw sx="100000" sy="100000" kx="0" ky="0" algn="bl" rotWithShape="0" blurRad="88900" dist="38100" dir="5400000">
              <a:srgbClr val="0F2A33">
                <a:alpha val="16000"/>
              </a:srgbClr>
            </a:outerShdw>
          </a:effectLst>
        </p:spPr>
      </p:sp>
      <p:sp>
        <p:nvSpPr>
          <p:cNvPr id="5" name="Shape 3"/>
          <p:cNvSpPr/>
          <p:nvPr/>
        </p:nvSpPr>
        <p:spPr>
          <a:xfrm>
            <a:off x="1508760" y="2057400"/>
            <a:ext cx="868680" cy="86868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734617" y="2283257"/>
            <a:ext cx="416966" cy="416966"/>
          </a:xfrm>
          <a:prstGeom prst="rect">
            <a:avLst/>
          </a:prstGeom>
        </p:spPr>
      </p:pic>
      <p:sp>
        <p:nvSpPr>
          <p:cNvPr id="7" name="Text 4"/>
          <p:cNvSpPr/>
          <p:nvPr/>
        </p:nvSpPr>
        <p:spPr>
          <a:xfrm>
            <a:off x="640080" y="2971800"/>
            <a:ext cx="2606040" cy="365760"/>
          </a:xfrm>
          <a:prstGeom prst="rect">
            <a:avLst/>
          </a:prstGeom>
          <a:noFill/>
          <a:ln/>
        </p:spPr>
        <p:txBody>
          <a:bodyPr wrap="square" lIns="0" tIns="0" rIns="0" bIns="0" rtlCol="0" anchor="ctr"/>
          <a:lstStyle/>
          <a:p>
            <a:pPr algn="ctr" indent="0" marL="0">
              <a:buNone/>
            </a:pPr>
            <a:r>
              <a:rPr lang="en-US" sz="1600" b="1" dirty="0">
                <a:solidFill>
                  <a:srgbClr val="1E293B"/>
                </a:solidFill>
                <a:latin typeface="Arial" pitchFamily="34" charset="0"/>
                <a:ea typeface="Arial" pitchFamily="34" charset="-122"/>
                <a:cs typeface="Arial" pitchFamily="34" charset="-120"/>
              </a:rPr>
              <a:t>Day 1</a:t>
            </a:r>
            <a:endParaRPr lang="en-US" sz="1600" dirty="0"/>
          </a:p>
        </p:txBody>
      </p:sp>
      <p:sp>
        <p:nvSpPr>
          <p:cNvPr id="8" name="Text 5"/>
          <p:cNvSpPr/>
          <p:nvPr/>
        </p:nvSpPr>
        <p:spPr>
          <a:xfrm>
            <a:off x="777240" y="3310128"/>
            <a:ext cx="2331720" cy="457200"/>
          </a:xfrm>
          <a:prstGeom prst="rect">
            <a:avLst/>
          </a:prstGeom>
          <a:noFill/>
          <a:ln/>
        </p:spPr>
        <p:txBody>
          <a:bodyPr wrap="square" lIns="0" tIns="0" rIns="0" bIns="0" rtlCol="0" anchor="ctr"/>
          <a:lstStyle/>
          <a:p>
            <a:pPr algn="ctr" indent="0" marL="0">
              <a:buNone/>
            </a:pPr>
            <a:r>
              <a:rPr lang="en-US" sz="1150" dirty="0">
                <a:solidFill>
                  <a:srgbClr val="64748B"/>
                </a:solidFill>
                <a:latin typeface="Arial" pitchFamily="34" charset="0"/>
                <a:ea typeface="Arial" pitchFamily="34" charset="-122"/>
                <a:cs typeface="Arial" pitchFamily="34" charset="-120"/>
              </a:rPr>
              <a:t>loop and tool use</a:t>
            </a:r>
            <a:endParaRPr lang="en-US" sz="1150" dirty="0"/>
          </a:p>
        </p:txBody>
      </p:sp>
      <p:sp>
        <p:nvSpPr>
          <p:cNvPr id="9" name="Shape 6"/>
          <p:cNvSpPr/>
          <p:nvPr/>
        </p:nvSpPr>
        <p:spPr>
          <a:xfrm>
            <a:off x="3429000" y="1828800"/>
            <a:ext cx="2606040" cy="1737360"/>
          </a:xfrm>
          <a:prstGeom prst="roundRect">
            <a:avLst>
              <a:gd name="adj" fmla="val 4737"/>
            </a:avLst>
          </a:prstGeom>
          <a:solidFill>
            <a:srgbClr val="F1F5F9"/>
          </a:solidFill>
          <a:ln/>
          <a:effectLst>
            <a:outerShdw sx="100000" sy="100000" kx="0" ky="0" algn="bl" rotWithShape="0" blurRad="88900" dist="38100" dir="5400000">
              <a:srgbClr val="0F2A33">
                <a:alpha val="16000"/>
              </a:srgbClr>
            </a:outerShdw>
          </a:effectLst>
        </p:spPr>
      </p:sp>
      <p:sp>
        <p:nvSpPr>
          <p:cNvPr id="10" name="Shape 7"/>
          <p:cNvSpPr/>
          <p:nvPr/>
        </p:nvSpPr>
        <p:spPr>
          <a:xfrm>
            <a:off x="4297680" y="2057400"/>
            <a:ext cx="868680" cy="86868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4523537" y="2283257"/>
            <a:ext cx="416966" cy="416966"/>
          </a:xfrm>
          <a:prstGeom prst="rect">
            <a:avLst/>
          </a:prstGeom>
        </p:spPr>
      </p:pic>
      <p:sp>
        <p:nvSpPr>
          <p:cNvPr id="12" name="Text 8"/>
          <p:cNvSpPr/>
          <p:nvPr/>
        </p:nvSpPr>
        <p:spPr>
          <a:xfrm>
            <a:off x="3429000" y="2971800"/>
            <a:ext cx="2606040" cy="365760"/>
          </a:xfrm>
          <a:prstGeom prst="rect">
            <a:avLst/>
          </a:prstGeom>
          <a:noFill/>
          <a:ln/>
        </p:spPr>
        <p:txBody>
          <a:bodyPr wrap="square" lIns="0" tIns="0" rIns="0" bIns="0" rtlCol="0" anchor="ctr"/>
          <a:lstStyle/>
          <a:p>
            <a:pPr algn="ctr" indent="0" marL="0">
              <a:buNone/>
            </a:pPr>
            <a:r>
              <a:rPr lang="en-US" sz="1600" b="1" dirty="0">
                <a:solidFill>
                  <a:srgbClr val="1E293B"/>
                </a:solidFill>
                <a:latin typeface="Arial" pitchFamily="34" charset="0"/>
                <a:ea typeface="Arial" pitchFamily="34" charset="-122"/>
                <a:cs typeface="Arial" pitchFamily="34" charset="-120"/>
              </a:rPr>
              <a:t>Day 2</a:t>
            </a:r>
            <a:endParaRPr lang="en-US" sz="1600" dirty="0"/>
          </a:p>
        </p:txBody>
      </p:sp>
      <p:sp>
        <p:nvSpPr>
          <p:cNvPr id="13" name="Text 9"/>
          <p:cNvSpPr/>
          <p:nvPr/>
        </p:nvSpPr>
        <p:spPr>
          <a:xfrm>
            <a:off x="3566160" y="3310128"/>
            <a:ext cx="2331720" cy="457200"/>
          </a:xfrm>
          <a:prstGeom prst="rect">
            <a:avLst/>
          </a:prstGeom>
          <a:noFill/>
          <a:ln/>
        </p:spPr>
        <p:txBody>
          <a:bodyPr wrap="square" lIns="0" tIns="0" rIns="0" bIns="0" rtlCol="0" anchor="ctr"/>
          <a:lstStyle/>
          <a:p>
            <a:pPr algn="ctr" indent="0" marL="0">
              <a:buNone/>
            </a:pPr>
            <a:r>
              <a:rPr lang="en-US" sz="1150" dirty="0">
                <a:solidFill>
                  <a:srgbClr val="64748B"/>
                </a:solidFill>
                <a:latin typeface="Arial" pitchFamily="34" charset="0"/>
                <a:ea typeface="Arial" pitchFamily="34" charset="-122"/>
                <a:cs typeface="Arial" pitchFamily="34" charset="-120"/>
              </a:rPr>
              <a:t>route, parallel, reflect</a:t>
            </a:r>
            <a:endParaRPr lang="en-US" sz="1150" dirty="0"/>
          </a:p>
        </p:txBody>
      </p:sp>
      <p:sp>
        <p:nvSpPr>
          <p:cNvPr id="14" name="Shape 10"/>
          <p:cNvSpPr/>
          <p:nvPr/>
        </p:nvSpPr>
        <p:spPr>
          <a:xfrm>
            <a:off x="6217920" y="1828800"/>
            <a:ext cx="2606040" cy="1737360"/>
          </a:xfrm>
          <a:prstGeom prst="roundRect">
            <a:avLst>
              <a:gd name="adj" fmla="val 4737"/>
            </a:avLst>
          </a:prstGeom>
          <a:solidFill>
            <a:srgbClr val="F1F5F9"/>
          </a:solidFill>
          <a:ln/>
          <a:effectLst>
            <a:outerShdw sx="100000" sy="100000" kx="0" ky="0" algn="bl" rotWithShape="0" blurRad="88900" dist="38100" dir="5400000">
              <a:srgbClr val="0F2A33">
                <a:alpha val="16000"/>
              </a:srgbClr>
            </a:outerShdw>
          </a:effectLst>
        </p:spPr>
      </p:sp>
      <p:sp>
        <p:nvSpPr>
          <p:cNvPr id="15" name="Shape 11"/>
          <p:cNvSpPr/>
          <p:nvPr/>
        </p:nvSpPr>
        <p:spPr>
          <a:xfrm>
            <a:off x="7086600" y="2057400"/>
            <a:ext cx="868680" cy="86868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6" name="Image 2" descr="preencoded.png">    </p:cNvPr>
          <p:cNvPicPr>
            <a:picLocks noChangeAspect="1"/>
          </p:cNvPicPr>
          <p:nvPr/>
        </p:nvPicPr>
        <p:blipFill>
          <a:blip r:embed="rId3"/>
          <a:stretch>
            <a:fillRect/>
          </a:stretch>
        </p:blipFill>
        <p:spPr>
          <a:xfrm>
            <a:off x="7312457" y="2283257"/>
            <a:ext cx="416966" cy="416966"/>
          </a:xfrm>
          <a:prstGeom prst="rect">
            <a:avLst/>
          </a:prstGeom>
        </p:spPr>
      </p:pic>
      <p:sp>
        <p:nvSpPr>
          <p:cNvPr id="17" name="Text 12"/>
          <p:cNvSpPr/>
          <p:nvPr/>
        </p:nvSpPr>
        <p:spPr>
          <a:xfrm>
            <a:off x="6217920" y="2971800"/>
            <a:ext cx="2606040" cy="365760"/>
          </a:xfrm>
          <a:prstGeom prst="rect">
            <a:avLst/>
          </a:prstGeom>
          <a:noFill/>
          <a:ln/>
        </p:spPr>
        <p:txBody>
          <a:bodyPr wrap="square" lIns="0" tIns="0" rIns="0" bIns="0" rtlCol="0" anchor="ctr"/>
          <a:lstStyle/>
          <a:p>
            <a:pPr algn="ctr" indent="0" marL="0">
              <a:buNone/>
            </a:pPr>
            <a:r>
              <a:rPr lang="en-US" sz="1600" b="1" dirty="0">
                <a:solidFill>
                  <a:srgbClr val="1E293B"/>
                </a:solidFill>
                <a:latin typeface="Arial" pitchFamily="34" charset="0"/>
                <a:ea typeface="Arial" pitchFamily="34" charset="-122"/>
                <a:cs typeface="Arial" pitchFamily="34" charset="-120"/>
              </a:rPr>
              <a:t>Day 3</a:t>
            </a:r>
            <a:endParaRPr lang="en-US" sz="1600" dirty="0"/>
          </a:p>
        </p:txBody>
      </p:sp>
      <p:sp>
        <p:nvSpPr>
          <p:cNvPr id="18" name="Text 13"/>
          <p:cNvSpPr/>
          <p:nvPr/>
        </p:nvSpPr>
        <p:spPr>
          <a:xfrm>
            <a:off x="6355080" y="3310128"/>
            <a:ext cx="2331720" cy="457200"/>
          </a:xfrm>
          <a:prstGeom prst="rect">
            <a:avLst/>
          </a:prstGeom>
          <a:noFill/>
          <a:ln/>
        </p:spPr>
        <p:txBody>
          <a:bodyPr wrap="square" lIns="0" tIns="0" rIns="0" bIns="0" rtlCol="0" anchor="ctr"/>
          <a:lstStyle/>
          <a:p>
            <a:pPr algn="ctr" indent="0" marL="0">
              <a:buNone/>
            </a:pPr>
            <a:r>
              <a:rPr lang="en-US" sz="1150" dirty="0">
                <a:solidFill>
                  <a:srgbClr val="64748B"/>
                </a:solidFill>
                <a:latin typeface="Arial" pitchFamily="34" charset="0"/>
                <a:ea typeface="Arial" pitchFamily="34" charset="-122"/>
                <a:cs typeface="Arial" pitchFamily="34" charset="-120"/>
              </a:rPr>
              <a:t>reasoning, planning, ReAct</a:t>
            </a:r>
            <a:endParaRPr lang="en-US" sz="1150" dirty="0"/>
          </a:p>
        </p:txBody>
      </p:sp>
      <p:sp>
        <p:nvSpPr>
          <p:cNvPr id="19" name="Shape 14"/>
          <p:cNvSpPr/>
          <p:nvPr/>
        </p:nvSpPr>
        <p:spPr>
          <a:xfrm>
            <a:off x="9006840" y="1828800"/>
            <a:ext cx="2606040" cy="1737360"/>
          </a:xfrm>
          <a:prstGeom prst="roundRect">
            <a:avLst>
              <a:gd name="adj" fmla="val 4737"/>
            </a:avLst>
          </a:prstGeom>
          <a:solidFill>
            <a:srgbClr val="F1F5F9"/>
          </a:solidFill>
          <a:ln/>
          <a:effectLst>
            <a:outerShdw sx="100000" sy="100000" kx="0" ky="0" algn="bl" rotWithShape="0" blurRad="88900" dist="38100" dir="5400000">
              <a:srgbClr val="0F2A33">
                <a:alpha val="16000"/>
              </a:srgbClr>
            </a:outerShdw>
          </a:effectLst>
        </p:spPr>
      </p:sp>
      <p:sp>
        <p:nvSpPr>
          <p:cNvPr id="20" name="Shape 15"/>
          <p:cNvSpPr/>
          <p:nvPr/>
        </p:nvSpPr>
        <p:spPr>
          <a:xfrm>
            <a:off x="9875520" y="2057400"/>
            <a:ext cx="868680" cy="86868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21" name="Image 3" descr="preencoded.png">    </p:cNvPr>
          <p:cNvPicPr>
            <a:picLocks noChangeAspect="1"/>
          </p:cNvPicPr>
          <p:nvPr/>
        </p:nvPicPr>
        <p:blipFill>
          <a:blip r:embed="rId4"/>
          <a:stretch>
            <a:fillRect/>
          </a:stretch>
        </p:blipFill>
        <p:spPr>
          <a:xfrm>
            <a:off x="10101377" y="2283257"/>
            <a:ext cx="416966" cy="416966"/>
          </a:xfrm>
          <a:prstGeom prst="rect">
            <a:avLst/>
          </a:prstGeom>
        </p:spPr>
      </p:pic>
      <p:sp>
        <p:nvSpPr>
          <p:cNvPr id="22" name="Text 16"/>
          <p:cNvSpPr/>
          <p:nvPr/>
        </p:nvSpPr>
        <p:spPr>
          <a:xfrm>
            <a:off x="9006840" y="2971800"/>
            <a:ext cx="2606040" cy="365760"/>
          </a:xfrm>
          <a:prstGeom prst="rect">
            <a:avLst/>
          </a:prstGeom>
          <a:noFill/>
          <a:ln/>
        </p:spPr>
        <p:txBody>
          <a:bodyPr wrap="square" lIns="0" tIns="0" rIns="0" bIns="0" rtlCol="0" anchor="ctr"/>
          <a:lstStyle/>
          <a:p>
            <a:pPr algn="ctr" indent="0" marL="0">
              <a:buNone/>
            </a:pPr>
            <a:r>
              <a:rPr lang="en-US" sz="1600" b="1" dirty="0">
                <a:solidFill>
                  <a:srgbClr val="1E293B"/>
                </a:solidFill>
                <a:latin typeface="Arial" pitchFamily="34" charset="0"/>
                <a:ea typeface="Arial" pitchFamily="34" charset="-122"/>
                <a:cs typeface="Arial" pitchFamily="34" charset="-120"/>
              </a:rPr>
              <a:t>Day 4</a:t>
            </a:r>
            <a:endParaRPr lang="en-US" sz="1600" dirty="0"/>
          </a:p>
        </p:txBody>
      </p:sp>
      <p:sp>
        <p:nvSpPr>
          <p:cNvPr id="23" name="Text 17"/>
          <p:cNvSpPr/>
          <p:nvPr/>
        </p:nvSpPr>
        <p:spPr>
          <a:xfrm>
            <a:off x="9144000" y="3310128"/>
            <a:ext cx="2331720" cy="457200"/>
          </a:xfrm>
          <a:prstGeom prst="rect">
            <a:avLst/>
          </a:prstGeom>
          <a:noFill/>
          <a:ln/>
        </p:spPr>
        <p:txBody>
          <a:bodyPr wrap="square" lIns="0" tIns="0" rIns="0" bIns="0" rtlCol="0" anchor="ctr"/>
          <a:lstStyle/>
          <a:p>
            <a:pPr algn="ctr" indent="0" marL="0">
              <a:buNone/>
            </a:pPr>
            <a:r>
              <a:rPr lang="en-US" sz="1150" dirty="0">
                <a:solidFill>
                  <a:srgbClr val="64748B"/>
                </a:solidFill>
                <a:latin typeface="Arial" pitchFamily="34" charset="0"/>
                <a:ea typeface="Arial" pitchFamily="34" charset="-122"/>
                <a:cs typeface="Arial" pitchFamily="34" charset="-120"/>
              </a:rPr>
              <a:t>memory and retrieval</a:t>
            </a:r>
            <a:endParaRPr lang="en-US" sz="1150" dirty="0"/>
          </a:p>
        </p:txBody>
      </p:sp>
      <p:sp>
        <p:nvSpPr>
          <p:cNvPr id="24" name="Shape 18"/>
          <p:cNvSpPr/>
          <p:nvPr/>
        </p:nvSpPr>
        <p:spPr>
          <a:xfrm>
            <a:off x="2468880" y="4114800"/>
            <a:ext cx="7223760" cy="1463040"/>
          </a:xfrm>
          <a:prstGeom prst="roundRect">
            <a:avLst>
              <a:gd name="adj" fmla="val 6250"/>
            </a:avLst>
          </a:prstGeom>
          <a:solidFill>
            <a:srgbClr val="0F2A33"/>
          </a:solidFill>
          <a:ln/>
          <a:effectLst>
            <a:outerShdw sx="100000" sy="100000" kx="0" ky="0" algn="bl" rotWithShape="0" blurRad="88900" dist="38100" dir="5400000">
              <a:srgbClr val="0F2A33">
                <a:alpha val="16000"/>
              </a:srgbClr>
            </a:outerShdw>
          </a:effectLst>
        </p:spPr>
      </p:sp>
      <p:sp>
        <p:nvSpPr>
          <p:cNvPr id="25" name="Shape 19"/>
          <p:cNvSpPr/>
          <p:nvPr/>
        </p:nvSpPr>
        <p:spPr>
          <a:xfrm>
            <a:off x="2788920" y="4407408"/>
            <a:ext cx="868680" cy="86868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26" name="Image 4" descr="preencoded.png">    </p:cNvPr>
          <p:cNvPicPr>
            <a:picLocks noChangeAspect="1"/>
          </p:cNvPicPr>
          <p:nvPr/>
        </p:nvPicPr>
        <p:blipFill>
          <a:blip r:embed="rId5"/>
          <a:stretch>
            <a:fillRect/>
          </a:stretch>
        </p:blipFill>
        <p:spPr>
          <a:xfrm>
            <a:off x="3014777" y="4633265"/>
            <a:ext cx="416966" cy="416966"/>
          </a:xfrm>
          <a:prstGeom prst="rect">
            <a:avLst/>
          </a:prstGeom>
        </p:spPr>
      </p:pic>
      <p:sp>
        <p:nvSpPr>
          <p:cNvPr id="27" name="Text 20"/>
          <p:cNvSpPr/>
          <p:nvPr/>
        </p:nvSpPr>
        <p:spPr>
          <a:xfrm>
            <a:off x="3886200" y="4370832"/>
            <a:ext cx="5577840" cy="45720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Today: put it all together, safely</a:t>
            </a:r>
            <a:endParaRPr lang="en-US" sz="2000" dirty="0"/>
          </a:p>
        </p:txBody>
      </p:sp>
      <p:sp>
        <p:nvSpPr>
          <p:cNvPr id="28" name="Text 21"/>
          <p:cNvSpPr/>
          <p:nvPr/>
        </p:nvSpPr>
        <p:spPr>
          <a:xfrm>
            <a:off x="3886200" y="4846320"/>
            <a:ext cx="5577840" cy="640080"/>
          </a:xfrm>
          <a:prstGeom prst="rect">
            <a:avLst/>
          </a:prstGeom>
          <a:noFill/>
          <a:ln/>
        </p:spPr>
        <p:txBody>
          <a:bodyPr wrap="square" lIns="0" tIns="0" rIns="0" bIns="0" rtlCol="0" anchor="ctr"/>
          <a:lstStyle/>
          <a:p>
            <a:pPr indent="0" marL="0">
              <a:buNone/>
            </a:pPr>
            <a:r>
              <a:rPr lang="en-US" sz="1300" dirty="0">
                <a:solidFill>
                  <a:srgbClr val="5EEAD4"/>
                </a:solidFill>
                <a:latin typeface="Arial" pitchFamily="34" charset="0"/>
                <a:ea typeface="Arial" pitchFamily="34" charset="-122"/>
                <a:cs typeface="Arial" pitchFamily="34" charset="-120"/>
              </a:rPr>
              <a:t>Agents working as a team, a human in the loop for risky steps, guardrails for safety, and a capstone that uses the whole week.</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DAY 5 AT A GLANCE</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Three topics, then build the capstone</a:t>
            </a:r>
            <a:endParaRPr lang="en-US" sz="3000" dirty="0"/>
          </a:p>
        </p:txBody>
      </p:sp>
      <p:sp>
        <p:nvSpPr>
          <p:cNvPr id="4" name="Shape 2"/>
          <p:cNvSpPr/>
          <p:nvPr/>
        </p:nvSpPr>
        <p:spPr>
          <a:xfrm>
            <a:off x="640080" y="1691640"/>
            <a:ext cx="10881360" cy="960120"/>
          </a:xfrm>
          <a:prstGeom prst="roundRect">
            <a:avLst>
              <a:gd name="adj" fmla="val 7619"/>
            </a:avLst>
          </a:prstGeom>
          <a:solidFill>
            <a:srgbClr val="F0FDFA"/>
          </a:solidFill>
          <a:ln/>
          <a:effectLst>
            <a:outerShdw sx="100000" sy="100000" kx="0" ky="0" algn="bl" rotWithShape="0" blurRad="88900" dist="38100" dir="5400000">
              <a:srgbClr val="0F2A33">
                <a:alpha val="16000"/>
              </a:srgbClr>
            </a:outerShdw>
          </a:effectLst>
        </p:spPr>
      </p:sp>
      <p:sp>
        <p:nvSpPr>
          <p:cNvPr id="5" name="Shape 3"/>
          <p:cNvSpPr/>
          <p:nvPr/>
        </p:nvSpPr>
        <p:spPr>
          <a:xfrm>
            <a:off x="896112" y="1892808"/>
            <a:ext cx="548640" cy="5486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038758" y="2035454"/>
            <a:ext cx="263347" cy="263347"/>
          </a:xfrm>
          <a:prstGeom prst="rect">
            <a:avLst/>
          </a:prstGeom>
        </p:spPr>
      </p:pic>
      <p:sp>
        <p:nvSpPr>
          <p:cNvPr id="7" name="Text 4"/>
          <p:cNvSpPr/>
          <p:nvPr/>
        </p:nvSpPr>
        <p:spPr>
          <a:xfrm>
            <a:off x="1691640" y="1801368"/>
            <a:ext cx="3383280" cy="411480"/>
          </a:xfrm>
          <a:prstGeom prst="rect">
            <a:avLst/>
          </a:prstGeom>
          <a:noFill/>
          <a:ln/>
        </p:spPr>
        <p:txBody>
          <a:bodyPr wrap="square" lIns="0" tIns="0" rIns="0" bIns="0" rtlCol="0" anchor="ctr"/>
          <a:lstStyle/>
          <a:p>
            <a:pPr indent="0" marL="0">
              <a:buNone/>
            </a:pPr>
            <a:r>
              <a:rPr lang="en-US" sz="1800" b="1" dirty="0">
                <a:solidFill>
                  <a:srgbClr val="1E293B"/>
                </a:solidFill>
                <a:latin typeface="Arial" pitchFamily="34" charset="0"/>
                <a:ea typeface="Arial" pitchFamily="34" charset="-122"/>
                <a:cs typeface="Arial" pitchFamily="34" charset="-120"/>
              </a:rPr>
              <a:t>Multi-agent systems</a:t>
            </a:r>
            <a:endParaRPr lang="en-US" sz="1800" dirty="0"/>
          </a:p>
        </p:txBody>
      </p:sp>
      <p:sp>
        <p:nvSpPr>
          <p:cNvPr id="8" name="Text 5"/>
          <p:cNvSpPr/>
          <p:nvPr/>
        </p:nvSpPr>
        <p:spPr>
          <a:xfrm>
            <a:off x="5120640" y="1801368"/>
            <a:ext cx="6217920" cy="73152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Several specialized agents working together on one job.</a:t>
            </a:r>
            <a:endParaRPr lang="en-US" sz="1350" dirty="0"/>
          </a:p>
        </p:txBody>
      </p:sp>
      <p:sp>
        <p:nvSpPr>
          <p:cNvPr id="9" name="Shape 6"/>
          <p:cNvSpPr/>
          <p:nvPr/>
        </p:nvSpPr>
        <p:spPr>
          <a:xfrm>
            <a:off x="640080" y="2788920"/>
            <a:ext cx="10881360" cy="960120"/>
          </a:xfrm>
          <a:prstGeom prst="roundRect">
            <a:avLst>
              <a:gd name="adj" fmla="val 7619"/>
            </a:avLst>
          </a:prstGeom>
          <a:solidFill>
            <a:srgbClr val="F1F5F9"/>
          </a:solidFill>
          <a:ln/>
          <a:effectLst>
            <a:outerShdw sx="100000" sy="100000" kx="0" ky="0" algn="bl" rotWithShape="0" blurRad="88900" dist="38100" dir="5400000">
              <a:srgbClr val="0F2A33">
                <a:alpha val="16000"/>
              </a:srgbClr>
            </a:outerShdw>
          </a:effectLst>
        </p:spPr>
      </p:sp>
      <p:sp>
        <p:nvSpPr>
          <p:cNvPr id="10" name="Shape 7"/>
          <p:cNvSpPr/>
          <p:nvPr/>
        </p:nvSpPr>
        <p:spPr>
          <a:xfrm>
            <a:off x="896112" y="2990088"/>
            <a:ext cx="548640" cy="54864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1038758" y="3132734"/>
            <a:ext cx="263347" cy="263347"/>
          </a:xfrm>
          <a:prstGeom prst="rect">
            <a:avLst/>
          </a:prstGeom>
        </p:spPr>
      </p:pic>
      <p:sp>
        <p:nvSpPr>
          <p:cNvPr id="12" name="Text 8"/>
          <p:cNvSpPr/>
          <p:nvPr/>
        </p:nvSpPr>
        <p:spPr>
          <a:xfrm>
            <a:off x="1691640" y="2898648"/>
            <a:ext cx="3383280" cy="411480"/>
          </a:xfrm>
          <a:prstGeom prst="rect">
            <a:avLst/>
          </a:prstGeom>
          <a:noFill/>
          <a:ln/>
        </p:spPr>
        <p:txBody>
          <a:bodyPr wrap="square" lIns="0" tIns="0" rIns="0" bIns="0" rtlCol="0" anchor="ctr"/>
          <a:lstStyle/>
          <a:p>
            <a:pPr indent="0" marL="0">
              <a:buNone/>
            </a:pPr>
            <a:r>
              <a:rPr lang="en-US" sz="1800" b="1" dirty="0">
                <a:solidFill>
                  <a:srgbClr val="1E293B"/>
                </a:solidFill>
                <a:latin typeface="Arial" pitchFamily="34" charset="0"/>
                <a:ea typeface="Arial" pitchFamily="34" charset="-122"/>
                <a:cs typeface="Arial" pitchFamily="34" charset="-120"/>
              </a:rPr>
              <a:t>Human-in-the-loop</a:t>
            </a:r>
            <a:endParaRPr lang="en-US" sz="1800" dirty="0"/>
          </a:p>
        </p:txBody>
      </p:sp>
      <p:sp>
        <p:nvSpPr>
          <p:cNvPr id="13" name="Text 9"/>
          <p:cNvSpPr/>
          <p:nvPr/>
        </p:nvSpPr>
        <p:spPr>
          <a:xfrm>
            <a:off x="5120640" y="2898648"/>
            <a:ext cx="6217920" cy="73152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Keep a person in the decision for risky or costly actions.</a:t>
            </a:r>
            <a:endParaRPr lang="en-US" sz="1350" dirty="0"/>
          </a:p>
        </p:txBody>
      </p:sp>
      <p:sp>
        <p:nvSpPr>
          <p:cNvPr id="14" name="Shape 10"/>
          <p:cNvSpPr/>
          <p:nvPr/>
        </p:nvSpPr>
        <p:spPr>
          <a:xfrm>
            <a:off x="640080" y="3886200"/>
            <a:ext cx="10881360" cy="960120"/>
          </a:xfrm>
          <a:prstGeom prst="roundRect">
            <a:avLst>
              <a:gd name="adj" fmla="val 7619"/>
            </a:avLst>
          </a:prstGeom>
          <a:solidFill>
            <a:srgbClr val="F0FDFA"/>
          </a:solidFill>
          <a:ln/>
          <a:effectLst>
            <a:outerShdw sx="100000" sy="100000" kx="0" ky="0" algn="bl" rotWithShape="0" blurRad="88900" dist="38100" dir="5400000">
              <a:srgbClr val="0F2A33">
                <a:alpha val="16000"/>
              </a:srgbClr>
            </a:outerShdw>
          </a:effectLst>
        </p:spPr>
      </p:sp>
      <p:sp>
        <p:nvSpPr>
          <p:cNvPr id="15" name="Shape 11"/>
          <p:cNvSpPr/>
          <p:nvPr/>
        </p:nvSpPr>
        <p:spPr>
          <a:xfrm>
            <a:off x="896112" y="4087368"/>
            <a:ext cx="548640" cy="5486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6" name="Image 2" descr="preencoded.png">    </p:cNvPr>
          <p:cNvPicPr>
            <a:picLocks noChangeAspect="1"/>
          </p:cNvPicPr>
          <p:nvPr/>
        </p:nvPicPr>
        <p:blipFill>
          <a:blip r:embed="rId3"/>
          <a:stretch>
            <a:fillRect/>
          </a:stretch>
        </p:blipFill>
        <p:spPr>
          <a:xfrm>
            <a:off x="1038758" y="4230014"/>
            <a:ext cx="263347" cy="263347"/>
          </a:xfrm>
          <a:prstGeom prst="rect">
            <a:avLst/>
          </a:prstGeom>
        </p:spPr>
      </p:pic>
      <p:sp>
        <p:nvSpPr>
          <p:cNvPr id="17" name="Text 12"/>
          <p:cNvSpPr/>
          <p:nvPr/>
        </p:nvSpPr>
        <p:spPr>
          <a:xfrm>
            <a:off x="1691640" y="3995928"/>
            <a:ext cx="3383280" cy="411480"/>
          </a:xfrm>
          <a:prstGeom prst="rect">
            <a:avLst/>
          </a:prstGeom>
          <a:noFill/>
          <a:ln/>
        </p:spPr>
        <p:txBody>
          <a:bodyPr wrap="square" lIns="0" tIns="0" rIns="0" bIns="0" rtlCol="0" anchor="ctr"/>
          <a:lstStyle/>
          <a:p>
            <a:pPr indent="0" marL="0">
              <a:buNone/>
            </a:pPr>
            <a:r>
              <a:rPr lang="en-US" sz="1800" b="1" dirty="0">
                <a:solidFill>
                  <a:srgbClr val="1E293B"/>
                </a:solidFill>
                <a:latin typeface="Arial" pitchFamily="34" charset="0"/>
                <a:ea typeface="Arial" pitchFamily="34" charset="-122"/>
                <a:cs typeface="Arial" pitchFamily="34" charset="-120"/>
              </a:rPr>
              <a:t>Guardrails and safety</a:t>
            </a:r>
            <a:endParaRPr lang="en-US" sz="1800" dirty="0"/>
          </a:p>
        </p:txBody>
      </p:sp>
      <p:sp>
        <p:nvSpPr>
          <p:cNvPr id="18" name="Text 13"/>
          <p:cNvSpPr/>
          <p:nvPr/>
        </p:nvSpPr>
        <p:spPr>
          <a:xfrm>
            <a:off x="5120640" y="3995928"/>
            <a:ext cx="6217920" cy="73152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Constrain what an agent can take in, say, and do.</a:t>
            </a:r>
            <a:endParaRPr lang="en-US" sz="1350" dirty="0"/>
          </a:p>
        </p:txBody>
      </p:sp>
      <p:sp>
        <p:nvSpPr>
          <p:cNvPr id="19" name="Shape 14"/>
          <p:cNvSpPr/>
          <p:nvPr/>
        </p:nvSpPr>
        <p:spPr>
          <a:xfrm>
            <a:off x="640080" y="5029200"/>
            <a:ext cx="10881360" cy="640080"/>
          </a:xfrm>
          <a:prstGeom prst="roundRect">
            <a:avLst>
              <a:gd name="adj" fmla="val 14286"/>
            </a:avLst>
          </a:prstGeom>
          <a:solidFill>
            <a:srgbClr val="0F2A33"/>
          </a:solidFill>
          <a:ln/>
          <a:effectLst>
            <a:outerShdw sx="100000" sy="100000" kx="0" ky="0" algn="bl" rotWithShape="0" blurRad="88900" dist="38100" dir="5400000">
              <a:srgbClr val="0F2A33">
                <a:alpha val="16000"/>
              </a:srgbClr>
            </a:outerShdw>
          </a:effectLst>
        </p:spPr>
      </p:sp>
      <p:sp>
        <p:nvSpPr>
          <p:cNvPr id="20" name="Shape 15"/>
          <p:cNvSpPr/>
          <p:nvPr/>
        </p:nvSpPr>
        <p:spPr>
          <a:xfrm>
            <a:off x="868680" y="5102352"/>
            <a:ext cx="493776" cy="493776"/>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21" name="Image 3" descr="preencoded.png">    </p:cNvPr>
          <p:cNvPicPr>
            <a:picLocks noChangeAspect="1"/>
          </p:cNvPicPr>
          <p:nvPr/>
        </p:nvPicPr>
        <p:blipFill>
          <a:blip r:embed="rId4"/>
          <a:stretch>
            <a:fillRect/>
          </a:stretch>
        </p:blipFill>
        <p:spPr>
          <a:xfrm>
            <a:off x="997062" y="5230734"/>
            <a:ext cx="237012" cy="237012"/>
          </a:xfrm>
          <a:prstGeom prst="rect">
            <a:avLst/>
          </a:prstGeom>
        </p:spPr>
      </p:pic>
      <p:sp>
        <p:nvSpPr>
          <p:cNvPr id="22" name="Text 16"/>
          <p:cNvSpPr/>
          <p:nvPr/>
        </p:nvSpPr>
        <p:spPr>
          <a:xfrm>
            <a:off x="1554480" y="5029200"/>
            <a:ext cx="9784080" cy="640080"/>
          </a:xfrm>
          <a:prstGeom prst="rect">
            <a:avLst/>
          </a:prstGeom>
          <a:noFill/>
          <a:ln/>
        </p:spPr>
        <p:txBody>
          <a:bodyPr wrap="square" lIns="0" tIns="0" rIns="0" bIns="0" rtlCol="0" anchor="ctr"/>
          <a:lstStyle/>
          <a:p>
            <a:pPr indent="0" marL="0">
              <a:buNone/>
            </a:pPr>
            <a:r>
              <a:rPr lang="en-US" sz="1400" b="1" dirty="0">
                <a:solidFill>
                  <a:srgbClr val="5EEAD4"/>
                </a:solidFill>
                <a:latin typeface="Arial" pitchFamily="34" charset="0"/>
                <a:ea typeface="Arial" pitchFamily="34" charset="-122"/>
                <a:cs typeface="Arial" pitchFamily="34" charset="-120"/>
              </a:rPr>
              <a:t>Then: the capstone, an agent that uses everything from the whole week.</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A33"/>
        </a:solidFill>
      </p:bgPr>
    </p:bg>
    <p:spTree>
      <p:nvGrpSpPr>
        <p:cNvPr id="1" name=""/>
        <p:cNvGrpSpPr/>
        <p:nvPr/>
      </p:nvGrpSpPr>
      <p:grpSpPr>
        <a:xfrm>
          <a:off x="0" y="0"/>
          <a:ext cx="0" cy="0"/>
          <a:chOff x="0" y="0"/>
          <a:chExt cx="0" cy="0"/>
        </a:xfrm>
      </p:grpSpPr>
      <p:sp>
        <p:nvSpPr>
          <p:cNvPr id="2" name="Shape 0"/>
          <p:cNvSpPr/>
          <p:nvPr/>
        </p:nvSpPr>
        <p:spPr>
          <a:xfrm>
            <a:off x="9509760" y="-1463040"/>
            <a:ext cx="4572000" cy="4572000"/>
          </a:xfrm>
          <a:prstGeom prst="ellipse">
            <a:avLst/>
          </a:prstGeom>
          <a:solidFill>
            <a:srgbClr val="13343B"/>
          </a:solidFill>
          <a:ln/>
        </p:spPr>
      </p:sp>
      <p:sp>
        <p:nvSpPr>
          <p:cNvPr id="3" name="Shape 1"/>
          <p:cNvSpPr/>
          <p:nvPr/>
        </p:nvSpPr>
        <p:spPr>
          <a:xfrm>
            <a:off x="10607040" y="4206240"/>
            <a:ext cx="3840480" cy="3840480"/>
          </a:xfrm>
          <a:prstGeom prst="ellipse">
            <a:avLst/>
          </a:prstGeom>
          <a:solidFill>
            <a:srgbClr val="13343B"/>
          </a:solidFill>
          <a:ln/>
        </p:spPr>
      </p:sp>
      <p:sp>
        <p:nvSpPr>
          <p:cNvPr id="4" name="Text 2"/>
          <p:cNvSpPr/>
          <p:nvPr/>
        </p:nvSpPr>
        <p:spPr>
          <a:xfrm>
            <a:off x="822960" y="2240280"/>
            <a:ext cx="8229600" cy="365760"/>
          </a:xfrm>
          <a:prstGeom prst="rect">
            <a:avLst/>
          </a:prstGeom>
          <a:noFill/>
          <a:ln/>
        </p:spPr>
        <p:txBody>
          <a:bodyPr wrap="square" rtlCol="0" anchor="ctr"/>
          <a:lstStyle/>
          <a:p>
            <a:pPr indent="0" marL="0">
              <a:buNone/>
            </a:pPr>
            <a:r>
              <a:rPr lang="en-US" sz="1500" b="1" spc="400" kern="0" dirty="0">
                <a:solidFill>
                  <a:srgbClr val="0D9488"/>
                </a:solidFill>
                <a:latin typeface="Arial" pitchFamily="34" charset="0"/>
                <a:ea typeface="Arial" pitchFamily="34" charset="-122"/>
                <a:cs typeface="Arial" pitchFamily="34" charset="-120"/>
              </a:rPr>
              <a:t>PART 1  -  CHAPTER 7</a:t>
            </a:r>
            <a:endParaRPr lang="en-US" sz="1500" dirty="0"/>
          </a:p>
        </p:txBody>
      </p:sp>
      <p:sp>
        <p:nvSpPr>
          <p:cNvPr id="5" name="Text 3"/>
          <p:cNvSpPr/>
          <p:nvPr/>
        </p:nvSpPr>
        <p:spPr>
          <a:xfrm>
            <a:off x="777240" y="2606040"/>
            <a:ext cx="10058400" cy="1371600"/>
          </a:xfrm>
          <a:prstGeom prst="rect">
            <a:avLst/>
          </a:prstGeom>
          <a:noFill/>
          <a:ln/>
        </p:spPr>
        <p:txBody>
          <a:bodyPr wrap="square" rtlCol="0" anchor="ctr"/>
          <a:lstStyle/>
          <a:p>
            <a:pPr indent="0" marL="0">
              <a:buNone/>
            </a:pPr>
            <a:r>
              <a:rPr lang="en-US" sz="4600" b="1" dirty="0">
                <a:solidFill>
                  <a:srgbClr val="FFFFFF"/>
                </a:solidFill>
                <a:latin typeface="Arial" pitchFamily="34" charset="0"/>
                <a:ea typeface="Arial" pitchFamily="34" charset="-122"/>
                <a:cs typeface="Arial" pitchFamily="34" charset="-120"/>
              </a:rPr>
              <a:t>Multi-Agent Systems</a:t>
            </a:r>
            <a:endParaRPr lang="en-US" sz="4600" dirty="0"/>
          </a:p>
        </p:txBody>
      </p:sp>
      <p:sp>
        <p:nvSpPr>
          <p:cNvPr id="6" name="Text 4"/>
          <p:cNvSpPr/>
          <p:nvPr/>
        </p:nvSpPr>
        <p:spPr>
          <a:xfrm>
            <a:off x="822960" y="3977640"/>
            <a:ext cx="10058400" cy="457200"/>
          </a:xfrm>
          <a:prstGeom prst="rect">
            <a:avLst/>
          </a:prstGeom>
          <a:noFill/>
          <a:ln/>
        </p:spPr>
        <p:txBody>
          <a:bodyPr wrap="square" rtlCol="0" anchor="ctr"/>
          <a:lstStyle/>
          <a:p>
            <a:pPr indent="0" marL="0">
              <a:buNone/>
            </a:pPr>
            <a:r>
              <a:rPr lang="en-US" sz="1600" i="1" dirty="0">
                <a:solidFill>
                  <a:srgbClr val="5EEAD4"/>
                </a:solidFill>
                <a:latin typeface="Arial" pitchFamily="34" charset="0"/>
                <a:ea typeface="Arial" pitchFamily="34" charset="-122"/>
                <a:cs typeface="Arial" pitchFamily="34" charset="-120"/>
              </a:rPr>
              <a:t>Several specialized agents, working together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THE IDEA</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One generalist, or a team of specialists</a:t>
            </a:r>
            <a:endParaRPr lang="en-US" sz="3000" dirty="0"/>
          </a:p>
        </p:txBody>
      </p:sp>
      <p:sp>
        <p:nvSpPr>
          <p:cNvPr id="4" name="Shape 2"/>
          <p:cNvSpPr/>
          <p:nvPr/>
        </p:nvSpPr>
        <p:spPr>
          <a:xfrm>
            <a:off x="640080" y="1783080"/>
            <a:ext cx="10881360" cy="1143000"/>
          </a:xfrm>
          <a:prstGeom prst="roundRect">
            <a:avLst>
              <a:gd name="adj" fmla="val 7200"/>
            </a:avLst>
          </a:prstGeom>
          <a:solidFill>
            <a:srgbClr val="0F2A33"/>
          </a:solidFill>
          <a:ln/>
          <a:effectLst>
            <a:outerShdw sx="100000" sy="100000" kx="0" ky="0" algn="bl" rotWithShape="0" blurRad="88900" dist="38100" dir="5400000">
              <a:srgbClr val="0F2A33">
                <a:alpha val="16000"/>
              </a:srgbClr>
            </a:outerShdw>
          </a:effectLst>
        </p:spPr>
      </p:sp>
      <p:sp>
        <p:nvSpPr>
          <p:cNvPr id="5" name="Shape 3"/>
          <p:cNvSpPr/>
          <p:nvPr/>
        </p:nvSpPr>
        <p:spPr>
          <a:xfrm>
            <a:off x="914400" y="1993392"/>
            <a:ext cx="731520" cy="73152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04595" y="2183587"/>
            <a:ext cx="351130" cy="351130"/>
          </a:xfrm>
          <a:prstGeom prst="rect">
            <a:avLst/>
          </a:prstGeom>
        </p:spPr>
      </p:pic>
      <p:sp>
        <p:nvSpPr>
          <p:cNvPr id="7" name="Text 4"/>
          <p:cNvSpPr/>
          <p:nvPr/>
        </p:nvSpPr>
        <p:spPr>
          <a:xfrm>
            <a:off x="1874520" y="1874520"/>
            <a:ext cx="9418320" cy="10058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A multi-agent system splits a job across several focused agents, </a:t>
            </a:r>
            <a:pPr indent="0" marL="0">
              <a:buNone/>
            </a:pPr>
            <a:r>
              <a:rPr lang="en-US" sz="1600" b="1" dirty="0">
                <a:solidFill>
                  <a:srgbClr val="5EEAD4"/>
                </a:solidFill>
                <a:latin typeface="Arial" pitchFamily="34" charset="0"/>
                <a:ea typeface="Arial" pitchFamily="34" charset="-122"/>
                <a:cs typeface="Arial" pitchFamily="34" charset="-120"/>
              </a:rPr>
              <a:t>each with its own role, prompt, and tools, coordinated to reach one goal.</a:t>
            </a:r>
            <a:endParaRPr lang="en-US" sz="1600" dirty="0"/>
          </a:p>
        </p:txBody>
      </p:sp>
      <p:sp>
        <p:nvSpPr>
          <p:cNvPr id="8" name="Shape 5"/>
          <p:cNvSpPr/>
          <p:nvPr/>
        </p:nvSpPr>
        <p:spPr>
          <a:xfrm>
            <a:off x="640080" y="3246120"/>
            <a:ext cx="3520440" cy="2240280"/>
          </a:xfrm>
          <a:prstGeom prst="roundRect">
            <a:avLst>
              <a:gd name="adj" fmla="val 3673"/>
            </a:avLst>
          </a:prstGeom>
          <a:solidFill>
            <a:srgbClr val="F0FDFA"/>
          </a:solidFill>
          <a:ln/>
          <a:effectLst>
            <a:outerShdw sx="100000" sy="100000" kx="0" ky="0" algn="bl" rotWithShape="0" blurRad="88900" dist="38100" dir="5400000">
              <a:srgbClr val="0F2A33">
                <a:alpha val="16000"/>
              </a:srgbClr>
            </a:outerShdw>
          </a:effectLst>
        </p:spPr>
      </p:sp>
      <p:sp>
        <p:nvSpPr>
          <p:cNvPr id="9" name="Shape 6"/>
          <p:cNvSpPr/>
          <p:nvPr/>
        </p:nvSpPr>
        <p:spPr>
          <a:xfrm>
            <a:off x="914400" y="3520440"/>
            <a:ext cx="731520" cy="73152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0" name="Image 1" descr="preencoded.png">    </p:cNvPr>
          <p:cNvPicPr>
            <a:picLocks noChangeAspect="1"/>
          </p:cNvPicPr>
          <p:nvPr/>
        </p:nvPicPr>
        <p:blipFill>
          <a:blip r:embed="rId2"/>
          <a:stretch>
            <a:fillRect/>
          </a:stretch>
        </p:blipFill>
        <p:spPr>
          <a:xfrm>
            <a:off x="1104595" y="3710635"/>
            <a:ext cx="351130" cy="351130"/>
          </a:xfrm>
          <a:prstGeom prst="rect">
            <a:avLst/>
          </a:prstGeom>
        </p:spPr>
      </p:pic>
      <p:sp>
        <p:nvSpPr>
          <p:cNvPr id="11" name="Text 7"/>
          <p:cNvSpPr/>
          <p:nvPr/>
        </p:nvSpPr>
        <p:spPr>
          <a:xfrm>
            <a:off x="1828800" y="3657600"/>
            <a:ext cx="2194560" cy="45720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Specialization</a:t>
            </a:r>
            <a:endParaRPr lang="en-US" sz="1600" dirty="0"/>
          </a:p>
        </p:txBody>
      </p:sp>
      <p:sp>
        <p:nvSpPr>
          <p:cNvPr id="12" name="Text 8"/>
          <p:cNvSpPr/>
          <p:nvPr/>
        </p:nvSpPr>
        <p:spPr>
          <a:xfrm>
            <a:off x="914400" y="4434840"/>
            <a:ext cx="301752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Each agent does one thing well, with a tight prompt and the right tools</a:t>
            </a:r>
            <a:endParaRPr lang="en-US" sz="1300" dirty="0"/>
          </a:p>
        </p:txBody>
      </p:sp>
      <p:sp>
        <p:nvSpPr>
          <p:cNvPr id="13" name="Shape 9"/>
          <p:cNvSpPr/>
          <p:nvPr/>
        </p:nvSpPr>
        <p:spPr>
          <a:xfrm>
            <a:off x="4297680" y="3246120"/>
            <a:ext cx="3520440" cy="2240280"/>
          </a:xfrm>
          <a:prstGeom prst="roundRect">
            <a:avLst>
              <a:gd name="adj" fmla="val 3673"/>
            </a:avLst>
          </a:prstGeom>
          <a:solidFill>
            <a:srgbClr val="F0FDFA"/>
          </a:solidFill>
          <a:ln/>
          <a:effectLst>
            <a:outerShdw sx="100000" sy="100000" kx="0" ky="0" algn="bl" rotWithShape="0" blurRad="88900" dist="38100" dir="5400000">
              <a:srgbClr val="0F2A33">
                <a:alpha val="16000"/>
              </a:srgbClr>
            </a:outerShdw>
          </a:effectLst>
        </p:spPr>
      </p:sp>
      <p:sp>
        <p:nvSpPr>
          <p:cNvPr id="14" name="Shape 10"/>
          <p:cNvSpPr/>
          <p:nvPr/>
        </p:nvSpPr>
        <p:spPr>
          <a:xfrm>
            <a:off x="4572000" y="3520440"/>
            <a:ext cx="731520" cy="73152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5" name="Image 2" descr="preencoded.png">    </p:cNvPr>
          <p:cNvPicPr>
            <a:picLocks noChangeAspect="1"/>
          </p:cNvPicPr>
          <p:nvPr/>
        </p:nvPicPr>
        <p:blipFill>
          <a:blip r:embed="rId3"/>
          <a:stretch>
            <a:fillRect/>
          </a:stretch>
        </p:blipFill>
        <p:spPr>
          <a:xfrm>
            <a:off x="4762195" y="3710635"/>
            <a:ext cx="351130" cy="351130"/>
          </a:xfrm>
          <a:prstGeom prst="rect">
            <a:avLst/>
          </a:prstGeom>
        </p:spPr>
      </p:pic>
      <p:sp>
        <p:nvSpPr>
          <p:cNvPr id="16" name="Text 11"/>
          <p:cNvSpPr/>
          <p:nvPr/>
        </p:nvSpPr>
        <p:spPr>
          <a:xfrm>
            <a:off x="5486400" y="3657600"/>
            <a:ext cx="2194560" cy="45720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Separation</a:t>
            </a:r>
            <a:endParaRPr lang="en-US" sz="1600" dirty="0"/>
          </a:p>
        </p:txBody>
      </p:sp>
      <p:sp>
        <p:nvSpPr>
          <p:cNvPr id="17" name="Text 12"/>
          <p:cNvSpPr/>
          <p:nvPr/>
        </p:nvSpPr>
        <p:spPr>
          <a:xfrm>
            <a:off x="4572000" y="4434840"/>
            <a:ext cx="301752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Smaller, simpler agents are easier to build, test, and debug</a:t>
            </a:r>
            <a:endParaRPr lang="en-US" sz="1300" dirty="0"/>
          </a:p>
        </p:txBody>
      </p:sp>
      <p:sp>
        <p:nvSpPr>
          <p:cNvPr id="18" name="Shape 13"/>
          <p:cNvSpPr/>
          <p:nvPr/>
        </p:nvSpPr>
        <p:spPr>
          <a:xfrm>
            <a:off x="7955280" y="3246120"/>
            <a:ext cx="3520440" cy="2240280"/>
          </a:xfrm>
          <a:prstGeom prst="roundRect">
            <a:avLst>
              <a:gd name="adj" fmla="val 3673"/>
            </a:avLst>
          </a:prstGeom>
          <a:solidFill>
            <a:srgbClr val="F0FDFA"/>
          </a:solidFill>
          <a:ln/>
          <a:effectLst>
            <a:outerShdw sx="100000" sy="100000" kx="0" ky="0" algn="bl" rotWithShape="0" blurRad="88900" dist="38100" dir="5400000">
              <a:srgbClr val="0F2A33">
                <a:alpha val="16000"/>
              </a:srgbClr>
            </a:outerShdw>
          </a:effectLst>
        </p:spPr>
      </p:sp>
      <p:sp>
        <p:nvSpPr>
          <p:cNvPr id="19" name="Shape 14"/>
          <p:cNvSpPr/>
          <p:nvPr/>
        </p:nvSpPr>
        <p:spPr>
          <a:xfrm>
            <a:off x="8229600" y="3520440"/>
            <a:ext cx="731520" cy="73152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20" name="Image 3" descr="preencoded.png">    </p:cNvPr>
          <p:cNvPicPr>
            <a:picLocks noChangeAspect="1"/>
          </p:cNvPicPr>
          <p:nvPr/>
        </p:nvPicPr>
        <p:blipFill>
          <a:blip r:embed="rId4"/>
          <a:stretch>
            <a:fillRect/>
          </a:stretch>
        </p:blipFill>
        <p:spPr>
          <a:xfrm>
            <a:off x="8419795" y="3710635"/>
            <a:ext cx="351130" cy="351130"/>
          </a:xfrm>
          <a:prstGeom prst="rect">
            <a:avLst/>
          </a:prstGeom>
        </p:spPr>
      </p:pic>
      <p:sp>
        <p:nvSpPr>
          <p:cNvPr id="21" name="Text 15"/>
          <p:cNvSpPr/>
          <p:nvPr/>
        </p:nvSpPr>
        <p:spPr>
          <a:xfrm>
            <a:off x="9144000" y="3657600"/>
            <a:ext cx="2194560" cy="45720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Collaboration</a:t>
            </a:r>
            <a:endParaRPr lang="en-US" sz="1600" dirty="0"/>
          </a:p>
        </p:txBody>
      </p:sp>
      <p:sp>
        <p:nvSpPr>
          <p:cNvPr id="22" name="Text 16"/>
          <p:cNvSpPr/>
          <p:nvPr/>
        </p:nvSpPr>
        <p:spPr>
          <a:xfrm>
            <a:off x="8229600" y="4434840"/>
            <a:ext cx="301752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A researcher, a writer, a checker, each handing work to the next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WHEN TO USE A TEAM</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More agents is more complexity, so be deliberate</a:t>
            </a:r>
            <a:endParaRPr lang="en-US" sz="3000" dirty="0"/>
          </a:p>
        </p:txBody>
      </p:sp>
      <p:sp>
        <p:nvSpPr>
          <p:cNvPr id="4" name="Shape 2"/>
          <p:cNvSpPr/>
          <p:nvPr/>
        </p:nvSpPr>
        <p:spPr>
          <a:xfrm>
            <a:off x="640080" y="1828800"/>
            <a:ext cx="5349240" cy="3383280"/>
          </a:xfrm>
          <a:prstGeom prst="roundRect">
            <a:avLst>
              <a:gd name="adj" fmla="val 2432"/>
            </a:avLst>
          </a:prstGeom>
          <a:solidFill>
            <a:srgbClr val="F0FDFA"/>
          </a:solidFill>
          <a:ln/>
          <a:effectLst>
            <a:outerShdw sx="100000" sy="100000" kx="0" ky="0" algn="bl" rotWithShape="0" blurRad="88900" dist="38100" dir="5400000">
              <a:srgbClr val="0F2A33">
                <a:alpha val="16000"/>
              </a:srgbClr>
            </a:outerShdw>
          </a:effectLst>
        </p:spPr>
      </p:sp>
      <p:sp>
        <p:nvSpPr>
          <p:cNvPr id="5" name="Shape 3"/>
          <p:cNvSpPr/>
          <p:nvPr/>
        </p:nvSpPr>
        <p:spPr>
          <a:xfrm>
            <a:off x="868680" y="2057400"/>
            <a:ext cx="548640" cy="5486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011326" y="2200046"/>
            <a:ext cx="263347" cy="263347"/>
          </a:xfrm>
          <a:prstGeom prst="rect">
            <a:avLst/>
          </a:prstGeom>
        </p:spPr>
      </p:pic>
      <p:sp>
        <p:nvSpPr>
          <p:cNvPr id="7" name="Text 4"/>
          <p:cNvSpPr/>
          <p:nvPr/>
        </p:nvSpPr>
        <p:spPr>
          <a:xfrm>
            <a:off x="1554480" y="2121408"/>
            <a:ext cx="4297680" cy="411480"/>
          </a:xfrm>
          <a:prstGeom prst="rect">
            <a:avLst/>
          </a:prstGeom>
          <a:noFill/>
          <a:ln/>
        </p:spPr>
        <p:txBody>
          <a:bodyPr wrap="square" lIns="0" tIns="0" rIns="0" bIns="0" rtlCol="0" anchor="ctr"/>
          <a:lstStyle/>
          <a:p>
            <a:pPr indent="0" marL="0">
              <a:buNone/>
            </a:pPr>
            <a:r>
              <a:rPr lang="en-US" sz="1700" b="1" dirty="0">
                <a:solidFill>
                  <a:srgbClr val="0D9488"/>
                </a:solidFill>
                <a:latin typeface="Arial" pitchFamily="34" charset="0"/>
                <a:ea typeface="Arial" pitchFamily="34" charset="-122"/>
                <a:cs typeface="Arial" pitchFamily="34" charset="-120"/>
              </a:rPr>
              <a:t>Split into agents when</a:t>
            </a:r>
            <a:endParaRPr lang="en-US" sz="1700" dirty="0"/>
          </a:p>
        </p:txBody>
      </p:sp>
      <p:sp>
        <p:nvSpPr>
          <p:cNvPr id="8" name="Text 5"/>
          <p:cNvSpPr/>
          <p:nvPr/>
        </p:nvSpPr>
        <p:spPr>
          <a:xfrm>
            <a:off x="914400" y="2743200"/>
            <a:ext cx="4846320" cy="2286000"/>
          </a:xfrm>
          <a:prstGeom prst="rect">
            <a:avLst/>
          </a:prstGeom>
          <a:noFill/>
          <a:ln/>
        </p:spPr>
        <p:txBody>
          <a:bodyPr wrap="square" lIns="0" tIns="0" rIns="0" bIns="0" rtlCol="0" anchor="ctr"/>
          <a:lstStyle/>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The job has distinct roles or skills</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One prompt is getting long and tangled</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Steps need different tools or models</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You want to test each part on its own</a:t>
            </a:r>
            <a:endParaRPr lang="en-US" sz="1350" dirty="0"/>
          </a:p>
        </p:txBody>
      </p:sp>
      <p:sp>
        <p:nvSpPr>
          <p:cNvPr id="9" name="Shape 6"/>
          <p:cNvSpPr/>
          <p:nvPr/>
        </p:nvSpPr>
        <p:spPr>
          <a:xfrm>
            <a:off x="6172200" y="1828800"/>
            <a:ext cx="5349240" cy="3383280"/>
          </a:xfrm>
          <a:prstGeom prst="roundRect">
            <a:avLst>
              <a:gd name="adj" fmla="val 2432"/>
            </a:avLst>
          </a:prstGeom>
          <a:solidFill>
            <a:srgbClr val="F1F5F9"/>
          </a:solidFill>
          <a:ln/>
          <a:effectLst>
            <a:outerShdw sx="100000" sy="100000" kx="0" ky="0" algn="bl" rotWithShape="0" blurRad="88900" dist="38100" dir="5400000">
              <a:srgbClr val="0F2A33">
                <a:alpha val="16000"/>
              </a:srgbClr>
            </a:outerShdw>
          </a:effectLst>
        </p:spPr>
      </p:sp>
      <p:sp>
        <p:nvSpPr>
          <p:cNvPr id="10" name="Shape 7"/>
          <p:cNvSpPr/>
          <p:nvPr/>
        </p:nvSpPr>
        <p:spPr>
          <a:xfrm>
            <a:off x="6400800" y="2057400"/>
            <a:ext cx="548640" cy="548640"/>
          </a:xfrm>
          <a:prstGeom prst="ellipse">
            <a:avLst/>
          </a:prstGeom>
          <a:solidFill>
            <a:srgbClr val="0F2A33"/>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6543446" y="2200046"/>
            <a:ext cx="263347" cy="263347"/>
          </a:xfrm>
          <a:prstGeom prst="rect">
            <a:avLst/>
          </a:prstGeom>
        </p:spPr>
      </p:pic>
      <p:sp>
        <p:nvSpPr>
          <p:cNvPr id="12" name="Text 8"/>
          <p:cNvSpPr/>
          <p:nvPr/>
        </p:nvSpPr>
        <p:spPr>
          <a:xfrm>
            <a:off x="7086600" y="2121408"/>
            <a:ext cx="4297680" cy="411480"/>
          </a:xfrm>
          <a:prstGeom prst="rect">
            <a:avLst/>
          </a:prstGeom>
          <a:noFill/>
          <a:ln/>
        </p:spPr>
        <p:txBody>
          <a:bodyPr wrap="square" lIns="0" tIns="0" rIns="0" bIns="0" rtlCol="0" anchor="ctr"/>
          <a:lstStyle/>
          <a:p>
            <a:pPr indent="0" marL="0">
              <a:buNone/>
            </a:pPr>
            <a:r>
              <a:rPr lang="en-US" sz="1700" b="1" dirty="0">
                <a:solidFill>
                  <a:srgbClr val="1E293B"/>
                </a:solidFill>
                <a:latin typeface="Arial" pitchFamily="34" charset="0"/>
                <a:ea typeface="Arial" pitchFamily="34" charset="-122"/>
                <a:cs typeface="Arial" pitchFamily="34" charset="-120"/>
              </a:rPr>
              <a:t>Keep it one agent when</a:t>
            </a:r>
            <a:endParaRPr lang="en-US" sz="1700" dirty="0"/>
          </a:p>
        </p:txBody>
      </p:sp>
      <p:sp>
        <p:nvSpPr>
          <p:cNvPr id="13" name="Text 9"/>
          <p:cNvSpPr/>
          <p:nvPr/>
        </p:nvSpPr>
        <p:spPr>
          <a:xfrm>
            <a:off x="6446520" y="2743200"/>
            <a:ext cx="4846320" cy="2286000"/>
          </a:xfrm>
          <a:prstGeom prst="rect">
            <a:avLst/>
          </a:prstGeom>
          <a:noFill/>
          <a:ln/>
        </p:spPr>
        <p:txBody>
          <a:bodyPr wrap="square" lIns="0" tIns="0" rIns="0" bIns="0" rtlCol="0" anchor="ctr"/>
          <a:lstStyle/>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A single ReAct agent already does the job</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The task is small and self-contained</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Extra agents would only add round trips</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You cannot clearly name each role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THREE COMMON SHAPES</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Ways to wire agents together</a:t>
            </a:r>
            <a:endParaRPr lang="en-US" sz="3000" dirty="0"/>
          </a:p>
        </p:txBody>
      </p:sp>
      <p:sp>
        <p:nvSpPr>
          <p:cNvPr id="4" name="Shape 2"/>
          <p:cNvSpPr/>
          <p:nvPr/>
        </p:nvSpPr>
        <p:spPr>
          <a:xfrm>
            <a:off x="640080" y="1783080"/>
            <a:ext cx="3520440" cy="3749040"/>
          </a:xfrm>
          <a:prstGeom prst="roundRect">
            <a:avLst>
              <a:gd name="adj" fmla="val 2338"/>
            </a:avLst>
          </a:prstGeom>
          <a:solidFill>
            <a:srgbClr val="F1F5F9"/>
          </a:solidFill>
          <a:ln/>
          <a:effectLst>
            <a:outerShdw sx="100000" sy="100000" kx="0" ky="0" algn="bl" rotWithShape="0" blurRad="88900" dist="38100" dir="5400000">
              <a:srgbClr val="0F2A33">
                <a:alpha val="16000"/>
              </a:srgbClr>
            </a:outerShdw>
          </a:effectLst>
        </p:spPr>
      </p:sp>
      <p:sp>
        <p:nvSpPr>
          <p:cNvPr id="5" name="Shape 3"/>
          <p:cNvSpPr/>
          <p:nvPr/>
        </p:nvSpPr>
        <p:spPr>
          <a:xfrm>
            <a:off x="932688" y="2057400"/>
            <a:ext cx="777240" cy="7772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34770" y="2259482"/>
            <a:ext cx="373075" cy="373075"/>
          </a:xfrm>
          <a:prstGeom prst="rect">
            <a:avLst/>
          </a:prstGeom>
        </p:spPr>
      </p:pic>
      <p:sp>
        <p:nvSpPr>
          <p:cNvPr id="7" name="Text 4"/>
          <p:cNvSpPr/>
          <p:nvPr/>
        </p:nvSpPr>
        <p:spPr>
          <a:xfrm>
            <a:off x="932688" y="3017520"/>
            <a:ext cx="2971800" cy="73152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Orchestrator and workers</a:t>
            </a:r>
            <a:endParaRPr lang="en-US" sz="1600" dirty="0"/>
          </a:p>
        </p:txBody>
      </p:sp>
      <p:sp>
        <p:nvSpPr>
          <p:cNvPr id="8" name="Text 5"/>
          <p:cNvSpPr/>
          <p:nvPr/>
        </p:nvSpPr>
        <p:spPr>
          <a:xfrm>
            <a:off x="932688" y="3794760"/>
            <a:ext cx="2971800" cy="155448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A manager agent delegates subtasks to specialists, then combines their results.</a:t>
            </a:r>
            <a:endParaRPr lang="en-US" sz="1300" dirty="0"/>
          </a:p>
        </p:txBody>
      </p:sp>
      <p:sp>
        <p:nvSpPr>
          <p:cNvPr id="9" name="Shape 6"/>
          <p:cNvSpPr/>
          <p:nvPr/>
        </p:nvSpPr>
        <p:spPr>
          <a:xfrm>
            <a:off x="4297680" y="1783080"/>
            <a:ext cx="3520440" cy="3749040"/>
          </a:xfrm>
          <a:prstGeom prst="roundRect">
            <a:avLst>
              <a:gd name="adj" fmla="val 2338"/>
            </a:avLst>
          </a:prstGeom>
          <a:solidFill>
            <a:srgbClr val="F1F5F9"/>
          </a:solidFill>
          <a:ln/>
          <a:effectLst>
            <a:outerShdw sx="100000" sy="100000" kx="0" ky="0" algn="bl" rotWithShape="0" blurRad="88900" dist="38100" dir="5400000">
              <a:srgbClr val="0F2A33">
                <a:alpha val="16000"/>
              </a:srgbClr>
            </a:outerShdw>
          </a:effectLst>
        </p:spPr>
      </p:sp>
      <p:sp>
        <p:nvSpPr>
          <p:cNvPr id="10" name="Shape 7"/>
          <p:cNvSpPr/>
          <p:nvPr/>
        </p:nvSpPr>
        <p:spPr>
          <a:xfrm>
            <a:off x="4590288" y="2057400"/>
            <a:ext cx="777240" cy="7772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4792370" y="2259482"/>
            <a:ext cx="373075" cy="373075"/>
          </a:xfrm>
          <a:prstGeom prst="rect">
            <a:avLst/>
          </a:prstGeom>
        </p:spPr>
      </p:pic>
      <p:sp>
        <p:nvSpPr>
          <p:cNvPr id="12" name="Text 8"/>
          <p:cNvSpPr/>
          <p:nvPr/>
        </p:nvSpPr>
        <p:spPr>
          <a:xfrm>
            <a:off x="4590288" y="3017520"/>
            <a:ext cx="2971800" cy="73152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Pipeline</a:t>
            </a:r>
            <a:endParaRPr lang="en-US" sz="1600" dirty="0"/>
          </a:p>
        </p:txBody>
      </p:sp>
      <p:sp>
        <p:nvSpPr>
          <p:cNvPr id="13" name="Text 9"/>
          <p:cNvSpPr/>
          <p:nvPr/>
        </p:nvSpPr>
        <p:spPr>
          <a:xfrm>
            <a:off x="4590288" y="3794760"/>
            <a:ext cx="2971800" cy="155448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Agents in a line: each one's output is the next one's input. Research, write, edit.</a:t>
            </a:r>
            <a:endParaRPr lang="en-US" sz="1300" dirty="0"/>
          </a:p>
        </p:txBody>
      </p:sp>
      <p:sp>
        <p:nvSpPr>
          <p:cNvPr id="14" name="Shape 10"/>
          <p:cNvSpPr/>
          <p:nvPr/>
        </p:nvSpPr>
        <p:spPr>
          <a:xfrm>
            <a:off x="7955280" y="1783080"/>
            <a:ext cx="3520440" cy="3749040"/>
          </a:xfrm>
          <a:prstGeom prst="roundRect">
            <a:avLst>
              <a:gd name="adj" fmla="val 2338"/>
            </a:avLst>
          </a:prstGeom>
          <a:solidFill>
            <a:srgbClr val="F1F5F9"/>
          </a:solidFill>
          <a:ln/>
          <a:effectLst>
            <a:outerShdw sx="100000" sy="100000" kx="0" ky="0" algn="bl" rotWithShape="0" blurRad="88900" dist="38100" dir="5400000">
              <a:srgbClr val="0F2A33">
                <a:alpha val="16000"/>
              </a:srgbClr>
            </a:outerShdw>
          </a:effectLst>
        </p:spPr>
      </p:sp>
      <p:sp>
        <p:nvSpPr>
          <p:cNvPr id="15" name="Shape 11"/>
          <p:cNvSpPr/>
          <p:nvPr/>
        </p:nvSpPr>
        <p:spPr>
          <a:xfrm>
            <a:off x="8247888" y="2057400"/>
            <a:ext cx="777240" cy="7772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6" name="Image 2" descr="preencoded.png">    </p:cNvPr>
          <p:cNvPicPr>
            <a:picLocks noChangeAspect="1"/>
          </p:cNvPicPr>
          <p:nvPr/>
        </p:nvPicPr>
        <p:blipFill>
          <a:blip r:embed="rId3"/>
          <a:stretch>
            <a:fillRect/>
          </a:stretch>
        </p:blipFill>
        <p:spPr>
          <a:xfrm>
            <a:off x="8449970" y="2259482"/>
            <a:ext cx="373075" cy="373075"/>
          </a:xfrm>
          <a:prstGeom prst="rect">
            <a:avLst/>
          </a:prstGeom>
        </p:spPr>
      </p:pic>
      <p:sp>
        <p:nvSpPr>
          <p:cNvPr id="17" name="Text 12"/>
          <p:cNvSpPr/>
          <p:nvPr/>
        </p:nvSpPr>
        <p:spPr>
          <a:xfrm>
            <a:off x="8247888" y="3017520"/>
            <a:ext cx="2971800" cy="73152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Review or debate</a:t>
            </a:r>
            <a:endParaRPr lang="en-US" sz="1600" dirty="0"/>
          </a:p>
        </p:txBody>
      </p:sp>
      <p:sp>
        <p:nvSpPr>
          <p:cNvPr id="18" name="Text 13"/>
          <p:cNvSpPr/>
          <p:nvPr/>
        </p:nvSpPr>
        <p:spPr>
          <a:xfrm>
            <a:off x="8247888" y="3794760"/>
            <a:ext cx="2971800" cy="155448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One agent produces, another critiques or checks, improving the result.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ORCHESTRATOR AND WORKERS</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The most common shape, drawn out</a:t>
            </a:r>
            <a:endParaRPr lang="en-US" sz="3000" dirty="0"/>
          </a:p>
        </p:txBody>
      </p:sp>
      <p:sp>
        <p:nvSpPr>
          <p:cNvPr id="4" name="Shape 2"/>
          <p:cNvSpPr/>
          <p:nvPr/>
        </p:nvSpPr>
        <p:spPr>
          <a:xfrm>
            <a:off x="4663440" y="1828800"/>
            <a:ext cx="2834640" cy="914400"/>
          </a:xfrm>
          <a:prstGeom prst="roundRect">
            <a:avLst>
              <a:gd name="adj" fmla="val 9000"/>
            </a:avLst>
          </a:prstGeom>
          <a:solidFill>
            <a:srgbClr val="0F2A33"/>
          </a:solidFill>
          <a:ln/>
          <a:effectLst>
            <a:outerShdw sx="100000" sy="100000" kx="0" ky="0" algn="bl" rotWithShape="0" blurRad="88900" dist="38100" dir="5400000">
              <a:srgbClr val="0F2A33">
                <a:alpha val="16000"/>
              </a:srgbClr>
            </a:outerShdw>
          </a:effectLst>
        </p:spPr>
      </p:sp>
      <p:sp>
        <p:nvSpPr>
          <p:cNvPr id="5" name="Shape 3"/>
          <p:cNvSpPr/>
          <p:nvPr/>
        </p:nvSpPr>
        <p:spPr>
          <a:xfrm>
            <a:off x="4892040" y="1993392"/>
            <a:ext cx="585216" cy="585216"/>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5044196" y="2145548"/>
            <a:ext cx="280904" cy="280904"/>
          </a:xfrm>
          <a:prstGeom prst="rect">
            <a:avLst/>
          </a:prstGeom>
        </p:spPr>
      </p:pic>
      <p:sp>
        <p:nvSpPr>
          <p:cNvPr id="7" name="Text 4"/>
          <p:cNvSpPr/>
          <p:nvPr/>
        </p:nvSpPr>
        <p:spPr>
          <a:xfrm>
            <a:off x="5532120" y="1828800"/>
            <a:ext cx="1828800" cy="9144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Orchestrator</a:t>
            </a:r>
            <a:endParaRPr lang="en-US" sz="1500" dirty="0"/>
          </a:p>
        </p:txBody>
      </p:sp>
      <p:sp>
        <p:nvSpPr>
          <p:cNvPr id="8" name="Shape 5"/>
          <p:cNvSpPr/>
          <p:nvPr/>
        </p:nvSpPr>
        <p:spPr>
          <a:xfrm>
            <a:off x="6080760" y="2788920"/>
            <a:ext cx="-3520440" cy="0"/>
          </a:xfrm>
          <a:prstGeom prst="line">
            <a:avLst/>
          </a:prstGeom>
          <a:noFill/>
          <a:ln w="25400">
            <a:solidFill>
              <a:srgbClr val="F59E0B"/>
            </a:solidFill>
            <a:prstDash val="solid"/>
          </a:ln>
        </p:spPr>
      </p:sp>
      <p:sp>
        <p:nvSpPr>
          <p:cNvPr id="9" name="Shape 6"/>
          <p:cNvSpPr/>
          <p:nvPr/>
        </p:nvSpPr>
        <p:spPr>
          <a:xfrm>
            <a:off x="2560320" y="2788920"/>
            <a:ext cx="0" cy="777240"/>
          </a:xfrm>
          <a:prstGeom prst="line">
            <a:avLst/>
          </a:prstGeom>
          <a:noFill/>
          <a:ln w="28575">
            <a:solidFill>
              <a:srgbClr val="F59E0B"/>
            </a:solidFill>
            <a:prstDash val="solid"/>
            <a:tailEnd type="triangle"/>
          </a:ln>
        </p:spPr>
      </p:sp>
      <p:sp>
        <p:nvSpPr>
          <p:cNvPr id="10" name="Shape 7"/>
          <p:cNvSpPr/>
          <p:nvPr/>
        </p:nvSpPr>
        <p:spPr>
          <a:xfrm>
            <a:off x="1280160" y="3611880"/>
            <a:ext cx="2560320" cy="868680"/>
          </a:xfrm>
          <a:prstGeom prst="roundRect">
            <a:avLst>
              <a:gd name="adj" fmla="val 9474"/>
            </a:avLst>
          </a:prstGeom>
          <a:solidFill>
            <a:srgbClr val="F0FDFA"/>
          </a:solidFill>
          <a:ln/>
          <a:effectLst>
            <a:outerShdw sx="100000" sy="100000" kx="0" ky="0" algn="bl" rotWithShape="0" blurRad="88900" dist="38100" dir="5400000">
              <a:srgbClr val="0F2A33">
                <a:alpha val="16000"/>
              </a:srgbClr>
            </a:outerShdw>
          </a:effectLst>
        </p:spPr>
      </p:sp>
      <p:sp>
        <p:nvSpPr>
          <p:cNvPr id="11" name="Text 8"/>
          <p:cNvSpPr/>
          <p:nvPr/>
        </p:nvSpPr>
        <p:spPr>
          <a:xfrm>
            <a:off x="1280160" y="3611880"/>
            <a:ext cx="2560320" cy="868680"/>
          </a:xfrm>
          <a:prstGeom prst="rect">
            <a:avLst/>
          </a:prstGeom>
          <a:noFill/>
          <a:ln/>
        </p:spPr>
        <p:txBody>
          <a:bodyPr wrap="square" lIns="0" tIns="0" rIns="0" bIns="0" rtlCol="0" anchor="ctr"/>
          <a:lstStyle/>
          <a:p>
            <a:pPr algn="ctr" indent="0" marL="0">
              <a:buNone/>
            </a:pPr>
            <a:r>
              <a:rPr lang="en-US" sz="1500" b="1" dirty="0">
                <a:solidFill>
                  <a:srgbClr val="1E293B"/>
                </a:solidFill>
                <a:latin typeface="Arial" pitchFamily="34" charset="0"/>
                <a:ea typeface="Arial" pitchFamily="34" charset="-122"/>
                <a:cs typeface="Arial" pitchFamily="34" charset="-120"/>
              </a:rPr>
              <a:t>Researcher</a:t>
            </a:r>
            <a:endParaRPr lang="en-US" sz="1500" dirty="0"/>
          </a:p>
        </p:txBody>
      </p:sp>
      <p:sp>
        <p:nvSpPr>
          <p:cNvPr id="12" name="Shape 9"/>
          <p:cNvSpPr/>
          <p:nvPr/>
        </p:nvSpPr>
        <p:spPr>
          <a:xfrm>
            <a:off x="6080760" y="2788920"/>
            <a:ext cx="-137160" cy="0"/>
          </a:xfrm>
          <a:prstGeom prst="line">
            <a:avLst/>
          </a:prstGeom>
          <a:noFill/>
          <a:ln w="25400">
            <a:solidFill>
              <a:srgbClr val="F59E0B"/>
            </a:solidFill>
            <a:prstDash val="solid"/>
          </a:ln>
        </p:spPr>
      </p:sp>
      <p:sp>
        <p:nvSpPr>
          <p:cNvPr id="13" name="Shape 10"/>
          <p:cNvSpPr/>
          <p:nvPr/>
        </p:nvSpPr>
        <p:spPr>
          <a:xfrm>
            <a:off x="5943600" y="2788920"/>
            <a:ext cx="0" cy="777240"/>
          </a:xfrm>
          <a:prstGeom prst="line">
            <a:avLst/>
          </a:prstGeom>
          <a:noFill/>
          <a:ln w="28575">
            <a:solidFill>
              <a:srgbClr val="F59E0B"/>
            </a:solidFill>
            <a:prstDash val="solid"/>
            <a:tailEnd type="triangle"/>
          </a:ln>
        </p:spPr>
      </p:sp>
      <p:sp>
        <p:nvSpPr>
          <p:cNvPr id="14" name="Shape 11"/>
          <p:cNvSpPr/>
          <p:nvPr/>
        </p:nvSpPr>
        <p:spPr>
          <a:xfrm>
            <a:off x="4663440" y="3611880"/>
            <a:ext cx="2560320" cy="868680"/>
          </a:xfrm>
          <a:prstGeom prst="roundRect">
            <a:avLst>
              <a:gd name="adj" fmla="val 9474"/>
            </a:avLst>
          </a:prstGeom>
          <a:solidFill>
            <a:srgbClr val="F0FDFA"/>
          </a:solidFill>
          <a:ln/>
          <a:effectLst>
            <a:outerShdw sx="100000" sy="100000" kx="0" ky="0" algn="bl" rotWithShape="0" blurRad="88900" dist="38100" dir="5400000">
              <a:srgbClr val="0F2A33">
                <a:alpha val="16000"/>
              </a:srgbClr>
            </a:outerShdw>
          </a:effectLst>
        </p:spPr>
      </p:sp>
      <p:sp>
        <p:nvSpPr>
          <p:cNvPr id="15" name="Text 12"/>
          <p:cNvSpPr/>
          <p:nvPr/>
        </p:nvSpPr>
        <p:spPr>
          <a:xfrm>
            <a:off x="4663440" y="3611880"/>
            <a:ext cx="2560320" cy="868680"/>
          </a:xfrm>
          <a:prstGeom prst="rect">
            <a:avLst/>
          </a:prstGeom>
          <a:noFill/>
          <a:ln/>
        </p:spPr>
        <p:txBody>
          <a:bodyPr wrap="square" lIns="0" tIns="0" rIns="0" bIns="0" rtlCol="0" anchor="ctr"/>
          <a:lstStyle/>
          <a:p>
            <a:pPr algn="ctr" indent="0" marL="0">
              <a:buNone/>
            </a:pPr>
            <a:r>
              <a:rPr lang="en-US" sz="1500" b="1" dirty="0">
                <a:solidFill>
                  <a:srgbClr val="1E293B"/>
                </a:solidFill>
                <a:latin typeface="Arial" pitchFamily="34" charset="0"/>
                <a:ea typeface="Arial" pitchFamily="34" charset="-122"/>
                <a:cs typeface="Arial" pitchFamily="34" charset="-120"/>
              </a:rPr>
              <a:t>Writer</a:t>
            </a:r>
            <a:endParaRPr lang="en-US" sz="1500" dirty="0"/>
          </a:p>
        </p:txBody>
      </p:sp>
      <p:sp>
        <p:nvSpPr>
          <p:cNvPr id="16" name="Shape 13"/>
          <p:cNvSpPr/>
          <p:nvPr/>
        </p:nvSpPr>
        <p:spPr>
          <a:xfrm>
            <a:off x="6080760" y="2788920"/>
            <a:ext cx="3246120" cy="0"/>
          </a:xfrm>
          <a:prstGeom prst="line">
            <a:avLst/>
          </a:prstGeom>
          <a:noFill/>
          <a:ln w="25400">
            <a:solidFill>
              <a:srgbClr val="F59E0B"/>
            </a:solidFill>
            <a:prstDash val="solid"/>
          </a:ln>
        </p:spPr>
      </p:sp>
      <p:sp>
        <p:nvSpPr>
          <p:cNvPr id="17" name="Shape 14"/>
          <p:cNvSpPr/>
          <p:nvPr/>
        </p:nvSpPr>
        <p:spPr>
          <a:xfrm>
            <a:off x="9326880" y="2788920"/>
            <a:ext cx="0" cy="777240"/>
          </a:xfrm>
          <a:prstGeom prst="line">
            <a:avLst/>
          </a:prstGeom>
          <a:noFill/>
          <a:ln w="28575">
            <a:solidFill>
              <a:srgbClr val="F59E0B"/>
            </a:solidFill>
            <a:prstDash val="solid"/>
            <a:tailEnd type="triangle"/>
          </a:ln>
        </p:spPr>
      </p:sp>
      <p:sp>
        <p:nvSpPr>
          <p:cNvPr id="18" name="Shape 15"/>
          <p:cNvSpPr/>
          <p:nvPr/>
        </p:nvSpPr>
        <p:spPr>
          <a:xfrm>
            <a:off x="8046720" y="3611880"/>
            <a:ext cx="2560320" cy="868680"/>
          </a:xfrm>
          <a:prstGeom prst="roundRect">
            <a:avLst>
              <a:gd name="adj" fmla="val 9474"/>
            </a:avLst>
          </a:prstGeom>
          <a:solidFill>
            <a:srgbClr val="F0FDFA"/>
          </a:solidFill>
          <a:ln/>
          <a:effectLst>
            <a:outerShdw sx="100000" sy="100000" kx="0" ky="0" algn="bl" rotWithShape="0" blurRad="88900" dist="38100" dir="5400000">
              <a:srgbClr val="0F2A33">
                <a:alpha val="16000"/>
              </a:srgbClr>
            </a:outerShdw>
          </a:effectLst>
        </p:spPr>
      </p:sp>
      <p:sp>
        <p:nvSpPr>
          <p:cNvPr id="19" name="Text 16"/>
          <p:cNvSpPr/>
          <p:nvPr/>
        </p:nvSpPr>
        <p:spPr>
          <a:xfrm>
            <a:off x="8046720" y="3611880"/>
            <a:ext cx="2560320" cy="868680"/>
          </a:xfrm>
          <a:prstGeom prst="rect">
            <a:avLst/>
          </a:prstGeom>
          <a:noFill/>
          <a:ln/>
        </p:spPr>
        <p:txBody>
          <a:bodyPr wrap="square" lIns="0" tIns="0" rIns="0" bIns="0" rtlCol="0" anchor="ctr"/>
          <a:lstStyle/>
          <a:p>
            <a:pPr algn="ctr" indent="0" marL="0">
              <a:buNone/>
            </a:pPr>
            <a:r>
              <a:rPr lang="en-US" sz="1500" b="1" dirty="0">
                <a:solidFill>
                  <a:srgbClr val="1E293B"/>
                </a:solidFill>
                <a:latin typeface="Arial" pitchFamily="34" charset="0"/>
                <a:ea typeface="Arial" pitchFamily="34" charset="-122"/>
                <a:cs typeface="Arial" pitchFamily="34" charset="-120"/>
              </a:rPr>
              <a:t>Checker</a:t>
            </a:r>
            <a:endParaRPr lang="en-US" sz="1500" dirty="0"/>
          </a:p>
        </p:txBody>
      </p:sp>
      <p:sp>
        <p:nvSpPr>
          <p:cNvPr id="20" name="Text 17"/>
          <p:cNvSpPr/>
          <p:nvPr/>
        </p:nvSpPr>
        <p:spPr>
          <a:xfrm>
            <a:off x="640080" y="4800600"/>
            <a:ext cx="10881360" cy="822960"/>
          </a:xfrm>
          <a:prstGeom prst="rect">
            <a:avLst/>
          </a:prstGeom>
          <a:noFill/>
          <a:ln/>
        </p:spPr>
        <p:txBody>
          <a:bodyPr wrap="square" lIns="0" tIns="0" rIns="0" bIns="0" rtlCol="0" anchor="ctr"/>
          <a:lstStyle/>
          <a:p>
            <a:pPr indent="0" marL="0">
              <a:buNone/>
            </a:pPr>
            <a:r>
              <a:rPr lang="en-US" sz="1450" b="1" dirty="0">
                <a:solidFill>
                  <a:srgbClr val="1E293B"/>
                </a:solidFill>
                <a:latin typeface="Arial" pitchFamily="34" charset="0"/>
                <a:ea typeface="Arial" pitchFamily="34" charset="-122"/>
                <a:cs typeface="Arial" pitchFamily="34" charset="-120"/>
              </a:rPr>
              <a:t>The orchestrator owns the goal. </a:t>
            </a:r>
            <a:pPr indent="0" marL="0">
              <a:buNone/>
            </a:pPr>
            <a:r>
              <a:rPr lang="en-US" sz="1450" dirty="0">
                <a:solidFill>
                  <a:srgbClr val="64748B"/>
                </a:solidFill>
                <a:latin typeface="Arial" pitchFamily="34" charset="0"/>
                <a:ea typeface="Arial" pitchFamily="34" charset="-122"/>
                <a:cs typeface="Arial" pitchFamily="34" charset="-120"/>
              </a:rPr>
              <a:t>It decides which worker to call, passes them a focused subtask, collects the results, and assembles the final answer. Each worker is just an agent with one job.</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HOW AGENTS COMMUNICATE</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Two simple mechanisms</a:t>
            </a:r>
            <a:endParaRPr lang="en-US" sz="3000" dirty="0"/>
          </a:p>
        </p:txBody>
      </p:sp>
      <p:sp>
        <p:nvSpPr>
          <p:cNvPr id="4" name="Shape 2"/>
          <p:cNvSpPr/>
          <p:nvPr/>
        </p:nvSpPr>
        <p:spPr>
          <a:xfrm>
            <a:off x="640080" y="1828800"/>
            <a:ext cx="10881360" cy="1280160"/>
          </a:xfrm>
          <a:prstGeom prst="roundRect">
            <a:avLst>
              <a:gd name="adj" fmla="val 6429"/>
            </a:avLst>
          </a:prstGeom>
          <a:solidFill>
            <a:srgbClr val="F1F5F9"/>
          </a:solidFill>
          <a:ln/>
          <a:effectLst>
            <a:outerShdw sx="100000" sy="100000" kx="0" ky="0" algn="bl" rotWithShape="0" blurRad="88900" dist="38100" dir="5400000">
              <a:srgbClr val="0F2A33">
                <a:alpha val="16000"/>
              </a:srgbClr>
            </a:outerShdw>
          </a:effectLst>
        </p:spPr>
      </p:sp>
      <p:sp>
        <p:nvSpPr>
          <p:cNvPr id="5" name="Shape 3"/>
          <p:cNvSpPr/>
          <p:nvPr/>
        </p:nvSpPr>
        <p:spPr>
          <a:xfrm>
            <a:off x="914400" y="2194560"/>
            <a:ext cx="566928" cy="566928"/>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061801" y="2341961"/>
            <a:ext cx="272125" cy="272125"/>
          </a:xfrm>
          <a:prstGeom prst="rect">
            <a:avLst/>
          </a:prstGeom>
        </p:spPr>
      </p:pic>
      <p:sp>
        <p:nvSpPr>
          <p:cNvPr id="7" name="Text 4"/>
          <p:cNvSpPr/>
          <p:nvPr/>
        </p:nvSpPr>
        <p:spPr>
          <a:xfrm>
            <a:off x="1783080" y="2011680"/>
            <a:ext cx="3657600" cy="457200"/>
          </a:xfrm>
          <a:prstGeom prst="rect">
            <a:avLst/>
          </a:prstGeom>
          <a:noFill/>
          <a:ln/>
        </p:spPr>
        <p:txBody>
          <a:bodyPr wrap="square" lIns="0" tIns="0" rIns="0" bIns="0" rtlCol="0" anchor="ctr"/>
          <a:lstStyle/>
          <a:p>
            <a:pPr indent="0" marL="0">
              <a:buNone/>
            </a:pPr>
            <a:r>
              <a:rPr lang="en-US" sz="1800" b="1" dirty="0">
                <a:solidFill>
                  <a:srgbClr val="1E293B"/>
                </a:solidFill>
                <a:latin typeface="Arial" pitchFamily="34" charset="0"/>
                <a:ea typeface="Arial" pitchFamily="34" charset="-122"/>
                <a:cs typeface="Arial" pitchFamily="34" charset="-120"/>
              </a:rPr>
              <a:t>Hand off the text</a:t>
            </a:r>
            <a:endParaRPr lang="en-US" sz="1800" dirty="0"/>
          </a:p>
        </p:txBody>
      </p:sp>
      <p:sp>
        <p:nvSpPr>
          <p:cNvPr id="8" name="Text 5"/>
          <p:cNvSpPr/>
          <p:nvPr/>
        </p:nvSpPr>
        <p:spPr>
          <a:xfrm>
            <a:off x="1783080" y="2487168"/>
            <a:ext cx="9418320" cy="54864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The simplest way: one agent's output string is passed as the next agent's input. No magic.</a:t>
            </a:r>
            <a:endParaRPr lang="en-US" sz="1400" dirty="0"/>
          </a:p>
        </p:txBody>
      </p:sp>
      <p:sp>
        <p:nvSpPr>
          <p:cNvPr id="9" name="Shape 6"/>
          <p:cNvSpPr/>
          <p:nvPr/>
        </p:nvSpPr>
        <p:spPr>
          <a:xfrm>
            <a:off x="640080" y="3291840"/>
            <a:ext cx="10881360" cy="1280160"/>
          </a:xfrm>
          <a:prstGeom prst="roundRect">
            <a:avLst>
              <a:gd name="adj" fmla="val 6429"/>
            </a:avLst>
          </a:prstGeom>
          <a:solidFill>
            <a:srgbClr val="0F2A33"/>
          </a:solidFill>
          <a:ln/>
          <a:effectLst>
            <a:outerShdw sx="100000" sy="100000" kx="0" ky="0" algn="bl" rotWithShape="0" blurRad="88900" dist="38100" dir="5400000">
              <a:srgbClr val="0F2A33">
                <a:alpha val="16000"/>
              </a:srgbClr>
            </a:outerShdw>
          </a:effectLst>
        </p:spPr>
      </p:sp>
      <p:sp>
        <p:nvSpPr>
          <p:cNvPr id="10" name="Shape 7"/>
          <p:cNvSpPr/>
          <p:nvPr/>
        </p:nvSpPr>
        <p:spPr>
          <a:xfrm>
            <a:off x="914400" y="3657600"/>
            <a:ext cx="566928" cy="566928"/>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1061801" y="3805001"/>
            <a:ext cx="272125" cy="272125"/>
          </a:xfrm>
          <a:prstGeom prst="rect">
            <a:avLst/>
          </a:prstGeom>
        </p:spPr>
      </p:pic>
      <p:sp>
        <p:nvSpPr>
          <p:cNvPr id="12" name="Text 8"/>
          <p:cNvSpPr/>
          <p:nvPr/>
        </p:nvSpPr>
        <p:spPr>
          <a:xfrm>
            <a:off x="1783080" y="3474720"/>
            <a:ext cx="3657600" cy="457200"/>
          </a:xfrm>
          <a:prstGeom prst="rect">
            <a:avLst/>
          </a:prstGeom>
          <a:noFill/>
          <a:ln/>
        </p:spPr>
        <p:txBody>
          <a:bodyPr wrap="square" lIns="0" tIns="0" rIns="0" bIns="0" rtlCol="0" anchor="ctr"/>
          <a:lstStyle/>
          <a:p>
            <a:pPr indent="0" marL="0">
              <a:buNone/>
            </a:pPr>
            <a:r>
              <a:rPr lang="en-US" sz="1800" b="1" dirty="0">
                <a:solidFill>
                  <a:srgbClr val="5EEAD4"/>
                </a:solidFill>
                <a:latin typeface="Arial" pitchFamily="34" charset="0"/>
                <a:ea typeface="Arial" pitchFamily="34" charset="-122"/>
                <a:cs typeface="Arial" pitchFamily="34" charset="-120"/>
              </a:rPr>
              <a:t>Agents as tools</a:t>
            </a:r>
            <a:endParaRPr lang="en-US" sz="1800" dirty="0"/>
          </a:p>
        </p:txBody>
      </p:sp>
      <p:sp>
        <p:nvSpPr>
          <p:cNvPr id="13" name="Text 9"/>
          <p:cNvSpPr/>
          <p:nvPr/>
        </p:nvSpPr>
        <p:spPr>
          <a:xfrm>
            <a:off x="1783080" y="3950208"/>
            <a:ext cx="9418320" cy="54864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Wrap an agent as a tool the orchestrator can call, so the model itself decides when to delegate.</a:t>
            </a:r>
            <a:endParaRPr lang="en-US" sz="1400" dirty="0"/>
          </a:p>
        </p:txBody>
      </p:sp>
      <p:sp>
        <p:nvSpPr>
          <p:cNvPr id="14" name="Text 10"/>
          <p:cNvSpPr/>
          <p:nvPr/>
        </p:nvSpPr>
        <p:spPr>
          <a:xfrm>
            <a:off x="640080" y="4937760"/>
            <a:ext cx="10881360" cy="457200"/>
          </a:xfrm>
          <a:prstGeom prst="rect">
            <a:avLst/>
          </a:prstGeom>
          <a:noFill/>
          <a:ln/>
        </p:spPr>
        <p:txBody>
          <a:bodyPr wrap="square" rtlCol="0" anchor="ctr"/>
          <a:lstStyle/>
          <a:p>
            <a:pPr indent="0" marL="0">
              <a:buNone/>
            </a:pPr>
            <a:r>
              <a:rPr lang="en-US" sz="1400" i="1" dirty="0">
                <a:solidFill>
                  <a:srgbClr val="0D9488"/>
                </a:solidFill>
                <a:latin typeface="Arial" pitchFamily="34" charset="0"/>
                <a:ea typeface="Arial" pitchFamily="34" charset="-122"/>
                <a:cs typeface="Arial" pitchFamily="34" charset="-120"/>
              </a:rPr>
              <a:t>Start with handing off text. It is just function calls passing strings, and it covers most cases.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MULTI-AGENT  -  CODE</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An orchestrator sequencing two specialists</a:t>
            </a:r>
            <a:endParaRPr lang="en-US" sz="3000" dirty="0"/>
          </a:p>
        </p:txBody>
      </p:sp>
      <p:sp>
        <p:nvSpPr>
          <p:cNvPr id="4" name="Shape 2"/>
          <p:cNvSpPr/>
          <p:nvPr/>
        </p:nvSpPr>
        <p:spPr>
          <a:xfrm>
            <a:off x="640080" y="1737360"/>
            <a:ext cx="7680960" cy="4114800"/>
          </a:xfrm>
          <a:prstGeom prst="roundRect">
            <a:avLst>
              <a:gd name="adj" fmla="val 1333"/>
            </a:avLst>
          </a:prstGeom>
          <a:solidFill>
            <a:srgbClr val="0B2229"/>
          </a:solidFill>
          <a:ln/>
          <a:effectLst>
            <a:outerShdw sx="100000" sy="100000" kx="0" ky="0" algn="bl" rotWithShape="0" blurRad="88900" dist="38100" dir="5400000">
              <a:srgbClr val="0F2A33">
                <a:alpha val="16000"/>
              </a:srgbClr>
            </a:outerShdw>
          </a:effectLst>
        </p:spPr>
      </p:sp>
      <p:sp>
        <p:nvSpPr>
          <p:cNvPr id="5" name="Text 3"/>
          <p:cNvSpPr/>
          <p:nvPr/>
        </p:nvSpPr>
        <p:spPr>
          <a:xfrm>
            <a:off x="841248" y="1883664"/>
            <a:ext cx="7278624" cy="3822192"/>
          </a:xfrm>
          <a:prstGeom prst="rect">
            <a:avLst/>
          </a:prstGeom>
          <a:noFill/>
          <a:ln/>
        </p:spPr>
        <p:txBody>
          <a:bodyPr wrap="square" lIns="0" tIns="0" rIns="0" bIns="0" rtlCol="0" anchor="t"/>
          <a:lstStyle/>
          <a:p>
            <a:pPr indent="0" marL="0">
              <a:lnSpc>
                <a:spcPct val="106000"/>
              </a:lnSpc>
              <a:buNone/>
            </a:pPr>
            <a:r>
              <a:rPr lang="en-US" sz="1200" dirty="0">
                <a:solidFill>
                  <a:srgbClr val="7DD3C8"/>
                </a:solidFill>
                <a:latin typeface="Courier New" pitchFamily="34" charset="0"/>
                <a:ea typeface="Courier New" pitchFamily="34" charset="-122"/>
                <a:cs typeface="Courier New" pitchFamily="34" charset="-120"/>
              </a:rPr>
              <a:t># each agent is just a focused function with its own prompt</a:t>
            </a:r>
            <a:endParaRPr lang="en-US" sz="1200" dirty="0"/>
          </a:p>
          <a:p>
            <a:pPr indent="0" marL="0">
              <a:lnSpc>
                <a:spcPct val="106000"/>
              </a:lnSpc>
              <a:buNone/>
            </a:pPr>
            <a:r>
              <a:rPr lang="en-US" sz="1200" dirty="0">
                <a:solidFill>
                  <a:srgbClr val="5EEAD4"/>
                </a:solidFill>
                <a:latin typeface="Courier New" pitchFamily="34" charset="0"/>
                <a:ea typeface="Courier New" pitchFamily="34" charset="-122"/>
                <a:cs typeface="Courier New" pitchFamily="34" charset="-120"/>
              </a:rPr>
              <a:t>def </a:t>
            </a:r>
            <a:pPr indent="0" marL="0">
              <a:lnSpc>
                <a:spcPct val="106000"/>
              </a:lnSpc>
              <a:buNone/>
            </a:pPr>
            <a:r>
              <a:rPr lang="en-US" sz="1200" dirty="0">
                <a:solidFill>
                  <a:srgbClr val="FCD34D"/>
                </a:solidFill>
                <a:latin typeface="Courier New" pitchFamily="34" charset="0"/>
                <a:ea typeface="Courier New" pitchFamily="34" charset="-122"/>
                <a:cs typeface="Courier New" pitchFamily="34" charset="-120"/>
              </a:rPr>
              <a:t>researcher</a:t>
            </a:r>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(topic):</a:t>
            </a:r>
            <a:endParaRPr lang="en-US" sz="1200" dirty="0"/>
          </a:p>
          <a:p>
            <a:pPr indent="0" marL="0">
              <a:lnSpc>
                <a:spcPct val="106000"/>
              </a:lnSpc>
              <a:buNone/>
            </a:pPr>
            <a:r>
              <a:rPr lang="en-US" sz="1200" dirty="0">
                <a:solidFill>
                  <a:srgbClr val="5EEAD4"/>
                </a:solidFill>
                <a:latin typeface="Courier New" pitchFamily="34" charset="0"/>
                <a:ea typeface="Courier New" pitchFamily="34" charset="-122"/>
                <a:cs typeface="Courier New" pitchFamily="34" charset="-120"/>
              </a:rPr>
              <a:t>    return </a:t>
            </a:r>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ask(</a:t>
            </a:r>
            <a:pPr indent="0" marL="0">
              <a:lnSpc>
                <a:spcPct val="106000"/>
              </a:lnSpc>
              <a:buNone/>
            </a:pPr>
            <a:r>
              <a:rPr lang="en-US" sz="1200" dirty="0">
                <a:solidFill>
                  <a:srgbClr val="FCD34D"/>
                </a:solidFill>
                <a:latin typeface="Courier New" pitchFamily="34" charset="0"/>
                <a:ea typeface="Courier New" pitchFamily="34" charset="-122"/>
                <a:cs typeface="Courier New" pitchFamily="34" charset="-120"/>
              </a:rPr>
              <a:t>f"List 3 key facts about {topic}."</a:t>
            </a:r>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 </a:t>
            </a:r>
            <a:endParaRPr lang="en-US" sz="1200" dirty="0"/>
          </a:p>
          <a:p>
            <a:pPr indent="0" marL="0">
              <a:lnSpc>
                <a:spcPct val="106000"/>
              </a:lnSpc>
              <a:buNone/>
            </a:pPr>
            <a:r>
              <a:rPr lang="en-US" sz="1200" dirty="0">
                <a:solidFill>
                  <a:srgbClr val="5EEAD4"/>
                </a:solidFill>
                <a:latin typeface="Courier New" pitchFamily="34" charset="0"/>
                <a:ea typeface="Courier New" pitchFamily="34" charset="-122"/>
                <a:cs typeface="Courier New" pitchFamily="34" charset="-120"/>
              </a:rPr>
              <a:t>def </a:t>
            </a:r>
            <a:pPr indent="0" marL="0">
              <a:lnSpc>
                <a:spcPct val="106000"/>
              </a:lnSpc>
              <a:buNone/>
            </a:pPr>
            <a:r>
              <a:rPr lang="en-US" sz="1200" dirty="0">
                <a:solidFill>
                  <a:srgbClr val="FCD34D"/>
                </a:solidFill>
                <a:latin typeface="Courier New" pitchFamily="34" charset="0"/>
                <a:ea typeface="Courier New" pitchFamily="34" charset="-122"/>
                <a:cs typeface="Courier New" pitchFamily="34" charset="-120"/>
              </a:rPr>
              <a:t>writer</a:t>
            </a:r>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(facts):</a:t>
            </a:r>
            <a:endParaRPr lang="en-US" sz="1200" dirty="0"/>
          </a:p>
          <a:p>
            <a:pPr indent="0" marL="0">
              <a:lnSpc>
                <a:spcPct val="106000"/>
              </a:lnSpc>
              <a:buNone/>
            </a:pPr>
            <a:r>
              <a:rPr lang="en-US" sz="1200" dirty="0">
                <a:solidFill>
                  <a:srgbClr val="5EEAD4"/>
                </a:solidFill>
                <a:latin typeface="Courier New" pitchFamily="34" charset="0"/>
                <a:ea typeface="Courier New" pitchFamily="34" charset="-122"/>
                <a:cs typeface="Courier New" pitchFamily="34" charset="-120"/>
              </a:rPr>
              <a:t>    return </a:t>
            </a:r>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ask(</a:t>
            </a:r>
            <a:pPr indent="0" marL="0">
              <a:lnSpc>
                <a:spcPct val="106000"/>
              </a:lnSpc>
              <a:buNone/>
            </a:pPr>
            <a:r>
              <a:rPr lang="en-US" sz="1200" dirty="0">
                <a:solidFill>
                  <a:srgbClr val="FCD34D"/>
                </a:solidFill>
                <a:latin typeface="Courier New" pitchFamily="34" charset="0"/>
                <a:ea typeface="Courier New" pitchFamily="34" charset="-122"/>
                <a:cs typeface="Courier New" pitchFamily="34" charset="-120"/>
              </a:rPr>
              <a:t>f"Write a short paragraph from:\n{facts}"</a:t>
            </a:r>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 </a:t>
            </a:r>
            <a:endParaRPr lang="en-US" sz="1200" dirty="0"/>
          </a:p>
          <a:p>
            <a:pPr indent="0" marL="0">
              <a:lnSpc>
                <a:spcPct val="106000"/>
              </a:lnSpc>
              <a:buNone/>
            </a:pPr>
            <a:r>
              <a:rPr lang="en-US" sz="1200" dirty="0">
                <a:solidFill>
                  <a:srgbClr val="5EEAD4"/>
                </a:solidFill>
                <a:latin typeface="Courier New" pitchFamily="34" charset="0"/>
                <a:ea typeface="Courier New" pitchFamily="34" charset="-122"/>
                <a:cs typeface="Courier New" pitchFamily="34" charset="-120"/>
              </a:rPr>
              <a:t>def </a:t>
            </a:r>
            <a:pPr indent="0" marL="0">
              <a:lnSpc>
                <a:spcPct val="106000"/>
              </a:lnSpc>
              <a:buNone/>
            </a:pPr>
            <a:r>
              <a:rPr lang="en-US" sz="1200" dirty="0">
                <a:solidFill>
                  <a:srgbClr val="FCD34D"/>
                </a:solidFill>
                <a:latin typeface="Courier New" pitchFamily="34" charset="0"/>
                <a:ea typeface="Courier New" pitchFamily="34" charset="-122"/>
                <a:cs typeface="Courier New" pitchFamily="34" charset="-120"/>
              </a:rPr>
              <a:t>checker</a:t>
            </a:r>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(text):</a:t>
            </a:r>
            <a:endParaRPr lang="en-US" sz="1200" dirty="0"/>
          </a:p>
          <a:p>
            <a:pPr indent="0" marL="0">
              <a:lnSpc>
                <a:spcPct val="106000"/>
              </a:lnSpc>
              <a:buNone/>
            </a:pPr>
            <a:r>
              <a:rPr lang="en-US" sz="1200" dirty="0">
                <a:solidFill>
                  <a:srgbClr val="5EEAD4"/>
                </a:solidFill>
                <a:latin typeface="Courier New" pitchFamily="34" charset="0"/>
                <a:ea typeface="Courier New" pitchFamily="34" charset="-122"/>
                <a:cs typeface="Courier New" pitchFamily="34" charset="-120"/>
              </a:rPr>
              <a:t>    return </a:t>
            </a:r>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ask(</a:t>
            </a:r>
            <a:pPr indent="0" marL="0">
              <a:lnSpc>
                <a:spcPct val="106000"/>
              </a:lnSpc>
              <a:buNone/>
            </a:pPr>
            <a:r>
              <a:rPr lang="en-US" sz="1200" dirty="0">
                <a:solidFill>
                  <a:srgbClr val="FCD34D"/>
                </a:solidFill>
                <a:latin typeface="Courier New" pitchFamily="34" charset="0"/>
                <a:ea typeface="Courier New" pitchFamily="34" charset="-122"/>
                <a:cs typeface="Courier New" pitchFamily="34" charset="-120"/>
              </a:rPr>
              <a:t>f"Fix any errors, return the text:\n{text}"</a:t>
            </a:r>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 </a:t>
            </a:r>
            <a:endParaRPr lang="en-US" sz="1200" dirty="0"/>
          </a:p>
          <a:p>
            <a:pPr indent="0" marL="0">
              <a:lnSpc>
                <a:spcPct val="106000"/>
              </a:lnSpc>
              <a:buNone/>
            </a:pPr>
            <a:r>
              <a:rPr lang="en-US" sz="1200" dirty="0">
                <a:solidFill>
                  <a:srgbClr val="7DD3C8"/>
                </a:solidFill>
                <a:latin typeface="Courier New" pitchFamily="34" charset="0"/>
                <a:ea typeface="Courier New" pitchFamily="34" charset="-122"/>
                <a:cs typeface="Courier New" pitchFamily="34" charset="-120"/>
              </a:rPr>
              <a:t># the orchestrator owns the goal and the order</a:t>
            </a:r>
            <a:endParaRPr lang="en-US" sz="1200" dirty="0"/>
          </a:p>
          <a:p>
            <a:pPr indent="0" marL="0">
              <a:lnSpc>
                <a:spcPct val="106000"/>
              </a:lnSpc>
              <a:buNone/>
            </a:pPr>
            <a:r>
              <a:rPr lang="en-US" sz="1200" dirty="0">
                <a:solidFill>
                  <a:srgbClr val="5EEAD4"/>
                </a:solidFill>
                <a:latin typeface="Courier New" pitchFamily="34" charset="0"/>
                <a:ea typeface="Courier New" pitchFamily="34" charset="-122"/>
                <a:cs typeface="Courier New" pitchFamily="34" charset="-120"/>
              </a:rPr>
              <a:t>def </a:t>
            </a:r>
            <a:pPr indent="0" marL="0">
              <a:lnSpc>
                <a:spcPct val="106000"/>
              </a:lnSpc>
              <a:buNone/>
            </a:pPr>
            <a:r>
              <a:rPr lang="en-US" sz="1200" dirty="0">
                <a:solidFill>
                  <a:srgbClr val="FCD34D"/>
                </a:solidFill>
                <a:latin typeface="Courier New" pitchFamily="34" charset="0"/>
                <a:ea typeface="Courier New" pitchFamily="34" charset="-122"/>
                <a:cs typeface="Courier New" pitchFamily="34" charset="-120"/>
              </a:rPr>
              <a:t>orchestrator</a:t>
            </a:r>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(topic):</a:t>
            </a:r>
            <a:endParaRPr lang="en-US" sz="1200" dirty="0"/>
          </a:p>
          <a:p>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    facts = researcher(topic)</a:t>
            </a:r>
            <a:endParaRPr lang="en-US" sz="1200" dirty="0"/>
          </a:p>
          <a:p>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    draft = writer(facts)</a:t>
            </a:r>
            <a:endParaRPr lang="en-US" sz="1200" dirty="0"/>
          </a:p>
          <a:p>
            <a:pPr indent="0" marL="0">
              <a:lnSpc>
                <a:spcPct val="106000"/>
              </a:lnSpc>
              <a:buNone/>
            </a:pPr>
            <a:r>
              <a:rPr lang="en-US" sz="1200" dirty="0">
                <a:solidFill>
                  <a:srgbClr val="5EEAD4"/>
                </a:solidFill>
                <a:latin typeface="Courier New" pitchFamily="34" charset="0"/>
                <a:ea typeface="Courier New" pitchFamily="34" charset="-122"/>
                <a:cs typeface="Courier New" pitchFamily="34" charset="-120"/>
              </a:rPr>
              <a:t>    return </a:t>
            </a:r>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checker(draft)</a:t>
            </a:r>
            <a:endParaRPr lang="en-US" sz="1200" dirty="0"/>
          </a:p>
        </p:txBody>
      </p:sp>
      <p:sp>
        <p:nvSpPr>
          <p:cNvPr id="6" name="Shape 4"/>
          <p:cNvSpPr/>
          <p:nvPr/>
        </p:nvSpPr>
        <p:spPr>
          <a:xfrm>
            <a:off x="8503920" y="1737360"/>
            <a:ext cx="3017520" cy="4114800"/>
          </a:xfrm>
          <a:prstGeom prst="roundRect">
            <a:avLst>
              <a:gd name="adj" fmla="val 2727"/>
            </a:avLst>
          </a:prstGeom>
          <a:solidFill>
            <a:srgbClr val="F0FDFA"/>
          </a:solidFill>
          <a:ln/>
          <a:effectLst>
            <a:outerShdw sx="100000" sy="100000" kx="0" ky="0" algn="bl" rotWithShape="0" blurRad="88900" dist="38100" dir="5400000">
              <a:srgbClr val="0F2A33">
                <a:alpha val="16000"/>
              </a:srgbClr>
            </a:outerShdw>
          </a:effectLst>
        </p:spPr>
      </p:sp>
      <p:sp>
        <p:nvSpPr>
          <p:cNvPr id="7" name="Text 5"/>
          <p:cNvSpPr/>
          <p:nvPr/>
        </p:nvSpPr>
        <p:spPr>
          <a:xfrm>
            <a:off x="8686800" y="1920240"/>
            <a:ext cx="2743200" cy="365760"/>
          </a:xfrm>
          <a:prstGeom prst="rect">
            <a:avLst/>
          </a:prstGeom>
          <a:noFill/>
          <a:ln/>
        </p:spPr>
        <p:txBody>
          <a:bodyPr wrap="square" lIns="0" tIns="0" rIns="0" bIns="0" rtlCol="0" anchor="ctr"/>
          <a:lstStyle/>
          <a:p>
            <a:pPr indent="0" marL="0">
              <a:buNone/>
            </a:pPr>
            <a:r>
              <a:rPr lang="en-US" sz="1600" b="1" dirty="0">
                <a:solidFill>
                  <a:srgbClr val="0D9488"/>
                </a:solidFill>
                <a:latin typeface="Arial" pitchFamily="34" charset="0"/>
                <a:ea typeface="Arial" pitchFamily="34" charset="-122"/>
                <a:cs typeface="Arial" pitchFamily="34" charset="-120"/>
              </a:rPr>
              <a:t>Notice</a:t>
            </a:r>
            <a:endParaRPr lang="en-US" sz="1600" dirty="0"/>
          </a:p>
        </p:txBody>
      </p:sp>
      <p:sp>
        <p:nvSpPr>
          <p:cNvPr id="8" name="Text 6"/>
          <p:cNvSpPr/>
          <p:nvPr/>
        </p:nvSpPr>
        <p:spPr>
          <a:xfrm>
            <a:off x="8732520" y="2331720"/>
            <a:ext cx="2697480" cy="3474720"/>
          </a:xfrm>
          <a:prstGeom prst="rect">
            <a:avLst/>
          </a:prstGeom>
          <a:noFill/>
          <a:ln/>
        </p:spPr>
        <p:txBody>
          <a:bodyPr wrap="square" lIns="0" tIns="0" rIns="0" bIns="0" rtlCol="0" anchor="ctr"/>
          <a:lstStyle/>
          <a:p>
            <a:pPr marL="342900" indent="-342900">
              <a:spcAft>
                <a:spcPts val="1100"/>
              </a:spcAft>
              <a:buSzPct val="100000"/>
              <a:buChar char="•"/>
            </a:pPr>
            <a:r>
              <a:rPr lang="en-US" sz="1250" dirty="0">
                <a:solidFill>
                  <a:srgbClr val="1E293B"/>
                </a:solidFill>
                <a:latin typeface="Arial" pitchFamily="34" charset="0"/>
                <a:ea typeface="Arial" pitchFamily="34" charset="-122"/>
                <a:cs typeface="Arial" pitchFamily="34" charset="-120"/>
              </a:rPr>
              <a:t>Three agents, three focused prompts.</a:t>
            </a:r>
            <a:endParaRPr lang="en-US" sz="1250" dirty="0"/>
          </a:p>
          <a:p>
            <a:pPr marL="342900" indent="-342900">
              <a:spcAft>
                <a:spcPts val="1100"/>
              </a:spcAft>
              <a:buSzPct val="100000"/>
              <a:buChar char="•"/>
            </a:pPr>
            <a:r>
              <a:rPr lang="en-US" sz="1250" dirty="0">
                <a:solidFill>
                  <a:srgbClr val="1E293B"/>
                </a:solidFill>
                <a:latin typeface="Arial" pitchFamily="34" charset="0"/>
                <a:ea typeface="Arial" pitchFamily="34" charset="-122"/>
                <a:cs typeface="Arial" pitchFamily="34" charset="-120"/>
              </a:rPr>
              <a:t>The orchestrator just calls them in order.</a:t>
            </a:r>
            <a:endParaRPr lang="en-US" sz="1250" dirty="0"/>
          </a:p>
          <a:p>
            <a:pPr marL="342900" indent="-342900">
              <a:spcAft>
                <a:spcPts val="1100"/>
              </a:spcAft>
              <a:buSzPct val="100000"/>
              <a:buChar char="•"/>
            </a:pPr>
            <a:r>
              <a:rPr lang="en-US" sz="1250" dirty="0">
                <a:solidFill>
                  <a:srgbClr val="1E293B"/>
                </a:solidFill>
                <a:latin typeface="Arial" pitchFamily="34" charset="0"/>
                <a:ea typeface="Arial" pitchFamily="34" charset="-122"/>
                <a:cs typeface="Arial" pitchFamily="34" charset="-120"/>
              </a:rPr>
              <a:t>This is a pipeline: facts to draft to checked.</a:t>
            </a:r>
            <a:endParaRPr lang="en-US" sz="1250" dirty="0"/>
          </a:p>
          <a:p>
            <a:pPr marL="342900" indent="-342900">
              <a:spcAft>
                <a:spcPts val="1100"/>
              </a:spcAft>
              <a:buSzPct val="100000"/>
              <a:buChar char="•"/>
            </a:pPr>
            <a:r>
              <a:rPr lang="en-US" sz="1250" dirty="0">
                <a:solidFill>
                  <a:srgbClr val="1E293B"/>
                </a:solidFill>
                <a:latin typeface="Arial" pitchFamily="34" charset="0"/>
                <a:ea typeface="Arial" pitchFamily="34" charset="-122"/>
                <a:cs typeface="Arial" pitchFamily="34" charset="-120"/>
              </a:rPr>
              <a:t>No framework needed: plain functions.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MULTI-AGENT  -  TAKEAWAYS</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Power, at the cost of complexity</a:t>
            </a:r>
            <a:endParaRPr lang="en-US" sz="3000" dirty="0"/>
          </a:p>
        </p:txBody>
      </p:sp>
      <p:sp>
        <p:nvSpPr>
          <p:cNvPr id="4" name="Shape 2"/>
          <p:cNvSpPr/>
          <p:nvPr/>
        </p:nvSpPr>
        <p:spPr>
          <a:xfrm>
            <a:off x="640080" y="1828800"/>
            <a:ext cx="5349240" cy="3383280"/>
          </a:xfrm>
          <a:prstGeom prst="roundRect">
            <a:avLst>
              <a:gd name="adj" fmla="val 2432"/>
            </a:avLst>
          </a:prstGeom>
          <a:solidFill>
            <a:srgbClr val="F0FDFA"/>
          </a:solidFill>
          <a:ln/>
          <a:effectLst>
            <a:outerShdw sx="100000" sy="100000" kx="0" ky="0" algn="bl" rotWithShape="0" blurRad="88900" dist="38100" dir="5400000">
              <a:srgbClr val="0F2A33">
                <a:alpha val="16000"/>
              </a:srgbClr>
            </a:outerShdw>
          </a:effectLst>
        </p:spPr>
      </p:sp>
      <p:sp>
        <p:nvSpPr>
          <p:cNvPr id="5" name="Shape 3"/>
          <p:cNvSpPr/>
          <p:nvPr/>
        </p:nvSpPr>
        <p:spPr>
          <a:xfrm>
            <a:off x="868680" y="2057400"/>
            <a:ext cx="548640" cy="5486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011326" y="2200046"/>
            <a:ext cx="263347" cy="263347"/>
          </a:xfrm>
          <a:prstGeom prst="rect">
            <a:avLst/>
          </a:prstGeom>
        </p:spPr>
      </p:pic>
      <p:sp>
        <p:nvSpPr>
          <p:cNvPr id="7" name="Text 4"/>
          <p:cNvSpPr/>
          <p:nvPr/>
        </p:nvSpPr>
        <p:spPr>
          <a:xfrm>
            <a:off x="1554480" y="2121408"/>
            <a:ext cx="4297680" cy="411480"/>
          </a:xfrm>
          <a:prstGeom prst="rect">
            <a:avLst/>
          </a:prstGeom>
          <a:noFill/>
          <a:ln/>
        </p:spPr>
        <p:txBody>
          <a:bodyPr wrap="square" lIns="0" tIns="0" rIns="0" bIns="0" rtlCol="0" anchor="ctr"/>
          <a:lstStyle/>
          <a:p>
            <a:pPr indent="0" marL="0">
              <a:buNone/>
            </a:pPr>
            <a:r>
              <a:rPr lang="en-US" sz="1700" b="1" dirty="0">
                <a:solidFill>
                  <a:srgbClr val="0D9488"/>
                </a:solidFill>
                <a:latin typeface="Arial" pitchFamily="34" charset="0"/>
                <a:ea typeface="Arial" pitchFamily="34" charset="-122"/>
                <a:cs typeface="Arial" pitchFamily="34" charset="-120"/>
              </a:rPr>
              <a:t>Do</a:t>
            </a:r>
            <a:endParaRPr lang="en-US" sz="1700" dirty="0"/>
          </a:p>
        </p:txBody>
      </p:sp>
      <p:sp>
        <p:nvSpPr>
          <p:cNvPr id="8" name="Text 5"/>
          <p:cNvSpPr/>
          <p:nvPr/>
        </p:nvSpPr>
        <p:spPr>
          <a:xfrm>
            <a:off x="914400" y="2743200"/>
            <a:ext cx="4846320" cy="2286000"/>
          </a:xfrm>
          <a:prstGeom prst="rect">
            <a:avLst/>
          </a:prstGeom>
          <a:noFill/>
          <a:ln/>
        </p:spPr>
        <p:txBody>
          <a:bodyPr wrap="square" lIns="0" tIns="0" rIns="0" bIns="0" rtlCol="0" anchor="ctr"/>
          <a:lstStyle/>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Give each agent one clear role</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Start with text handoffs in a pipeline</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Let one orchestrator own the goal</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Test each agent in isolation first</a:t>
            </a:r>
            <a:endParaRPr lang="en-US" sz="1350" dirty="0"/>
          </a:p>
        </p:txBody>
      </p:sp>
      <p:sp>
        <p:nvSpPr>
          <p:cNvPr id="9" name="Shape 6"/>
          <p:cNvSpPr/>
          <p:nvPr/>
        </p:nvSpPr>
        <p:spPr>
          <a:xfrm>
            <a:off x="6172200" y="1828800"/>
            <a:ext cx="5349240" cy="3383280"/>
          </a:xfrm>
          <a:prstGeom prst="roundRect">
            <a:avLst>
              <a:gd name="adj" fmla="val 2432"/>
            </a:avLst>
          </a:prstGeom>
          <a:solidFill>
            <a:srgbClr val="F1F5F9"/>
          </a:solidFill>
          <a:ln/>
          <a:effectLst>
            <a:outerShdw sx="100000" sy="100000" kx="0" ky="0" algn="bl" rotWithShape="0" blurRad="88900" dist="38100" dir="5400000">
              <a:srgbClr val="0F2A33">
                <a:alpha val="16000"/>
              </a:srgbClr>
            </a:outerShdw>
          </a:effectLst>
        </p:spPr>
      </p:sp>
      <p:sp>
        <p:nvSpPr>
          <p:cNvPr id="10" name="Shape 7"/>
          <p:cNvSpPr/>
          <p:nvPr/>
        </p:nvSpPr>
        <p:spPr>
          <a:xfrm>
            <a:off x="6400800" y="2057400"/>
            <a:ext cx="548640" cy="548640"/>
          </a:xfrm>
          <a:prstGeom prst="ellipse">
            <a:avLst/>
          </a:prstGeom>
          <a:solidFill>
            <a:srgbClr val="0F2A33"/>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6543446" y="2200046"/>
            <a:ext cx="263347" cy="263347"/>
          </a:xfrm>
          <a:prstGeom prst="rect">
            <a:avLst/>
          </a:prstGeom>
        </p:spPr>
      </p:pic>
      <p:sp>
        <p:nvSpPr>
          <p:cNvPr id="12" name="Text 8"/>
          <p:cNvSpPr/>
          <p:nvPr/>
        </p:nvSpPr>
        <p:spPr>
          <a:xfrm>
            <a:off x="7086600" y="2121408"/>
            <a:ext cx="4297680" cy="411480"/>
          </a:xfrm>
          <a:prstGeom prst="rect">
            <a:avLst/>
          </a:prstGeom>
          <a:noFill/>
          <a:ln/>
        </p:spPr>
        <p:txBody>
          <a:bodyPr wrap="square" lIns="0" tIns="0" rIns="0" bIns="0" rtlCol="0" anchor="ctr"/>
          <a:lstStyle/>
          <a:p>
            <a:pPr indent="0" marL="0">
              <a:buNone/>
            </a:pPr>
            <a:r>
              <a:rPr lang="en-US" sz="1700" b="1" dirty="0">
                <a:solidFill>
                  <a:srgbClr val="1E293B"/>
                </a:solidFill>
                <a:latin typeface="Arial" pitchFamily="34" charset="0"/>
                <a:ea typeface="Arial" pitchFamily="34" charset="-122"/>
                <a:cs typeface="Arial" pitchFamily="34" charset="-120"/>
              </a:rPr>
              <a:t>Watch out for</a:t>
            </a:r>
            <a:endParaRPr lang="en-US" sz="1700" dirty="0"/>
          </a:p>
        </p:txBody>
      </p:sp>
      <p:sp>
        <p:nvSpPr>
          <p:cNvPr id="13" name="Text 9"/>
          <p:cNvSpPr/>
          <p:nvPr/>
        </p:nvSpPr>
        <p:spPr>
          <a:xfrm>
            <a:off x="6446520" y="2743200"/>
            <a:ext cx="4846320" cy="2286000"/>
          </a:xfrm>
          <a:prstGeom prst="rect">
            <a:avLst/>
          </a:prstGeom>
          <a:noFill/>
          <a:ln/>
        </p:spPr>
        <p:txBody>
          <a:bodyPr wrap="square" lIns="0" tIns="0" rIns="0" bIns="0" rtlCol="0" anchor="ctr"/>
          <a:lstStyle/>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More agents means more calls and cost</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Errors compound down a long pipeline</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Agents talking in circles with no progress</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Splitting a job that one agent could do</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A33"/>
        </a:solidFill>
      </p:bgPr>
    </p:bg>
    <p:spTree>
      <p:nvGrpSpPr>
        <p:cNvPr id="1" name=""/>
        <p:cNvGrpSpPr/>
        <p:nvPr/>
      </p:nvGrpSpPr>
      <p:grpSpPr>
        <a:xfrm>
          <a:off x="0" y="0"/>
          <a:ext cx="0" cy="0"/>
          <a:chOff x="0" y="0"/>
          <a:chExt cx="0" cy="0"/>
        </a:xfrm>
      </p:grpSpPr>
      <p:sp>
        <p:nvSpPr>
          <p:cNvPr id="2" name="Shape 0"/>
          <p:cNvSpPr/>
          <p:nvPr/>
        </p:nvSpPr>
        <p:spPr>
          <a:xfrm>
            <a:off x="9509760" y="-1463040"/>
            <a:ext cx="4572000" cy="4572000"/>
          </a:xfrm>
          <a:prstGeom prst="ellipse">
            <a:avLst/>
          </a:prstGeom>
          <a:solidFill>
            <a:srgbClr val="13343B"/>
          </a:solidFill>
          <a:ln/>
        </p:spPr>
      </p:sp>
      <p:sp>
        <p:nvSpPr>
          <p:cNvPr id="3" name="Shape 1"/>
          <p:cNvSpPr/>
          <p:nvPr/>
        </p:nvSpPr>
        <p:spPr>
          <a:xfrm>
            <a:off x="10607040" y="4206240"/>
            <a:ext cx="3840480" cy="3840480"/>
          </a:xfrm>
          <a:prstGeom prst="ellipse">
            <a:avLst/>
          </a:prstGeom>
          <a:solidFill>
            <a:srgbClr val="13343B"/>
          </a:solidFill>
          <a:ln/>
        </p:spPr>
      </p:sp>
      <p:sp>
        <p:nvSpPr>
          <p:cNvPr id="4" name="Text 2"/>
          <p:cNvSpPr/>
          <p:nvPr/>
        </p:nvSpPr>
        <p:spPr>
          <a:xfrm>
            <a:off x="822960" y="2240280"/>
            <a:ext cx="8229600" cy="365760"/>
          </a:xfrm>
          <a:prstGeom prst="rect">
            <a:avLst/>
          </a:prstGeom>
          <a:noFill/>
          <a:ln/>
        </p:spPr>
        <p:txBody>
          <a:bodyPr wrap="square" rtlCol="0" anchor="ctr"/>
          <a:lstStyle/>
          <a:p>
            <a:pPr indent="0" marL="0">
              <a:buNone/>
            </a:pPr>
            <a:r>
              <a:rPr lang="en-US" sz="1500" b="1" spc="400" kern="0" dirty="0">
                <a:solidFill>
                  <a:srgbClr val="F59E0B"/>
                </a:solidFill>
                <a:latin typeface="Arial" pitchFamily="34" charset="0"/>
                <a:ea typeface="Arial" pitchFamily="34" charset="-122"/>
                <a:cs typeface="Arial" pitchFamily="34" charset="-120"/>
              </a:rPr>
              <a:t>PART 2  -  CHAPTER 13</a:t>
            </a:r>
            <a:endParaRPr lang="en-US" sz="1500" dirty="0"/>
          </a:p>
        </p:txBody>
      </p:sp>
      <p:sp>
        <p:nvSpPr>
          <p:cNvPr id="5" name="Text 3"/>
          <p:cNvSpPr/>
          <p:nvPr/>
        </p:nvSpPr>
        <p:spPr>
          <a:xfrm>
            <a:off x="777240" y="2606040"/>
            <a:ext cx="10058400" cy="1371600"/>
          </a:xfrm>
          <a:prstGeom prst="rect">
            <a:avLst/>
          </a:prstGeom>
          <a:noFill/>
          <a:ln/>
        </p:spPr>
        <p:txBody>
          <a:bodyPr wrap="square" rtlCol="0" anchor="ctr"/>
          <a:lstStyle/>
          <a:p>
            <a:pPr indent="0" marL="0">
              <a:buNone/>
            </a:pPr>
            <a:r>
              <a:rPr lang="en-US" sz="4600" b="1" dirty="0">
                <a:solidFill>
                  <a:srgbClr val="FFFFFF"/>
                </a:solidFill>
                <a:latin typeface="Arial" pitchFamily="34" charset="0"/>
                <a:ea typeface="Arial" pitchFamily="34" charset="-122"/>
                <a:cs typeface="Arial" pitchFamily="34" charset="-120"/>
              </a:rPr>
              <a:t>Human-in-the-Loop</a:t>
            </a:r>
            <a:endParaRPr lang="en-US" sz="4600" dirty="0"/>
          </a:p>
        </p:txBody>
      </p:sp>
      <p:sp>
        <p:nvSpPr>
          <p:cNvPr id="6" name="Text 4"/>
          <p:cNvSpPr/>
          <p:nvPr/>
        </p:nvSpPr>
        <p:spPr>
          <a:xfrm>
            <a:off x="822960" y="3977640"/>
            <a:ext cx="10058400" cy="457200"/>
          </a:xfrm>
          <a:prstGeom prst="rect">
            <a:avLst/>
          </a:prstGeom>
          <a:noFill/>
          <a:ln/>
        </p:spPr>
        <p:txBody>
          <a:bodyPr wrap="square" rtlCol="0" anchor="ctr"/>
          <a:lstStyle/>
          <a:p>
            <a:pPr indent="0" marL="0">
              <a:buNone/>
            </a:pPr>
            <a:r>
              <a:rPr lang="en-US" sz="1600" i="1" dirty="0">
                <a:solidFill>
                  <a:srgbClr val="5EEAD4"/>
                </a:solidFill>
                <a:latin typeface="Arial" pitchFamily="34" charset="0"/>
                <a:ea typeface="Arial" pitchFamily="34" charset="-122"/>
                <a:cs typeface="Arial" pitchFamily="34" charset="-120"/>
              </a:rPr>
              <a:t>Keep a person in the decision for what matters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THE IDEA</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Some actions should not happen without a human</a:t>
            </a:r>
            <a:endParaRPr lang="en-US" sz="3000" dirty="0"/>
          </a:p>
        </p:txBody>
      </p:sp>
      <p:sp>
        <p:nvSpPr>
          <p:cNvPr id="4" name="Shape 2"/>
          <p:cNvSpPr/>
          <p:nvPr/>
        </p:nvSpPr>
        <p:spPr>
          <a:xfrm>
            <a:off x="640080" y="1783080"/>
            <a:ext cx="10881360" cy="1188720"/>
          </a:xfrm>
          <a:prstGeom prst="roundRect">
            <a:avLst>
              <a:gd name="adj" fmla="val 6923"/>
            </a:avLst>
          </a:prstGeom>
          <a:solidFill>
            <a:srgbClr val="0F2A33"/>
          </a:solidFill>
          <a:ln/>
          <a:effectLst>
            <a:outerShdw sx="100000" sy="100000" kx="0" ky="0" algn="bl" rotWithShape="0" blurRad="88900" dist="38100" dir="5400000">
              <a:srgbClr val="0F2A33">
                <a:alpha val="16000"/>
              </a:srgbClr>
            </a:outerShdw>
          </a:effectLst>
        </p:spPr>
      </p:sp>
      <p:sp>
        <p:nvSpPr>
          <p:cNvPr id="5" name="Shape 3"/>
          <p:cNvSpPr/>
          <p:nvPr/>
        </p:nvSpPr>
        <p:spPr>
          <a:xfrm>
            <a:off x="914400" y="1993392"/>
            <a:ext cx="777240" cy="7772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16482" y="2195474"/>
            <a:ext cx="373075" cy="373075"/>
          </a:xfrm>
          <a:prstGeom prst="rect">
            <a:avLst/>
          </a:prstGeom>
        </p:spPr>
      </p:pic>
      <p:sp>
        <p:nvSpPr>
          <p:cNvPr id="7" name="Text 4"/>
          <p:cNvSpPr/>
          <p:nvPr/>
        </p:nvSpPr>
        <p:spPr>
          <a:xfrm>
            <a:off x="1920240" y="1847088"/>
            <a:ext cx="9326880" cy="1051560"/>
          </a:xfrm>
          <a:prstGeom prst="rect">
            <a:avLst/>
          </a:prstGeom>
          <a:noFill/>
          <a:ln/>
        </p:spPr>
        <p:txBody>
          <a:bodyPr wrap="square" lIns="0" tIns="0" rIns="0" bIns="0" rtlCol="0" anchor="ctr"/>
          <a:lstStyle/>
          <a:p>
            <a:pPr indent="0" marL="0">
              <a:buNone/>
            </a:pPr>
            <a:r>
              <a:rPr lang="en-US" sz="1600" b="1" dirty="0">
                <a:solidFill>
                  <a:srgbClr val="5EEAD4"/>
                </a:solidFill>
                <a:latin typeface="Arial" pitchFamily="34" charset="0"/>
                <a:ea typeface="Arial" pitchFamily="34" charset="-122"/>
                <a:cs typeface="Arial" pitchFamily="34" charset="-120"/>
              </a:rPr>
              <a:t>Human-in-the-loop </a:t>
            </a:r>
            <a:pPr indent="0" marL="0">
              <a:buNone/>
            </a:pPr>
            <a:r>
              <a:rPr lang="en-US" sz="1600" dirty="0">
                <a:solidFill>
                  <a:srgbClr val="FFFFFF"/>
                </a:solidFill>
                <a:latin typeface="Arial" pitchFamily="34" charset="0"/>
                <a:ea typeface="Arial" pitchFamily="34" charset="-122"/>
                <a:cs typeface="Arial" pitchFamily="34" charset="-120"/>
              </a:rPr>
              <a:t>means pausing the agent at a key point and asking a person to review or approve before it continues.</a:t>
            </a:r>
            <a:endParaRPr lang="en-US" sz="1600" dirty="0"/>
          </a:p>
        </p:txBody>
      </p:sp>
      <p:sp>
        <p:nvSpPr>
          <p:cNvPr id="8" name="Shape 5"/>
          <p:cNvSpPr/>
          <p:nvPr/>
        </p:nvSpPr>
        <p:spPr>
          <a:xfrm>
            <a:off x="640080" y="3246120"/>
            <a:ext cx="3520440" cy="2240280"/>
          </a:xfrm>
          <a:prstGeom prst="roundRect">
            <a:avLst>
              <a:gd name="adj" fmla="val 3673"/>
            </a:avLst>
          </a:prstGeom>
          <a:solidFill>
            <a:srgbClr val="F0FDFA"/>
          </a:solidFill>
          <a:ln/>
          <a:effectLst>
            <a:outerShdw sx="100000" sy="100000" kx="0" ky="0" algn="bl" rotWithShape="0" blurRad="88900" dist="38100" dir="5400000">
              <a:srgbClr val="0F2A33">
                <a:alpha val="16000"/>
              </a:srgbClr>
            </a:outerShdw>
          </a:effectLst>
        </p:spPr>
      </p:sp>
      <p:sp>
        <p:nvSpPr>
          <p:cNvPr id="9" name="Shape 6"/>
          <p:cNvSpPr/>
          <p:nvPr/>
        </p:nvSpPr>
        <p:spPr>
          <a:xfrm>
            <a:off x="914400" y="3520440"/>
            <a:ext cx="731520" cy="73152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0" name="Image 1" descr="preencoded.png">    </p:cNvPr>
          <p:cNvPicPr>
            <a:picLocks noChangeAspect="1"/>
          </p:cNvPicPr>
          <p:nvPr/>
        </p:nvPicPr>
        <p:blipFill>
          <a:blip r:embed="rId2"/>
          <a:stretch>
            <a:fillRect/>
          </a:stretch>
        </p:blipFill>
        <p:spPr>
          <a:xfrm>
            <a:off x="1104595" y="3710635"/>
            <a:ext cx="351130" cy="351130"/>
          </a:xfrm>
          <a:prstGeom prst="rect">
            <a:avLst/>
          </a:prstGeom>
        </p:spPr>
      </p:pic>
      <p:sp>
        <p:nvSpPr>
          <p:cNvPr id="11" name="Text 7"/>
          <p:cNvSpPr/>
          <p:nvPr/>
        </p:nvSpPr>
        <p:spPr>
          <a:xfrm>
            <a:off x="1828800" y="3657600"/>
            <a:ext cx="2194560" cy="502920"/>
          </a:xfrm>
          <a:prstGeom prst="rect">
            <a:avLst/>
          </a:prstGeom>
          <a:noFill/>
          <a:ln/>
        </p:spPr>
        <p:txBody>
          <a:bodyPr wrap="square" lIns="0" tIns="0" rIns="0" bIns="0" rtlCol="0" anchor="ctr"/>
          <a:lstStyle/>
          <a:p>
            <a:pPr indent="0" marL="0">
              <a:buNone/>
            </a:pPr>
            <a:r>
              <a:rPr lang="en-US" sz="1550" b="1" dirty="0">
                <a:solidFill>
                  <a:srgbClr val="1E293B"/>
                </a:solidFill>
                <a:latin typeface="Arial" pitchFamily="34" charset="0"/>
                <a:ea typeface="Arial" pitchFamily="34" charset="-122"/>
                <a:cs typeface="Arial" pitchFamily="34" charset="-120"/>
              </a:rPr>
              <a:t>Irreversible actions</a:t>
            </a:r>
            <a:endParaRPr lang="en-US" sz="1550" dirty="0"/>
          </a:p>
        </p:txBody>
      </p:sp>
      <p:sp>
        <p:nvSpPr>
          <p:cNvPr id="12" name="Text 8"/>
          <p:cNvSpPr/>
          <p:nvPr/>
        </p:nvSpPr>
        <p:spPr>
          <a:xfrm>
            <a:off x="914400" y="4480560"/>
            <a:ext cx="301752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Sending an email, deleting data, making a payment</a:t>
            </a:r>
            <a:endParaRPr lang="en-US" sz="1300" dirty="0"/>
          </a:p>
        </p:txBody>
      </p:sp>
      <p:sp>
        <p:nvSpPr>
          <p:cNvPr id="13" name="Shape 9"/>
          <p:cNvSpPr/>
          <p:nvPr/>
        </p:nvSpPr>
        <p:spPr>
          <a:xfrm>
            <a:off x="4297680" y="3246120"/>
            <a:ext cx="3520440" cy="2240280"/>
          </a:xfrm>
          <a:prstGeom prst="roundRect">
            <a:avLst>
              <a:gd name="adj" fmla="val 3673"/>
            </a:avLst>
          </a:prstGeom>
          <a:solidFill>
            <a:srgbClr val="F0FDFA"/>
          </a:solidFill>
          <a:ln/>
          <a:effectLst>
            <a:outerShdw sx="100000" sy="100000" kx="0" ky="0" algn="bl" rotWithShape="0" blurRad="88900" dist="38100" dir="5400000">
              <a:srgbClr val="0F2A33">
                <a:alpha val="16000"/>
              </a:srgbClr>
            </a:outerShdw>
          </a:effectLst>
        </p:spPr>
      </p:sp>
      <p:sp>
        <p:nvSpPr>
          <p:cNvPr id="14" name="Shape 10"/>
          <p:cNvSpPr/>
          <p:nvPr/>
        </p:nvSpPr>
        <p:spPr>
          <a:xfrm>
            <a:off x="4572000" y="3520440"/>
            <a:ext cx="731520" cy="73152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5" name="Image 2" descr="preencoded.png">    </p:cNvPr>
          <p:cNvPicPr>
            <a:picLocks noChangeAspect="1"/>
          </p:cNvPicPr>
          <p:nvPr/>
        </p:nvPicPr>
        <p:blipFill>
          <a:blip r:embed="rId3"/>
          <a:stretch>
            <a:fillRect/>
          </a:stretch>
        </p:blipFill>
        <p:spPr>
          <a:xfrm>
            <a:off x="4762195" y="3710635"/>
            <a:ext cx="351130" cy="351130"/>
          </a:xfrm>
          <a:prstGeom prst="rect">
            <a:avLst/>
          </a:prstGeom>
        </p:spPr>
      </p:pic>
      <p:sp>
        <p:nvSpPr>
          <p:cNvPr id="16" name="Text 11"/>
          <p:cNvSpPr/>
          <p:nvPr/>
        </p:nvSpPr>
        <p:spPr>
          <a:xfrm>
            <a:off x="5486400" y="3657600"/>
            <a:ext cx="2194560" cy="502920"/>
          </a:xfrm>
          <a:prstGeom prst="rect">
            <a:avLst/>
          </a:prstGeom>
          <a:noFill/>
          <a:ln/>
        </p:spPr>
        <p:txBody>
          <a:bodyPr wrap="square" lIns="0" tIns="0" rIns="0" bIns="0" rtlCol="0" anchor="ctr"/>
          <a:lstStyle/>
          <a:p>
            <a:pPr indent="0" marL="0">
              <a:buNone/>
            </a:pPr>
            <a:r>
              <a:rPr lang="en-US" sz="1550" b="1" dirty="0">
                <a:solidFill>
                  <a:srgbClr val="1E293B"/>
                </a:solidFill>
                <a:latin typeface="Arial" pitchFamily="34" charset="0"/>
                <a:ea typeface="Arial" pitchFamily="34" charset="-122"/>
                <a:cs typeface="Arial" pitchFamily="34" charset="-120"/>
              </a:rPr>
              <a:t>High stakes</a:t>
            </a:r>
            <a:endParaRPr lang="en-US" sz="1550" dirty="0"/>
          </a:p>
        </p:txBody>
      </p:sp>
      <p:sp>
        <p:nvSpPr>
          <p:cNvPr id="17" name="Text 12"/>
          <p:cNvSpPr/>
          <p:nvPr/>
        </p:nvSpPr>
        <p:spPr>
          <a:xfrm>
            <a:off x="4572000" y="4480560"/>
            <a:ext cx="301752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Anything where a wrong move is costly or hard to undo</a:t>
            </a:r>
            <a:endParaRPr lang="en-US" sz="1300" dirty="0"/>
          </a:p>
        </p:txBody>
      </p:sp>
      <p:sp>
        <p:nvSpPr>
          <p:cNvPr id="18" name="Shape 13"/>
          <p:cNvSpPr/>
          <p:nvPr/>
        </p:nvSpPr>
        <p:spPr>
          <a:xfrm>
            <a:off x="7955280" y="3246120"/>
            <a:ext cx="3520440" cy="2240280"/>
          </a:xfrm>
          <a:prstGeom prst="roundRect">
            <a:avLst>
              <a:gd name="adj" fmla="val 3673"/>
            </a:avLst>
          </a:prstGeom>
          <a:solidFill>
            <a:srgbClr val="F0FDFA"/>
          </a:solidFill>
          <a:ln/>
          <a:effectLst>
            <a:outerShdw sx="100000" sy="100000" kx="0" ky="0" algn="bl" rotWithShape="0" blurRad="88900" dist="38100" dir="5400000">
              <a:srgbClr val="0F2A33">
                <a:alpha val="16000"/>
              </a:srgbClr>
            </a:outerShdw>
          </a:effectLst>
        </p:spPr>
      </p:sp>
      <p:sp>
        <p:nvSpPr>
          <p:cNvPr id="19" name="Shape 14"/>
          <p:cNvSpPr/>
          <p:nvPr/>
        </p:nvSpPr>
        <p:spPr>
          <a:xfrm>
            <a:off x="8229600" y="3520440"/>
            <a:ext cx="731520" cy="73152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20" name="Image 3" descr="preencoded.png">    </p:cNvPr>
          <p:cNvPicPr>
            <a:picLocks noChangeAspect="1"/>
          </p:cNvPicPr>
          <p:nvPr/>
        </p:nvPicPr>
        <p:blipFill>
          <a:blip r:embed="rId4"/>
          <a:stretch>
            <a:fillRect/>
          </a:stretch>
        </p:blipFill>
        <p:spPr>
          <a:xfrm>
            <a:off x="8419795" y="3710635"/>
            <a:ext cx="351130" cy="351130"/>
          </a:xfrm>
          <a:prstGeom prst="rect">
            <a:avLst/>
          </a:prstGeom>
        </p:spPr>
      </p:pic>
      <p:sp>
        <p:nvSpPr>
          <p:cNvPr id="21" name="Text 15"/>
          <p:cNvSpPr/>
          <p:nvPr/>
        </p:nvSpPr>
        <p:spPr>
          <a:xfrm>
            <a:off x="9144000" y="3657600"/>
            <a:ext cx="2194560" cy="502920"/>
          </a:xfrm>
          <a:prstGeom prst="rect">
            <a:avLst/>
          </a:prstGeom>
          <a:noFill/>
          <a:ln/>
        </p:spPr>
        <p:txBody>
          <a:bodyPr wrap="square" lIns="0" tIns="0" rIns="0" bIns="0" rtlCol="0" anchor="ctr"/>
          <a:lstStyle/>
          <a:p>
            <a:pPr indent="0" marL="0">
              <a:buNone/>
            </a:pPr>
            <a:r>
              <a:rPr lang="en-US" sz="1550" b="1" dirty="0">
                <a:solidFill>
                  <a:srgbClr val="1E293B"/>
                </a:solidFill>
                <a:latin typeface="Arial" pitchFamily="34" charset="0"/>
                <a:ea typeface="Arial" pitchFamily="34" charset="-122"/>
                <a:cs typeface="Arial" pitchFamily="34" charset="-120"/>
              </a:rPr>
              <a:t>Low confidence</a:t>
            </a:r>
            <a:endParaRPr lang="en-US" sz="1550" dirty="0"/>
          </a:p>
        </p:txBody>
      </p:sp>
      <p:sp>
        <p:nvSpPr>
          <p:cNvPr id="22" name="Text 16"/>
          <p:cNvSpPr/>
          <p:nvPr/>
        </p:nvSpPr>
        <p:spPr>
          <a:xfrm>
            <a:off x="8229600" y="4480560"/>
            <a:ext cx="301752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When the agent is unsure, ask rather than guess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WHERE TO ADD THE CHECKPOINT</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Right before the agent acts</a:t>
            </a:r>
            <a:endParaRPr lang="en-US" sz="3000" dirty="0"/>
          </a:p>
        </p:txBody>
      </p:sp>
      <p:sp>
        <p:nvSpPr>
          <p:cNvPr id="4" name="Shape 2"/>
          <p:cNvSpPr/>
          <p:nvPr/>
        </p:nvSpPr>
        <p:spPr>
          <a:xfrm>
            <a:off x="640080" y="2468880"/>
            <a:ext cx="2194560" cy="914400"/>
          </a:xfrm>
          <a:prstGeom prst="roundRect">
            <a:avLst>
              <a:gd name="adj" fmla="val 9000"/>
            </a:avLst>
          </a:prstGeom>
          <a:solidFill>
            <a:srgbClr val="F1F5F9"/>
          </a:solidFill>
          <a:ln/>
          <a:effectLst>
            <a:outerShdw sx="100000" sy="100000" kx="0" ky="0" algn="bl" rotWithShape="0" blurRad="88900" dist="38100" dir="5400000">
              <a:srgbClr val="0F2A33">
                <a:alpha val="16000"/>
              </a:srgbClr>
            </a:outerShdw>
          </a:effectLst>
        </p:spPr>
      </p:sp>
      <p:sp>
        <p:nvSpPr>
          <p:cNvPr id="5" name="Text 3"/>
          <p:cNvSpPr/>
          <p:nvPr/>
        </p:nvSpPr>
        <p:spPr>
          <a:xfrm>
            <a:off x="640080" y="2468880"/>
            <a:ext cx="2194560" cy="914400"/>
          </a:xfrm>
          <a:prstGeom prst="rect">
            <a:avLst/>
          </a:prstGeom>
          <a:noFill/>
          <a:ln/>
        </p:spPr>
        <p:txBody>
          <a:bodyPr wrap="square" lIns="0" tIns="0" rIns="0" bIns="0" rtlCol="0" anchor="ctr"/>
          <a:lstStyle/>
          <a:p>
            <a:pPr algn="ctr" indent="0" marL="0">
              <a:buNone/>
            </a:pPr>
            <a:r>
              <a:rPr lang="en-US" sz="1300" b="1" dirty="0">
                <a:solidFill>
                  <a:srgbClr val="1E293B"/>
                </a:solidFill>
                <a:latin typeface="Arial" pitchFamily="34" charset="0"/>
                <a:ea typeface="Arial" pitchFamily="34" charset="-122"/>
                <a:cs typeface="Arial" pitchFamily="34" charset="-120"/>
              </a:rPr>
              <a:t>Agent decides</a:t>
            </a:r>
            <a:endParaRPr lang="en-US" sz="1300" dirty="0"/>
          </a:p>
          <a:p>
            <a:pPr algn="ctr" indent="0" marL="0">
              <a:buNone/>
            </a:pPr>
            <a:r>
              <a:rPr lang="en-US" sz="1300" b="1" dirty="0">
                <a:solidFill>
                  <a:srgbClr val="1E293B"/>
                </a:solidFill>
                <a:latin typeface="Arial" pitchFamily="34" charset="0"/>
                <a:ea typeface="Arial" pitchFamily="34" charset="-122"/>
                <a:cs typeface="Arial" pitchFamily="34" charset="-120"/>
              </a:rPr>
              <a:t>to act</a:t>
            </a:r>
            <a:endParaRPr lang="en-US" sz="1300" dirty="0"/>
          </a:p>
        </p:txBody>
      </p:sp>
      <p:sp>
        <p:nvSpPr>
          <p:cNvPr id="6" name="Shape 4"/>
          <p:cNvSpPr/>
          <p:nvPr/>
        </p:nvSpPr>
        <p:spPr>
          <a:xfrm>
            <a:off x="2880360" y="2926080"/>
            <a:ext cx="457200" cy="0"/>
          </a:xfrm>
          <a:prstGeom prst="line">
            <a:avLst/>
          </a:prstGeom>
          <a:noFill/>
          <a:ln w="28575">
            <a:solidFill>
              <a:srgbClr val="F59E0B"/>
            </a:solidFill>
            <a:prstDash val="solid"/>
            <a:tailEnd type="triangle"/>
          </a:ln>
        </p:spPr>
      </p:sp>
      <p:sp>
        <p:nvSpPr>
          <p:cNvPr id="7" name="Shape 5"/>
          <p:cNvSpPr/>
          <p:nvPr/>
        </p:nvSpPr>
        <p:spPr>
          <a:xfrm>
            <a:off x="3429000" y="2377440"/>
            <a:ext cx="2468880" cy="1097280"/>
          </a:xfrm>
          <a:prstGeom prst="roundRect">
            <a:avLst>
              <a:gd name="adj" fmla="val 7500"/>
            </a:avLst>
          </a:prstGeom>
          <a:solidFill>
            <a:srgbClr val="0F2A33"/>
          </a:solidFill>
          <a:ln/>
          <a:effectLst>
            <a:outerShdw sx="100000" sy="100000" kx="0" ky="0" algn="bl" rotWithShape="0" blurRad="88900" dist="38100" dir="5400000">
              <a:srgbClr val="0F2A33">
                <a:alpha val="16000"/>
              </a:srgbClr>
            </a:outerShdw>
          </a:effectLst>
        </p:spPr>
      </p:sp>
      <p:sp>
        <p:nvSpPr>
          <p:cNvPr id="8" name="Shape 6"/>
          <p:cNvSpPr/>
          <p:nvPr/>
        </p:nvSpPr>
        <p:spPr>
          <a:xfrm>
            <a:off x="3657600" y="2606040"/>
            <a:ext cx="640080" cy="64008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9" name="Image 0" descr="preencoded.png">    </p:cNvPr>
          <p:cNvPicPr>
            <a:picLocks noChangeAspect="1"/>
          </p:cNvPicPr>
          <p:nvPr/>
        </p:nvPicPr>
        <p:blipFill>
          <a:blip r:embed="rId1"/>
          <a:stretch>
            <a:fillRect/>
          </a:stretch>
        </p:blipFill>
        <p:spPr>
          <a:xfrm>
            <a:off x="3824021" y="2772461"/>
            <a:ext cx="307238" cy="307238"/>
          </a:xfrm>
          <a:prstGeom prst="rect">
            <a:avLst/>
          </a:prstGeom>
        </p:spPr>
      </p:pic>
      <p:sp>
        <p:nvSpPr>
          <p:cNvPr id="10" name="Text 7"/>
          <p:cNvSpPr/>
          <p:nvPr/>
        </p:nvSpPr>
        <p:spPr>
          <a:xfrm>
            <a:off x="4389120" y="2377440"/>
            <a:ext cx="1371600" cy="109728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Human</a:t>
            </a:r>
            <a:endParaRPr lang="en-US" sz="1300" dirty="0"/>
          </a:p>
          <a:p>
            <a:pPr indent="0" marL="0">
              <a:buNone/>
            </a:pPr>
            <a:r>
              <a:rPr lang="en-US" sz="1300" b="1" dirty="0">
                <a:solidFill>
                  <a:srgbClr val="FFFFFF"/>
                </a:solidFill>
                <a:latin typeface="Arial" pitchFamily="34" charset="0"/>
                <a:ea typeface="Arial" pitchFamily="34" charset="-122"/>
                <a:cs typeface="Arial" pitchFamily="34" charset="-120"/>
              </a:rPr>
              <a:t>approves?</a:t>
            </a:r>
            <a:endParaRPr lang="en-US" sz="1300" dirty="0"/>
          </a:p>
        </p:txBody>
      </p:sp>
      <p:sp>
        <p:nvSpPr>
          <p:cNvPr id="11" name="Shape 8"/>
          <p:cNvSpPr/>
          <p:nvPr/>
        </p:nvSpPr>
        <p:spPr>
          <a:xfrm>
            <a:off x="5943600" y="2560320"/>
            <a:ext cx="457200" cy="0"/>
          </a:xfrm>
          <a:prstGeom prst="line">
            <a:avLst/>
          </a:prstGeom>
          <a:noFill/>
          <a:ln w="28575">
            <a:solidFill>
              <a:srgbClr val="0D9488"/>
            </a:solidFill>
            <a:prstDash val="solid"/>
            <a:tailEnd type="triangle"/>
          </a:ln>
        </p:spPr>
      </p:sp>
      <p:sp>
        <p:nvSpPr>
          <p:cNvPr id="12" name="Shape 9"/>
          <p:cNvSpPr/>
          <p:nvPr/>
        </p:nvSpPr>
        <p:spPr>
          <a:xfrm>
            <a:off x="6492240" y="2194560"/>
            <a:ext cx="2377440" cy="731520"/>
          </a:xfrm>
          <a:prstGeom prst="roundRect">
            <a:avLst>
              <a:gd name="adj" fmla="val 11250"/>
            </a:avLst>
          </a:prstGeom>
          <a:solidFill>
            <a:srgbClr val="0D9488"/>
          </a:solidFill>
          <a:ln/>
          <a:effectLst>
            <a:outerShdw sx="100000" sy="100000" kx="0" ky="0" algn="bl" rotWithShape="0" blurRad="88900" dist="38100" dir="5400000">
              <a:srgbClr val="0F2A33">
                <a:alpha val="16000"/>
              </a:srgbClr>
            </a:outerShdw>
          </a:effectLst>
        </p:spPr>
      </p:sp>
      <p:sp>
        <p:nvSpPr>
          <p:cNvPr id="13" name="Text 10"/>
          <p:cNvSpPr/>
          <p:nvPr/>
        </p:nvSpPr>
        <p:spPr>
          <a:xfrm>
            <a:off x="6492240" y="2194560"/>
            <a:ext cx="2377440" cy="731520"/>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Yes -&gt; run it</a:t>
            </a:r>
            <a:endParaRPr lang="en-US" sz="1350" dirty="0"/>
          </a:p>
        </p:txBody>
      </p:sp>
      <p:sp>
        <p:nvSpPr>
          <p:cNvPr id="14" name="Shape 11"/>
          <p:cNvSpPr/>
          <p:nvPr/>
        </p:nvSpPr>
        <p:spPr>
          <a:xfrm>
            <a:off x="5943600" y="3383280"/>
            <a:ext cx="457200" cy="0"/>
          </a:xfrm>
          <a:prstGeom prst="line">
            <a:avLst/>
          </a:prstGeom>
          <a:noFill/>
          <a:ln w="28575">
            <a:solidFill>
              <a:srgbClr val="F59E0B"/>
            </a:solidFill>
            <a:prstDash val="solid"/>
            <a:tailEnd type="triangle"/>
          </a:ln>
        </p:spPr>
      </p:sp>
      <p:sp>
        <p:nvSpPr>
          <p:cNvPr id="15" name="Shape 12"/>
          <p:cNvSpPr/>
          <p:nvPr/>
        </p:nvSpPr>
        <p:spPr>
          <a:xfrm>
            <a:off x="6492240" y="3017520"/>
            <a:ext cx="2377440" cy="731520"/>
          </a:xfrm>
          <a:prstGeom prst="roundRect">
            <a:avLst>
              <a:gd name="adj" fmla="val 11250"/>
            </a:avLst>
          </a:prstGeom>
          <a:solidFill>
            <a:srgbClr val="F1F5F9"/>
          </a:solidFill>
          <a:ln/>
          <a:effectLst>
            <a:outerShdw sx="100000" sy="100000" kx="0" ky="0" algn="bl" rotWithShape="0" blurRad="88900" dist="38100" dir="5400000">
              <a:srgbClr val="0F2A33">
                <a:alpha val="16000"/>
              </a:srgbClr>
            </a:outerShdw>
          </a:effectLst>
        </p:spPr>
      </p:sp>
      <p:sp>
        <p:nvSpPr>
          <p:cNvPr id="16" name="Text 13"/>
          <p:cNvSpPr/>
          <p:nvPr/>
        </p:nvSpPr>
        <p:spPr>
          <a:xfrm>
            <a:off x="6492240" y="3017520"/>
            <a:ext cx="2377440" cy="731520"/>
          </a:xfrm>
          <a:prstGeom prst="rect">
            <a:avLst/>
          </a:prstGeom>
          <a:noFill/>
          <a:ln/>
        </p:spPr>
        <p:txBody>
          <a:bodyPr wrap="square" lIns="0" tIns="0" rIns="0" bIns="0" rtlCol="0" anchor="ctr"/>
          <a:lstStyle/>
          <a:p>
            <a:pPr algn="ctr" indent="0" marL="0">
              <a:buNone/>
            </a:pPr>
            <a:r>
              <a:rPr lang="en-US" sz="1350" b="1" dirty="0">
                <a:solidFill>
                  <a:srgbClr val="1E293B"/>
                </a:solidFill>
                <a:latin typeface="Arial" pitchFamily="34" charset="0"/>
                <a:ea typeface="Arial" pitchFamily="34" charset="-122"/>
                <a:cs typeface="Arial" pitchFamily="34" charset="-120"/>
              </a:rPr>
              <a:t>No -&gt; cancel</a:t>
            </a:r>
            <a:endParaRPr lang="en-US" sz="1350" dirty="0"/>
          </a:p>
        </p:txBody>
      </p:sp>
      <p:sp>
        <p:nvSpPr>
          <p:cNvPr id="17" name="Text 14"/>
          <p:cNvSpPr/>
          <p:nvPr/>
        </p:nvSpPr>
        <p:spPr>
          <a:xfrm>
            <a:off x="640080" y="4114800"/>
            <a:ext cx="10881360" cy="822960"/>
          </a:xfrm>
          <a:prstGeom prst="rect">
            <a:avLst/>
          </a:prstGeom>
          <a:noFill/>
          <a:ln/>
        </p:spPr>
        <p:txBody>
          <a:bodyPr wrap="square" lIns="0" tIns="0" rIns="0" bIns="0" rtlCol="0" anchor="ctr"/>
          <a:lstStyle/>
          <a:p>
            <a:pPr indent="0" marL="0">
              <a:buNone/>
            </a:pPr>
            <a:r>
              <a:rPr lang="en-US" sz="1450" b="1" dirty="0">
                <a:solidFill>
                  <a:srgbClr val="1E293B"/>
                </a:solidFill>
                <a:latin typeface="Arial" pitchFamily="34" charset="0"/>
                <a:ea typeface="Arial" pitchFamily="34" charset="-122"/>
                <a:cs typeface="Arial" pitchFamily="34" charset="-120"/>
              </a:rPr>
              <a:t>Read-only steps run freely. </a:t>
            </a:r>
            <a:pPr indent="0" marL="0">
              <a:buNone/>
            </a:pPr>
            <a:r>
              <a:rPr lang="en-US" sz="1450" dirty="0">
                <a:solidFill>
                  <a:srgbClr val="64748B"/>
                </a:solidFill>
                <a:latin typeface="Arial" pitchFamily="34" charset="0"/>
                <a:ea typeface="Arial" pitchFamily="34" charset="-122"/>
                <a:cs typeface="Arial" pitchFamily="34" charset="-120"/>
              </a:rPr>
              <a:t>Only the actions that change the world or cost something get a checkpoint. The agent still does all the thinking and gathering on its own.</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HUMAN-IN-THE-LOOP  -  CODE</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A simple approval gate before a risky tool</a:t>
            </a:r>
            <a:endParaRPr lang="en-US" sz="3000" dirty="0"/>
          </a:p>
        </p:txBody>
      </p:sp>
      <p:sp>
        <p:nvSpPr>
          <p:cNvPr id="4" name="Shape 2"/>
          <p:cNvSpPr/>
          <p:nvPr/>
        </p:nvSpPr>
        <p:spPr>
          <a:xfrm>
            <a:off x="640080" y="1737360"/>
            <a:ext cx="7680960" cy="4023360"/>
          </a:xfrm>
          <a:prstGeom prst="roundRect">
            <a:avLst>
              <a:gd name="adj" fmla="val 1364"/>
            </a:avLst>
          </a:prstGeom>
          <a:solidFill>
            <a:srgbClr val="0B2229"/>
          </a:solidFill>
          <a:ln/>
          <a:effectLst>
            <a:outerShdw sx="100000" sy="100000" kx="0" ky="0" algn="bl" rotWithShape="0" blurRad="88900" dist="38100" dir="5400000">
              <a:srgbClr val="0F2A33">
                <a:alpha val="16000"/>
              </a:srgbClr>
            </a:outerShdw>
          </a:effectLst>
        </p:spPr>
      </p:sp>
      <p:sp>
        <p:nvSpPr>
          <p:cNvPr id="5" name="Text 3"/>
          <p:cNvSpPr/>
          <p:nvPr/>
        </p:nvSpPr>
        <p:spPr>
          <a:xfrm>
            <a:off x="841248" y="1883664"/>
            <a:ext cx="7278624" cy="3730752"/>
          </a:xfrm>
          <a:prstGeom prst="rect">
            <a:avLst/>
          </a:prstGeom>
          <a:noFill/>
          <a:ln/>
        </p:spPr>
        <p:txBody>
          <a:bodyPr wrap="square" lIns="0" tIns="0" rIns="0" bIns="0" rtlCol="0" anchor="t"/>
          <a:lstStyle/>
          <a:p>
            <a:pPr indent="0" marL="0">
              <a:lnSpc>
                <a:spcPct val="106000"/>
              </a:lnSpc>
              <a:buNone/>
            </a:pPr>
            <a:r>
              <a:rPr lang="en-US" sz="1250" dirty="0">
                <a:solidFill>
                  <a:srgbClr val="5EEAD4"/>
                </a:solidFill>
                <a:latin typeface="Courier New" pitchFamily="34" charset="0"/>
                <a:ea typeface="Courier New" pitchFamily="34" charset="-122"/>
                <a:cs typeface="Courier New" pitchFamily="34" charset="-120"/>
              </a:rPr>
              <a:t>def </a:t>
            </a:r>
            <a:pPr indent="0" marL="0">
              <a:lnSpc>
                <a:spcPct val="106000"/>
              </a:lnSpc>
              <a:buNone/>
            </a:pPr>
            <a:r>
              <a:rPr lang="en-US" sz="1250" dirty="0">
                <a:solidFill>
                  <a:srgbClr val="FCD34D"/>
                </a:solidFill>
                <a:latin typeface="Courier New" pitchFamily="34" charset="0"/>
                <a:ea typeface="Courier New" pitchFamily="34" charset="-122"/>
                <a:cs typeface="Courier New" pitchFamily="34" charset="-120"/>
              </a:rPr>
              <a:t>with_approval</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(action_name, fn, **args):</a:t>
            </a:r>
            <a:endParaRPr lang="en-US" sz="1250" dirty="0"/>
          </a:p>
          <a:p>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250" dirty="0">
                <a:solidFill>
                  <a:srgbClr val="7DD3C8"/>
                </a:solidFill>
                <a:latin typeface="Courier New" pitchFamily="34" charset="0"/>
                <a:ea typeface="Courier New" pitchFamily="34" charset="-122"/>
                <a:cs typeface="Courier New" pitchFamily="34" charset="-120"/>
              </a:rPr>
              <a:t># show the human exactly what the agent wants to do</a:t>
            </a:r>
            <a:endParaRPr lang="en-US" sz="1250" dirty="0"/>
          </a:p>
          <a:p>
            <a:pPr indent="0" marL="0">
              <a:lnSpc>
                <a:spcPct val="106000"/>
              </a:lnSpc>
              <a:buNone/>
            </a:pPr>
            <a:r>
              <a:rPr lang="en-US" sz="1250" dirty="0">
                <a:solidFill>
                  <a:srgbClr val="5EEAD4"/>
                </a:solidFill>
                <a:latin typeface="Courier New" pitchFamily="34" charset="0"/>
                <a:ea typeface="Courier New" pitchFamily="34" charset="-122"/>
                <a:cs typeface="Courier New" pitchFamily="34" charset="-120"/>
              </a:rPr>
              <a:t>    print</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250" dirty="0">
                <a:solidFill>
                  <a:srgbClr val="FCD34D"/>
                </a:solidFill>
                <a:latin typeface="Courier New" pitchFamily="34" charset="0"/>
                <a:ea typeface="Courier New" pitchFamily="34" charset="-122"/>
                <a:cs typeface="Courier New" pitchFamily="34" charset="-120"/>
              </a:rPr>
              <a:t>f"The agent wants to: {action_name}"</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a:t>
            </a:r>
            <a:endParaRPr lang="en-US" sz="1250" dirty="0"/>
          </a:p>
          <a:p>
            <a:pPr indent="0" marL="0">
              <a:lnSpc>
                <a:spcPct val="106000"/>
              </a:lnSpc>
              <a:buNone/>
            </a:pPr>
            <a:r>
              <a:rPr lang="en-US" sz="1250" dirty="0">
                <a:solidFill>
                  <a:srgbClr val="5EEAD4"/>
                </a:solidFill>
                <a:latin typeface="Courier New" pitchFamily="34" charset="0"/>
                <a:ea typeface="Courier New" pitchFamily="34" charset="-122"/>
                <a:cs typeface="Courier New" pitchFamily="34" charset="-120"/>
              </a:rPr>
              <a:t>    print</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250" dirty="0">
                <a:solidFill>
                  <a:srgbClr val="FCD34D"/>
                </a:solidFill>
                <a:latin typeface="Courier New" pitchFamily="34" charset="0"/>
                <a:ea typeface="Courier New" pitchFamily="34" charset="-122"/>
                <a:cs typeface="Courier New" pitchFamily="34" charset="-120"/>
              </a:rPr>
              <a:t>f"With details: {args}"</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a:t>
            </a:r>
            <a:endParaRPr lang="en-US" sz="1250" dirty="0"/>
          </a:p>
          <a:p>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 </a:t>
            </a:r>
            <a:endParaRPr lang="en-US" sz="1250" dirty="0"/>
          </a:p>
          <a:p>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    ok = </a:t>
            </a:r>
            <a:pPr indent="0" marL="0">
              <a:lnSpc>
                <a:spcPct val="106000"/>
              </a:lnSpc>
              <a:buNone/>
            </a:pPr>
            <a:r>
              <a:rPr lang="en-US" sz="1250" dirty="0">
                <a:solidFill>
                  <a:srgbClr val="14B8A6"/>
                </a:solidFill>
                <a:latin typeface="Courier New" pitchFamily="34" charset="0"/>
                <a:ea typeface="Courier New" pitchFamily="34" charset="-122"/>
                <a:cs typeface="Courier New" pitchFamily="34" charset="-120"/>
              </a:rPr>
              <a:t>input</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250" dirty="0">
                <a:solidFill>
                  <a:srgbClr val="FCD34D"/>
                </a:solidFill>
                <a:latin typeface="Courier New" pitchFamily="34" charset="0"/>
                <a:ea typeface="Courier New" pitchFamily="34" charset="-122"/>
                <a:cs typeface="Courier New" pitchFamily="34" charset="-120"/>
              </a:rPr>
              <a:t>"Approve? (y/n) "</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).strip().lower()</a:t>
            </a:r>
            <a:endParaRPr lang="en-US" sz="1250" dirty="0"/>
          </a:p>
          <a:p>
            <a:pPr indent="0" marL="0">
              <a:lnSpc>
                <a:spcPct val="106000"/>
              </a:lnSpc>
              <a:buNone/>
            </a:pPr>
            <a:r>
              <a:rPr lang="en-US" sz="1250" dirty="0">
                <a:solidFill>
                  <a:srgbClr val="5EEAD4"/>
                </a:solidFill>
                <a:latin typeface="Courier New" pitchFamily="34" charset="0"/>
                <a:ea typeface="Courier New" pitchFamily="34" charset="-122"/>
                <a:cs typeface="Courier New" pitchFamily="34" charset="-120"/>
              </a:rPr>
              <a:t>    if </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ok == </a:t>
            </a:r>
            <a:pPr indent="0" marL="0">
              <a:lnSpc>
                <a:spcPct val="106000"/>
              </a:lnSpc>
              <a:buNone/>
            </a:pPr>
            <a:r>
              <a:rPr lang="en-US" sz="1250" dirty="0">
                <a:solidFill>
                  <a:srgbClr val="FCD34D"/>
                </a:solidFill>
                <a:latin typeface="Courier New" pitchFamily="34" charset="0"/>
                <a:ea typeface="Courier New" pitchFamily="34" charset="-122"/>
                <a:cs typeface="Courier New" pitchFamily="34" charset="-120"/>
              </a:rPr>
              <a:t>"y"</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a:t>
            </a:r>
            <a:endParaRPr lang="en-US" sz="1250" dirty="0"/>
          </a:p>
          <a:p>
            <a:pPr indent="0" marL="0">
              <a:lnSpc>
                <a:spcPct val="106000"/>
              </a:lnSpc>
              <a:buNone/>
            </a:pPr>
            <a:r>
              <a:rPr lang="en-US" sz="1250" dirty="0">
                <a:solidFill>
                  <a:srgbClr val="5EEAD4"/>
                </a:solidFill>
                <a:latin typeface="Courier New" pitchFamily="34" charset="0"/>
                <a:ea typeface="Courier New" pitchFamily="34" charset="-122"/>
                <a:cs typeface="Courier New" pitchFamily="34" charset="-120"/>
              </a:rPr>
              <a:t>        return </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fn(**args)</a:t>
            </a:r>
            <a:endParaRPr lang="en-US" sz="1250" dirty="0"/>
          </a:p>
          <a:p>
            <a:pPr indent="0" marL="0">
              <a:lnSpc>
                <a:spcPct val="106000"/>
              </a:lnSpc>
              <a:buNone/>
            </a:pPr>
            <a:r>
              <a:rPr lang="en-US" sz="1250" dirty="0">
                <a:solidFill>
                  <a:srgbClr val="5EEAD4"/>
                </a:solidFill>
                <a:latin typeface="Courier New" pitchFamily="34" charset="0"/>
                <a:ea typeface="Courier New" pitchFamily="34" charset="-122"/>
                <a:cs typeface="Courier New" pitchFamily="34" charset="-120"/>
              </a:rPr>
              <a:t>    return </a:t>
            </a:r>
            <a:pPr indent="0" marL="0">
              <a:lnSpc>
                <a:spcPct val="106000"/>
              </a:lnSpc>
              <a:buNone/>
            </a:pPr>
            <a:r>
              <a:rPr lang="en-US" sz="1250" dirty="0">
                <a:solidFill>
                  <a:srgbClr val="FCD34D"/>
                </a:solidFill>
                <a:latin typeface="Courier New" pitchFamily="34" charset="0"/>
                <a:ea typeface="Courier New" pitchFamily="34" charset="-122"/>
                <a:cs typeface="Courier New" pitchFamily="34" charset="-120"/>
              </a:rPr>
              <a:t>"Action cancelled by the human."</a:t>
            </a:r>
            <a:endParaRPr lang="en-US" sz="1250" dirty="0"/>
          </a:p>
          <a:p>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 </a:t>
            </a:r>
            <a:endParaRPr lang="en-US" sz="1250" dirty="0"/>
          </a:p>
          <a:p>
            <a:pPr indent="0" marL="0">
              <a:lnSpc>
                <a:spcPct val="106000"/>
              </a:lnSpc>
              <a:buNone/>
            </a:pPr>
            <a:r>
              <a:rPr lang="en-US" sz="1250" dirty="0">
                <a:solidFill>
                  <a:srgbClr val="7DD3C8"/>
                </a:solidFill>
                <a:latin typeface="Courier New" pitchFamily="34" charset="0"/>
                <a:ea typeface="Courier New" pitchFamily="34" charset="-122"/>
                <a:cs typeface="Courier New" pitchFamily="34" charset="-120"/>
              </a:rPr>
              <a:t># wrap only the risky action, not the safe ones</a:t>
            </a:r>
            <a:endParaRPr lang="en-US" sz="1250" dirty="0"/>
          </a:p>
          <a:p>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with_approval(</a:t>
            </a:r>
            <a:pPr indent="0" marL="0">
              <a:lnSpc>
                <a:spcPct val="106000"/>
              </a:lnSpc>
              <a:buNone/>
            </a:pPr>
            <a:r>
              <a:rPr lang="en-US" sz="1250" dirty="0">
                <a:solidFill>
                  <a:srgbClr val="FCD34D"/>
                </a:solidFill>
                <a:latin typeface="Courier New" pitchFamily="34" charset="0"/>
                <a:ea typeface="Courier New" pitchFamily="34" charset="-122"/>
                <a:cs typeface="Courier New" pitchFamily="34" charset="-120"/>
              </a:rPr>
              <a:t>"send_email"</a:t>
            </a:r>
            <a:pPr indent="0" marL="0">
              <a:lnSpc>
                <a:spcPct val="106000"/>
              </a:lnSpc>
              <a:buNone/>
            </a:pPr>
            <a:r>
              <a:rPr lang="en-US" sz="1250" dirty="0">
                <a:solidFill>
                  <a:srgbClr val="E2E8F0"/>
                </a:solidFill>
                <a:latin typeface="Courier New" pitchFamily="34" charset="0"/>
                <a:ea typeface="Courier New" pitchFamily="34" charset="-122"/>
                <a:cs typeface="Courier New" pitchFamily="34" charset="-120"/>
              </a:rPr>
              <a:t>, send_email, to=addr, body=text)</a:t>
            </a:r>
            <a:endParaRPr lang="en-US" sz="1250" dirty="0"/>
          </a:p>
        </p:txBody>
      </p:sp>
      <p:sp>
        <p:nvSpPr>
          <p:cNvPr id="6" name="Shape 4"/>
          <p:cNvSpPr/>
          <p:nvPr/>
        </p:nvSpPr>
        <p:spPr>
          <a:xfrm>
            <a:off x="8503920" y="1737360"/>
            <a:ext cx="3017520" cy="4023360"/>
          </a:xfrm>
          <a:prstGeom prst="roundRect">
            <a:avLst>
              <a:gd name="adj" fmla="val 2727"/>
            </a:avLst>
          </a:prstGeom>
          <a:solidFill>
            <a:srgbClr val="F0FDFA"/>
          </a:solidFill>
          <a:ln/>
          <a:effectLst>
            <a:outerShdw sx="100000" sy="100000" kx="0" ky="0" algn="bl" rotWithShape="0" blurRad="88900" dist="38100" dir="5400000">
              <a:srgbClr val="0F2A33">
                <a:alpha val="16000"/>
              </a:srgbClr>
            </a:outerShdw>
          </a:effectLst>
        </p:spPr>
      </p:sp>
      <p:sp>
        <p:nvSpPr>
          <p:cNvPr id="7" name="Text 5"/>
          <p:cNvSpPr/>
          <p:nvPr/>
        </p:nvSpPr>
        <p:spPr>
          <a:xfrm>
            <a:off x="8686800" y="1920240"/>
            <a:ext cx="2743200" cy="365760"/>
          </a:xfrm>
          <a:prstGeom prst="rect">
            <a:avLst/>
          </a:prstGeom>
          <a:noFill/>
          <a:ln/>
        </p:spPr>
        <p:txBody>
          <a:bodyPr wrap="square" lIns="0" tIns="0" rIns="0" bIns="0" rtlCol="0" anchor="ctr"/>
          <a:lstStyle/>
          <a:p>
            <a:pPr indent="0" marL="0">
              <a:buNone/>
            </a:pPr>
            <a:r>
              <a:rPr lang="en-US" sz="1600" b="1" dirty="0">
                <a:solidFill>
                  <a:srgbClr val="0D9488"/>
                </a:solidFill>
                <a:latin typeface="Arial" pitchFamily="34" charset="0"/>
                <a:ea typeface="Arial" pitchFamily="34" charset="-122"/>
                <a:cs typeface="Arial" pitchFamily="34" charset="-120"/>
              </a:rPr>
              <a:t>Notice</a:t>
            </a:r>
            <a:endParaRPr lang="en-US" sz="1600" dirty="0"/>
          </a:p>
        </p:txBody>
      </p:sp>
      <p:sp>
        <p:nvSpPr>
          <p:cNvPr id="8" name="Text 6"/>
          <p:cNvSpPr/>
          <p:nvPr/>
        </p:nvSpPr>
        <p:spPr>
          <a:xfrm>
            <a:off x="8732520" y="2331720"/>
            <a:ext cx="2697480" cy="3474720"/>
          </a:xfrm>
          <a:prstGeom prst="rect">
            <a:avLst/>
          </a:prstGeom>
          <a:noFill/>
          <a:ln/>
        </p:spPr>
        <p:txBody>
          <a:bodyPr wrap="square" lIns="0" tIns="0" rIns="0" bIns="0" rtlCol="0" anchor="ctr"/>
          <a:lstStyle/>
          <a:p>
            <a:pPr marL="342900" indent="-342900">
              <a:spcAft>
                <a:spcPts val="1100"/>
              </a:spcAft>
              <a:buSzPct val="100000"/>
              <a:buChar char="•"/>
            </a:pPr>
            <a:r>
              <a:rPr lang="en-US" sz="1250" dirty="0">
                <a:solidFill>
                  <a:srgbClr val="1E293B"/>
                </a:solidFill>
                <a:latin typeface="Arial" pitchFamily="34" charset="0"/>
                <a:ea typeface="Arial" pitchFamily="34" charset="-122"/>
                <a:cs typeface="Arial" pitchFamily="34" charset="-120"/>
              </a:rPr>
              <a:t>Show the human what will happen, clearly.</a:t>
            </a:r>
            <a:endParaRPr lang="en-US" sz="1250" dirty="0"/>
          </a:p>
          <a:p>
            <a:pPr marL="342900" indent="-342900">
              <a:spcAft>
                <a:spcPts val="1100"/>
              </a:spcAft>
              <a:buSzPct val="100000"/>
              <a:buChar char="•"/>
            </a:pPr>
            <a:r>
              <a:rPr lang="en-US" sz="1250" dirty="0">
                <a:solidFill>
                  <a:srgbClr val="1E293B"/>
                </a:solidFill>
                <a:latin typeface="Arial" pitchFamily="34" charset="0"/>
                <a:ea typeface="Arial" pitchFamily="34" charset="-122"/>
                <a:cs typeface="Arial" pitchFamily="34" charset="-120"/>
              </a:rPr>
              <a:t>Run the action only on approval.</a:t>
            </a:r>
            <a:endParaRPr lang="en-US" sz="1250" dirty="0"/>
          </a:p>
          <a:p>
            <a:pPr marL="342900" indent="-342900">
              <a:spcAft>
                <a:spcPts val="1100"/>
              </a:spcAft>
              <a:buSzPct val="100000"/>
              <a:buChar char="•"/>
            </a:pPr>
            <a:r>
              <a:rPr lang="en-US" sz="1250" dirty="0">
                <a:solidFill>
                  <a:srgbClr val="1E293B"/>
                </a:solidFill>
                <a:latin typeface="Arial" pitchFamily="34" charset="0"/>
                <a:ea typeface="Arial" pitchFamily="34" charset="-122"/>
                <a:cs typeface="Arial" pitchFamily="34" charset="-120"/>
              </a:rPr>
              <a:t>Cancelling returns a normal result, no crash.</a:t>
            </a:r>
            <a:endParaRPr lang="en-US" sz="1250" dirty="0"/>
          </a:p>
          <a:p>
            <a:pPr marL="342900" indent="-342900">
              <a:spcAft>
                <a:spcPts val="1100"/>
              </a:spcAft>
              <a:buSzPct val="100000"/>
              <a:buChar char="•"/>
            </a:pPr>
            <a:r>
              <a:rPr lang="en-US" sz="1250" dirty="0">
                <a:solidFill>
                  <a:srgbClr val="1E293B"/>
                </a:solidFill>
                <a:latin typeface="Arial" pitchFamily="34" charset="0"/>
                <a:ea typeface="Arial" pitchFamily="34" charset="-122"/>
                <a:cs typeface="Arial" pitchFamily="34" charset="-120"/>
              </a:rPr>
              <a:t>Wrap only risky tools, leave safe ones alone.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HUMAN-IN-THE-LOOP  -  TAKEAWAYS</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Oversight where it counts, autonomy elsewhere</a:t>
            </a:r>
            <a:endParaRPr lang="en-US" sz="3000" dirty="0"/>
          </a:p>
        </p:txBody>
      </p:sp>
      <p:sp>
        <p:nvSpPr>
          <p:cNvPr id="4" name="Shape 2"/>
          <p:cNvSpPr/>
          <p:nvPr/>
        </p:nvSpPr>
        <p:spPr>
          <a:xfrm>
            <a:off x="640080" y="1828800"/>
            <a:ext cx="10881360" cy="868680"/>
          </a:xfrm>
          <a:prstGeom prst="roundRect">
            <a:avLst>
              <a:gd name="adj" fmla="val 7368"/>
            </a:avLst>
          </a:prstGeom>
          <a:solidFill>
            <a:srgbClr val="F0FDFA"/>
          </a:solidFill>
          <a:ln/>
          <a:effectLst>
            <a:outerShdw sx="100000" sy="100000" kx="0" ky="0" algn="bl" rotWithShape="0" blurRad="88900" dist="38100" dir="5400000">
              <a:srgbClr val="0F2A33">
                <a:alpha val="16000"/>
              </a:srgbClr>
            </a:outerShdw>
          </a:effectLst>
        </p:spPr>
      </p:sp>
      <p:sp>
        <p:nvSpPr>
          <p:cNvPr id="5" name="Shape 3"/>
          <p:cNvSpPr/>
          <p:nvPr/>
        </p:nvSpPr>
        <p:spPr>
          <a:xfrm>
            <a:off x="868680" y="2011680"/>
            <a:ext cx="502920" cy="502920"/>
          </a:xfrm>
          <a:prstGeom prst="ellipse">
            <a:avLst/>
          </a:prstGeom>
          <a:solidFill>
            <a:srgbClr val="FFFFFF"/>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999439" y="2142439"/>
            <a:ext cx="241402" cy="241402"/>
          </a:xfrm>
          <a:prstGeom prst="rect">
            <a:avLst/>
          </a:prstGeom>
        </p:spPr>
      </p:pic>
      <p:sp>
        <p:nvSpPr>
          <p:cNvPr id="7" name="Text 4"/>
          <p:cNvSpPr/>
          <p:nvPr/>
        </p:nvSpPr>
        <p:spPr>
          <a:xfrm>
            <a:off x="1554480" y="1828800"/>
            <a:ext cx="3657600" cy="868680"/>
          </a:xfrm>
          <a:prstGeom prst="rect">
            <a:avLst/>
          </a:prstGeom>
          <a:noFill/>
          <a:ln/>
        </p:spPr>
        <p:txBody>
          <a:bodyPr wrap="square" lIns="0" tIns="0" rIns="0" bIns="0" rtlCol="0" anchor="ctr"/>
          <a:lstStyle/>
          <a:p>
            <a:pPr indent="0" marL="0">
              <a:buNone/>
            </a:pPr>
            <a:r>
              <a:rPr lang="en-US" sz="1550" b="1" dirty="0">
                <a:solidFill>
                  <a:srgbClr val="1E293B"/>
                </a:solidFill>
                <a:latin typeface="Arial" pitchFamily="34" charset="0"/>
                <a:ea typeface="Arial" pitchFamily="34" charset="-122"/>
                <a:cs typeface="Arial" pitchFamily="34" charset="-120"/>
              </a:rPr>
              <a:t>Gate the risky actions</a:t>
            </a:r>
            <a:endParaRPr lang="en-US" sz="1550" dirty="0"/>
          </a:p>
        </p:txBody>
      </p:sp>
      <p:sp>
        <p:nvSpPr>
          <p:cNvPr id="8" name="Text 5"/>
          <p:cNvSpPr/>
          <p:nvPr/>
        </p:nvSpPr>
        <p:spPr>
          <a:xfrm>
            <a:off x="5303520" y="1828800"/>
            <a:ext cx="6035040" cy="86868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Approvals on writes, sends, payments, and deletes.</a:t>
            </a:r>
            <a:endParaRPr lang="en-US" sz="1350" dirty="0"/>
          </a:p>
        </p:txBody>
      </p:sp>
      <p:sp>
        <p:nvSpPr>
          <p:cNvPr id="9" name="Shape 6"/>
          <p:cNvSpPr/>
          <p:nvPr/>
        </p:nvSpPr>
        <p:spPr>
          <a:xfrm>
            <a:off x="640080" y="2807208"/>
            <a:ext cx="10881360" cy="868680"/>
          </a:xfrm>
          <a:prstGeom prst="roundRect">
            <a:avLst>
              <a:gd name="adj" fmla="val 7368"/>
            </a:avLst>
          </a:prstGeom>
          <a:solidFill>
            <a:srgbClr val="F1F5F9"/>
          </a:solidFill>
          <a:ln/>
          <a:effectLst>
            <a:outerShdw sx="100000" sy="100000" kx="0" ky="0" algn="bl" rotWithShape="0" blurRad="88900" dist="38100" dir="5400000">
              <a:srgbClr val="0F2A33">
                <a:alpha val="16000"/>
              </a:srgbClr>
            </a:outerShdw>
          </a:effectLst>
        </p:spPr>
      </p:sp>
      <p:sp>
        <p:nvSpPr>
          <p:cNvPr id="10" name="Shape 7"/>
          <p:cNvSpPr/>
          <p:nvPr/>
        </p:nvSpPr>
        <p:spPr>
          <a:xfrm>
            <a:off x="868680" y="2990088"/>
            <a:ext cx="502920" cy="502920"/>
          </a:xfrm>
          <a:prstGeom prst="ellipse">
            <a:avLst/>
          </a:prstGeom>
          <a:solidFill>
            <a:srgbClr val="FFFFFF"/>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999439" y="3120847"/>
            <a:ext cx="241402" cy="241402"/>
          </a:xfrm>
          <a:prstGeom prst="rect">
            <a:avLst/>
          </a:prstGeom>
        </p:spPr>
      </p:pic>
      <p:sp>
        <p:nvSpPr>
          <p:cNvPr id="12" name="Text 8"/>
          <p:cNvSpPr/>
          <p:nvPr/>
        </p:nvSpPr>
        <p:spPr>
          <a:xfrm>
            <a:off x="1554480" y="2807208"/>
            <a:ext cx="3657600" cy="868680"/>
          </a:xfrm>
          <a:prstGeom prst="rect">
            <a:avLst/>
          </a:prstGeom>
          <a:noFill/>
          <a:ln/>
        </p:spPr>
        <p:txBody>
          <a:bodyPr wrap="square" lIns="0" tIns="0" rIns="0" bIns="0" rtlCol="0" anchor="ctr"/>
          <a:lstStyle/>
          <a:p>
            <a:pPr indent="0" marL="0">
              <a:buNone/>
            </a:pPr>
            <a:r>
              <a:rPr lang="en-US" sz="1550" b="1" dirty="0">
                <a:solidFill>
                  <a:srgbClr val="1E293B"/>
                </a:solidFill>
                <a:latin typeface="Arial" pitchFamily="34" charset="0"/>
                <a:ea typeface="Arial" pitchFamily="34" charset="-122"/>
                <a:cs typeface="Arial" pitchFamily="34" charset="-120"/>
              </a:rPr>
              <a:t>Show clear context</a:t>
            </a:r>
            <a:endParaRPr lang="en-US" sz="1550" dirty="0"/>
          </a:p>
        </p:txBody>
      </p:sp>
      <p:sp>
        <p:nvSpPr>
          <p:cNvPr id="13" name="Text 9"/>
          <p:cNvSpPr/>
          <p:nvPr/>
        </p:nvSpPr>
        <p:spPr>
          <a:xfrm>
            <a:off x="5303520" y="2807208"/>
            <a:ext cx="6035040" cy="86868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The human must see exactly what will happen to decide well.</a:t>
            </a:r>
            <a:endParaRPr lang="en-US" sz="1350" dirty="0"/>
          </a:p>
        </p:txBody>
      </p:sp>
      <p:sp>
        <p:nvSpPr>
          <p:cNvPr id="14" name="Shape 10"/>
          <p:cNvSpPr/>
          <p:nvPr/>
        </p:nvSpPr>
        <p:spPr>
          <a:xfrm>
            <a:off x="640080" y="3785616"/>
            <a:ext cx="10881360" cy="868680"/>
          </a:xfrm>
          <a:prstGeom prst="roundRect">
            <a:avLst>
              <a:gd name="adj" fmla="val 7368"/>
            </a:avLst>
          </a:prstGeom>
          <a:solidFill>
            <a:srgbClr val="F0FDFA"/>
          </a:solidFill>
          <a:ln/>
          <a:effectLst>
            <a:outerShdw sx="100000" sy="100000" kx="0" ky="0" algn="bl" rotWithShape="0" blurRad="88900" dist="38100" dir="5400000">
              <a:srgbClr val="0F2A33">
                <a:alpha val="16000"/>
              </a:srgbClr>
            </a:outerShdw>
          </a:effectLst>
        </p:spPr>
      </p:sp>
      <p:sp>
        <p:nvSpPr>
          <p:cNvPr id="15" name="Shape 11"/>
          <p:cNvSpPr/>
          <p:nvPr/>
        </p:nvSpPr>
        <p:spPr>
          <a:xfrm>
            <a:off x="868680" y="3968496"/>
            <a:ext cx="502920" cy="502920"/>
          </a:xfrm>
          <a:prstGeom prst="ellipse">
            <a:avLst/>
          </a:prstGeom>
          <a:solidFill>
            <a:srgbClr val="FFFFFF"/>
          </a:solidFill>
          <a:ln/>
          <a:effectLst>
            <a:outerShdw sx="100000" sy="100000" kx="0" ky="0" algn="bl" rotWithShape="0" blurRad="88900" dist="38100" dir="5400000">
              <a:srgbClr val="0F2A33">
                <a:alpha val="16000"/>
              </a:srgbClr>
            </a:outerShdw>
          </a:effectLst>
        </p:spPr>
      </p:sp>
      <p:pic>
        <p:nvPicPr>
          <p:cNvPr id="16" name="Image 2" descr="preencoded.png">    </p:cNvPr>
          <p:cNvPicPr>
            <a:picLocks noChangeAspect="1"/>
          </p:cNvPicPr>
          <p:nvPr/>
        </p:nvPicPr>
        <p:blipFill>
          <a:blip r:embed="rId3"/>
          <a:stretch>
            <a:fillRect/>
          </a:stretch>
        </p:blipFill>
        <p:spPr>
          <a:xfrm>
            <a:off x="999439" y="4099255"/>
            <a:ext cx="241402" cy="241402"/>
          </a:xfrm>
          <a:prstGeom prst="rect">
            <a:avLst/>
          </a:prstGeom>
        </p:spPr>
      </p:pic>
      <p:sp>
        <p:nvSpPr>
          <p:cNvPr id="17" name="Text 12"/>
          <p:cNvSpPr/>
          <p:nvPr/>
        </p:nvSpPr>
        <p:spPr>
          <a:xfrm>
            <a:off x="1554480" y="3785616"/>
            <a:ext cx="3657600" cy="868680"/>
          </a:xfrm>
          <a:prstGeom prst="rect">
            <a:avLst/>
          </a:prstGeom>
          <a:noFill/>
          <a:ln/>
        </p:spPr>
        <p:txBody>
          <a:bodyPr wrap="square" lIns="0" tIns="0" rIns="0" bIns="0" rtlCol="0" anchor="ctr"/>
          <a:lstStyle/>
          <a:p>
            <a:pPr indent="0" marL="0">
              <a:buNone/>
            </a:pPr>
            <a:r>
              <a:rPr lang="en-US" sz="1550" b="1" dirty="0">
                <a:solidFill>
                  <a:srgbClr val="1E293B"/>
                </a:solidFill>
                <a:latin typeface="Arial" pitchFamily="34" charset="0"/>
                <a:ea typeface="Arial" pitchFamily="34" charset="-122"/>
                <a:cs typeface="Arial" pitchFamily="34" charset="-120"/>
              </a:rPr>
              <a:t>Make no the safe default</a:t>
            </a:r>
            <a:endParaRPr lang="en-US" sz="1550" dirty="0"/>
          </a:p>
        </p:txBody>
      </p:sp>
      <p:sp>
        <p:nvSpPr>
          <p:cNvPr id="18" name="Text 13"/>
          <p:cNvSpPr/>
          <p:nvPr/>
        </p:nvSpPr>
        <p:spPr>
          <a:xfrm>
            <a:off x="5303520" y="3785616"/>
            <a:ext cx="6035040" cy="86868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If in doubt, cancel. An undone action beats a wrong one.</a:t>
            </a:r>
            <a:endParaRPr lang="en-US" sz="1350" dirty="0"/>
          </a:p>
        </p:txBody>
      </p:sp>
      <p:sp>
        <p:nvSpPr>
          <p:cNvPr id="19" name="Shape 14"/>
          <p:cNvSpPr/>
          <p:nvPr/>
        </p:nvSpPr>
        <p:spPr>
          <a:xfrm>
            <a:off x="640080" y="4764024"/>
            <a:ext cx="10881360" cy="868680"/>
          </a:xfrm>
          <a:prstGeom prst="roundRect">
            <a:avLst>
              <a:gd name="adj" fmla="val 7368"/>
            </a:avLst>
          </a:prstGeom>
          <a:solidFill>
            <a:srgbClr val="F1F5F9"/>
          </a:solidFill>
          <a:ln/>
          <a:effectLst>
            <a:outerShdw sx="100000" sy="100000" kx="0" ky="0" algn="bl" rotWithShape="0" blurRad="88900" dist="38100" dir="5400000">
              <a:srgbClr val="0F2A33">
                <a:alpha val="16000"/>
              </a:srgbClr>
            </a:outerShdw>
          </a:effectLst>
        </p:spPr>
      </p:sp>
      <p:sp>
        <p:nvSpPr>
          <p:cNvPr id="20" name="Shape 15"/>
          <p:cNvSpPr/>
          <p:nvPr/>
        </p:nvSpPr>
        <p:spPr>
          <a:xfrm>
            <a:off x="868680" y="4946904"/>
            <a:ext cx="502920" cy="502920"/>
          </a:xfrm>
          <a:prstGeom prst="ellipse">
            <a:avLst/>
          </a:prstGeom>
          <a:solidFill>
            <a:srgbClr val="0F2A33"/>
          </a:solidFill>
          <a:ln/>
          <a:effectLst>
            <a:outerShdw sx="100000" sy="100000" kx="0" ky="0" algn="bl" rotWithShape="0" blurRad="88900" dist="38100" dir="5400000">
              <a:srgbClr val="0F2A33">
                <a:alpha val="16000"/>
              </a:srgbClr>
            </a:outerShdw>
          </a:effectLst>
        </p:spPr>
      </p:sp>
      <p:pic>
        <p:nvPicPr>
          <p:cNvPr id="21" name="Image 3" descr="preencoded.png">    </p:cNvPr>
          <p:cNvPicPr>
            <a:picLocks noChangeAspect="1"/>
          </p:cNvPicPr>
          <p:nvPr/>
        </p:nvPicPr>
        <p:blipFill>
          <a:blip r:embed="rId4"/>
          <a:stretch>
            <a:fillRect/>
          </a:stretch>
        </p:blipFill>
        <p:spPr>
          <a:xfrm>
            <a:off x="999439" y="5077663"/>
            <a:ext cx="241402" cy="241402"/>
          </a:xfrm>
          <a:prstGeom prst="rect">
            <a:avLst/>
          </a:prstGeom>
        </p:spPr>
      </p:pic>
      <p:sp>
        <p:nvSpPr>
          <p:cNvPr id="22" name="Text 16"/>
          <p:cNvSpPr/>
          <p:nvPr/>
        </p:nvSpPr>
        <p:spPr>
          <a:xfrm>
            <a:off x="1554480" y="4764024"/>
            <a:ext cx="3657600" cy="868680"/>
          </a:xfrm>
          <a:prstGeom prst="rect">
            <a:avLst/>
          </a:prstGeom>
          <a:noFill/>
          <a:ln/>
        </p:spPr>
        <p:txBody>
          <a:bodyPr wrap="square" lIns="0" tIns="0" rIns="0" bIns="0" rtlCol="0" anchor="ctr"/>
          <a:lstStyle/>
          <a:p>
            <a:pPr indent="0" marL="0">
              <a:buNone/>
            </a:pPr>
            <a:r>
              <a:rPr lang="en-US" sz="1550" b="1" dirty="0">
                <a:solidFill>
                  <a:srgbClr val="1E293B"/>
                </a:solidFill>
                <a:latin typeface="Arial" pitchFamily="34" charset="0"/>
                <a:ea typeface="Arial" pitchFamily="34" charset="-122"/>
                <a:cs typeface="Arial" pitchFamily="34" charset="-120"/>
              </a:rPr>
              <a:t>Do not over-gate</a:t>
            </a:r>
            <a:endParaRPr lang="en-US" sz="1550" dirty="0"/>
          </a:p>
        </p:txBody>
      </p:sp>
      <p:sp>
        <p:nvSpPr>
          <p:cNvPr id="23" name="Text 17"/>
          <p:cNvSpPr/>
          <p:nvPr/>
        </p:nvSpPr>
        <p:spPr>
          <a:xfrm>
            <a:off x="5303520" y="4764024"/>
            <a:ext cx="6035040" cy="86868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Asking on every trivial step makes the agent useless.</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2A33"/>
        </a:solidFill>
      </p:bgPr>
    </p:bg>
    <p:spTree>
      <p:nvGrpSpPr>
        <p:cNvPr id="1" name=""/>
        <p:cNvGrpSpPr/>
        <p:nvPr/>
      </p:nvGrpSpPr>
      <p:grpSpPr>
        <a:xfrm>
          <a:off x="0" y="0"/>
          <a:ext cx="0" cy="0"/>
          <a:chOff x="0" y="0"/>
          <a:chExt cx="0" cy="0"/>
        </a:xfrm>
      </p:grpSpPr>
      <p:sp>
        <p:nvSpPr>
          <p:cNvPr id="2" name="Shape 0"/>
          <p:cNvSpPr/>
          <p:nvPr/>
        </p:nvSpPr>
        <p:spPr>
          <a:xfrm>
            <a:off x="9509760" y="-1463040"/>
            <a:ext cx="4572000" cy="4572000"/>
          </a:xfrm>
          <a:prstGeom prst="ellipse">
            <a:avLst/>
          </a:prstGeom>
          <a:solidFill>
            <a:srgbClr val="13343B"/>
          </a:solidFill>
          <a:ln/>
        </p:spPr>
      </p:sp>
      <p:sp>
        <p:nvSpPr>
          <p:cNvPr id="3" name="Shape 1"/>
          <p:cNvSpPr/>
          <p:nvPr/>
        </p:nvSpPr>
        <p:spPr>
          <a:xfrm>
            <a:off x="10607040" y="4206240"/>
            <a:ext cx="3840480" cy="3840480"/>
          </a:xfrm>
          <a:prstGeom prst="ellipse">
            <a:avLst/>
          </a:prstGeom>
          <a:solidFill>
            <a:srgbClr val="13343B"/>
          </a:solidFill>
          <a:ln/>
        </p:spPr>
      </p:sp>
      <p:sp>
        <p:nvSpPr>
          <p:cNvPr id="4" name="Text 2"/>
          <p:cNvSpPr/>
          <p:nvPr/>
        </p:nvSpPr>
        <p:spPr>
          <a:xfrm>
            <a:off x="822960" y="2240280"/>
            <a:ext cx="8229600" cy="365760"/>
          </a:xfrm>
          <a:prstGeom prst="rect">
            <a:avLst/>
          </a:prstGeom>
          <a:noFill/>
          <a:ln/>
        </p:spPr>
        <p:txBody>
          <a:bodyPr wrap="square" rtlCol="0" anchor="ctr"/>
          <a:lstStyle/>
          <a:p>
            <a:pPr indent="0" marL="0">
              <a:buNone/>
            </a:pPr>
            <a:r>
              <a:rPr lang="en-US" sz="1500" b="1" spc="400" kern="0" dirty="0">
                <a:solidFill>
                  <a:srgbClr val="0D9488"/>
                </a:solidFill>
                <a:latin typeface="Arial" pitchFamily="34" charset="0"/>
                <a:ea typeface="Arial" pitchFamily="34" charset="-122"/>
                <a:cs typeface="Arial" pitchFamily="34" charset="-120"/>
              </a:rPr>
              <a:t>PART 3  -  CHAPTERS 18 AND 19</a:t>
            </a:r>
            <a:endParaRPr lang="en-US" sz="1500" dirty="0"/>
          </a:p>
        </p:txBody>
      </p:sp>
      <p:sp>
        <p:nvSpPr>
          <p:cNvPr id="5" name="Text 3"/>
          <p:cNvSpPr/>
          <p:nvPr/>
        </p:nvSpPr>
        <p:spPr>
          <a:xfrm>
            <a:off x="777240" y="2606040"/>
            <a:ext cx="10058400" cy="1371600"/>
          </a:xfrm>
          <a:prstGeom prst="rect">
            <a:avLst/>
          </a:prstGeom>
          <a:noFill/>
          <a:ln/>
        </p:spPr>
        <p:txBody>
          <a:bodyPr wrap="square" rtlCol="0" anchor="ctr"/>
          <a:lstStyle/>
          <a:p>
            <a:pPr indent="0" marL="0">
              <a:buNone/>
            </a:pPr>
            <a:r>
              <a:rPr lang="en-US" sz="4600" b="1" dirty="0">
                <a:solidFill>
                  <a:srgbClr val="FFFFFF"/>
                </a:solidFill>
                <a:latin typeface="Arial" pitchFamily="34" charset="0"/>
                <a:ea typeface="Arial" pitchFamily="34" charset="-122"/>
                <a:cs typeface="Arial" pitchFamily="34" charset="-120"/>
              </a:rPr>
              <a:t>Guardrails and Safety</a:t>
            </a:r>
            <a:endParaRPr lang="en-US" sz="4600" dirty="0"/>
          </a:p>
        </p:txBody>
      </p:sp>
      <p:sp>
        <p:nvSpPr>
          <p:cNvPr id="6" name="Text 4"/>
          <p:cNvSpPr/>
          <p:nvPr/>
        </p:nvSpPr>
        <p:spPr>
          <a:xfrm>
            <a:off x="822960" y="3977640"/>
            <a:ext cx="10058400" cy="457200"/>
          </a:xfrm>
          <a:prstGeom prst="rect">
            <a:avLst/>
          </a:prstGeom>
          <a:noFill/>
          <a:ln/>
        </p:spPr>
        <p:txBody>
          <a:bodyPr wrap="square" rtlCol="0" anchor="ctr"/>
          <a:lstStyle/>
          <a:p>
            <a:pPr indent="0" marL="0">
              <a:buNone/>
            </a:pPr>
            <a:r>
              <a:rPr lang="en-US" sz="1600" i="1" dirty="0">
                <a:solidFill>
                  <a:srgbClr val="5EEAD4"/>
                </a:solidFill>
                <a:latin typeface="Arial" pitchFamily="34" charset="0"/>
                <a:ea typeface="Arial" pitchFamily="34" charset="-122"/>
                <a:cs typeface="Arial" pitchFamily="34" charset="-120"/>
              </a:rPr>
              <a:t>Constrain what the agent takes in, says, and does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THE IDEA</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An agent with tools can cause real harm</a:t>
            </a:r>
            <a:endParaRPr lang="en-US" sz="3000" dirty="0"/>
          </a:p>
        </p:txBody>
      </p:sp>
      <p:sp>
        <p:nvSpPr>
          <p:cNvPr id="4" name="Shape 2"/>
          <p:cNvSpPr/>
          <p:nvPr/>
        </p:nvSpPr>
        <p:spPr>
          <a:xfrm>
            <a:off x="640080" y="1783080"/>
            <a:ext cx="10881360" cy="1188720"/>
          </a:xfrm>
          <a:prstGeom prst="roundRect">
            <a:avLst>
              <a:gd name="adj" fmla="val 6923"/>
            </a:avLst>
          </a:prstGeom>
          <a:solidFill>
            <a:srgbClr val="0F2A33"/>
          </a:solidFill>
          <a:ln/>
          <a:effectLst>
            <a:outerShdw sx="100000" sy="100000" kx="0" ky="0" algn="bl" rotWithShape="0" blurRad="88900" dist="38100" dir="5400000">
              <a:srgbClr val="0F2A33">
                <a:alpha val="16000"/>
              </a:srgbClr>
            </a:outerShdw>
          </a:effectLst>
        </p:spPr>
      </p:sp>
      <p:sp>
        <p:nvSpPr>
          <p:cNvPr id="5" name="Shape 3"/>
          <p:cNvSpPr/>
          <p:nvPr/>
        </p:nvSpPr>
        <p:spPr>
          <a:xfrm>
            <a:off x="914400" y="1993392"/>
            <a:ext cx="777240" cy="7772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16482" y="2195474"/>
            <a:ext cx="373075" cy="373075"/>
          </a:xfrm>
          <a:prstGeom prst="rect">
            <a:avLst/>
          </a:prstGeom>
        </p:spPr>
      </p:pic>
      <p:sp>
        <p:nvSpPr>
          <p:cNvPr id="7" name="Text 4"/>
          <p:cNvSpPr/>
          <p:nvPr/>
        </p:nvSpPr>
        <p:spPr>
          <a:xfrm>
            <a:off x="1920240" y="1847088"/>
            <a:ext cx="9326880" cy="1051560"/>
          </a:xfrm>
          <a:prstGeom prst="rect">
            <a:avLst/>
          </a:prstGeom>
          <a:noFill/>
          <a:ln/>
        </p:spPr>
        <p:txBody>
          <a:bodyPr wrap="square" lIns="0" tIns="0" rIns="0" bIns="0" rtlCol="0" anchor="ctr"/>
          <a:lstStyle/>
          <a:p>
            <a:pPr indent="0" marL="0">
              <a:buNone/>
            </a:pPr>
            <a:r>
              <a:rPr lang="en-US" sz="1600" b="1" dirty="0">
                <a:solidFill>
                  <a:srgbClr val="5EEAD4"/>
                </a:solidFill>
                <a:latin typeface="Arial" pitchFamily="34" charset="0"/>
                <a:ea typeface="Arial" pitchFamily="34" charset="-122"/>
                <a:cs typeface="Arial" pitchFamily="34" charset="-120"/>
              </a:rPr>
              <a:t>Guardrails </a:t>
            </a:r>
            <a:pPr indent="0" marL="0">
              <a:buNone/>
            </a:pPr>
            <a:r>
              <a:rPr lang="en-US" sz="1600" dirty="0">
                <a:solidFill>
                  <a:srgbClr val="FFFFFF"/>
                </a:solidFill>
                <a:latin typeface="Arial" pitchFamily="34" charset="0"/>
                <a:ea typeface="Arial" pitchFamily="34" charset="-122"/>
                <a:cs typeface="Arial" pitchFamily="34" charset="-120"/>
              </a:rPr>
              <a:t>are checks around the agent that constrain what it can take in, what it can say, and what it is allowed to do.</a:t>
            </a:r>
            <a:endParaRPr lang="en-US" sz="1600" dirty="0"/>
          </a:p>
        </p:txBody>
      </p:sp>
      <p:sp>
        <p:nvSpPr>
          <p:cNvPr id="8" name="Text 5"/>
          <p:cNvSpPr/>
          <p:nvPr/>
        </p:nvSpPr>
        <p:spPr>
          <a:xfrm>
            <a:off x="822960" y="3291840"/>
            <a:ext cx="10424160" cy="914400"/>
          </a:xfrm>
          <a:prstGeom prst="rect">
            <a:avLst/>
          </a:prstGeom>
          <a:noFill/>
          <a:ln/>
        </p:spPr>
        <p:txBody>
          <a:bodyPr wrap="square" rtlCol="0" anchor="ctr"/>
          <a:lstStyle/>
          <a:p>
            <a:pPr indent="0" marL="0">
              <a:buNone/>
            </a:pPr>
            <a:r>
              <a:rPr lang="en-US" sz="1500" dirty="0">
                <a:solidFill>
                  <a:srgbClr val="1E293B"/>
                </a:solidFill>
                <a:latin typeface="Arial" pitchFamily="34" charset="0"/>
                <a:ea typeface="Arial" pitchFamily="34" charset="-122"/>
                <a:cs typeface="Arial" pitchFamily="34" charset="-120"/>
              </a:rPr>
              <a:t>Without guardrails, an agent might follow a malicious instruction hidden in a document, leak private data in its answer, call a tool with dangerous arguments, or wander far outside its job. Guardrails are how you keep it inside safe boundaries.</a:t>
            </a:r>
            <a:endParaRPr lang="en-US" sz="1500" dirty="0"/>
          </a:p>
        </p:txBody>
      </p:sp>
      <p:sp>
        <p:nvSpPr>
          <p:cNvPr id="9" name="Shape 6"/>
          <p:cNvSpPr/>
          <p:nvPr/>
        </p:nvSpPr>
        <p:spPr>
          <a:xfrm>
            <a:off x="640080" y="4434840"/>
            <a:ext cx="10881360" cy="1051560"/>
          </a:xfrm>
          <a:prstGeom prst="roundRect">
            <a:avLst>
              <a:gd name="adj" fmla="val 8696"/>
            </a:avLst>
          </a:prstGeom>
          <a:solidFill>
            <a:srgbClr val="F0FDFA"/>
          </a:solidFill>
          <a:ln/>
          <a:effectLst>
            <a:outerShdw sx="100000" sy="100000" kx="0" ky="0" algn="bl" rotWithShape="0" blurRad="88900" dist="38100" dir="5400000">
              <a:srgbClr val="0F2A33">
                <a:alpha val="16000"/>
              </a:srgbClr>
            </a:outerShdw>
          </a:effectLst>
        </p:spPr>
      </p:sp>
      <p:sp>
        <p:nvSpPr>
          <p:cNvPr id="10" name="Shape 7"/>
          <p:cNvSpPr/>
          <p:nvPr/>
        </p:nvSpPr>
        <p:spPr>
          <a:xfrm>
            <a:off x="914400" y="4663440"/>
            <a:ext cx="594360" cy="59436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1068934" y="4817974"/>
            <a:ext cx="285293" cy="285293"/>
          </a:xfrm>
          <a:prstGeom prst="rect">
            <a:avLst/>
          </a:prstGeom>
        </p:spPr>
      </p:pic>
      <p:sp>
        <p:nvSpPr>
          <p:cNvPr id="12" name="Text 8"/>
          <p:cNvSpPr/>
          <p:nvPr/>
        </p:nvSpPr>
        <p:spPr>
          <a:xfrm>
            <a:off x="1737360" y="4526280"/>
            <a:ext cx="9509760" cy="868680"/>
          </a:xfrm>
          <a:prstGeom prst="rect">
            <a:avLst/>
          </a:prstGeom>
          <a:noFill/>
          <a:ln/>
        </p:spPr>
        <p:txBody>
          <a:bodyPr wrap="square" lIns="0" tIns="0" rIns="0" bIns="0" rtlCol="0" anchor="ctr"/>
          <a:lstStyle/>
          <a:p>
            <a:pPr indent="0" marL="0">
              <a:buNone/>
            </a:pPr>
            <a:r>
              <a:rPr lang="en-US" sz="1450" b="1" dirty="0">
                <a:solidFill>
                  <a:srgbClr val="0D9488"/>
                </a:solidFill>
                <a:latin typeface="Arial" pitchFamily="34" charset="0"/>
                <a:ea typeface="Arial" pitchFamily="34" charset="-122"/>
                <a:cs typeface="Arial" pitchFamily="34" charset="-120"/>
              </a:rPr>
              <a:t>Key mindset:  </a:t>
            </a:r>
            <a:pPr indent="0" marL="0">
              <a:buNone/>
            </a:pPr>
            <a:r>
              <a:rPr lang="en-US" sz="1450" dirty="0">
                <a:solidFill>
                  <a:srgbClr val="1E293B"/>
                </a:solidFill>
                <a:latin typeface="Arial" pitchFamily="34" charset="0"/>
                <a:ea typeface="Arial" pitchFamily="34" charset="-122"/>
                <a:cs typeface="Arial" pitchFamily="34" charset="-120"/>
              </a:rPr>
              <a:t>never trust model output blindly. Validate before you act, and constrain what is even possible. You are the last line of defence.</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FOUR KINDS OF GUARDRAIL</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Check the way in, the way out, and the actions</a:t>
            </a:r>
            <a:endParaRPr lang="en-US" sz="3000" dirty="0"/>
          </a:p>
        </p:txBody>
      </p:sp>
      <p:sp>
        <p:nvSpPr>
          <p:cNvPr id="4" name="Shape 2"/>
          <p:cNvSpPr/>
          <p:nvPr/>
        </p:nvSpPr>
        <p:spPr>
          <a:xfrm>
            <a:off x="640080" y="1783080"/>
            <a:ext cx="5349240" cy="1691640"/>
          </a:xfrm>
          <a:prstGeom prst="roundRect">
            <a:avLst>
              <a:gd name="adj" fmla="val 4865"/>
            </a:avLst>
          </a:prstGeom>
          <a:solidFill>
            <a:srgbClr val="F1F5F9"/>
          </a:solidFill>
          <a:ln/>
          <a:effectLst>
            <a:outerShdw sx="100000" sy="100000" kx="0" ky="0" algn="bl" rotWithShape="0" blurRad="88900" dist="38100" dir="5400000">
              <a:srgbClr val="0F2A33">
                <a:alpha val="16000"/>
              </a:srgbClr>
            </a:outerShdw>
          </a:effectLst>
        </p:spPr>
      </p:sp>
      <p:sp>
        <p:nvSpPr>
          <p:cNvPr id="5" name="Shape 3"/>
          <p:cNvSpPr/>
          <p:nvPr/>
        </p:nvSpPr>
        <p:spPr>
          <a:xfrm>
            <a:off x="914400" y="2057400"/>
            <a:ext cx="640080" cy="64008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080821" y="2223821"/>
            <a:ext cx="307238" cy="307238"/>
          </a:xfrm>
          <a:prstGeom prst="rect">
            <a:avLst/>
          </a:prstGeom>
        </p:spPr>
      </p:pic>
      <p:sp>
        <p:nvSpPr>
          <p:cNvPr id="7" name="Text 4"/>
          <p:cNvSpPr/>
          <p:nvPr/>
        </p:nvSpPr>
        <p:spPr>
          <a:xfrm>
            <a:off x="1737360" y="2039112"/>
            <a:ext cx="4114800" cy="54864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Input checks</a:t>
            </a:r>
            <a:endParaRPr lang="en-US" sz="1600" dirty="0"/>
          </a:p>
        </p:txBody>
      </p:sp>
      <p:sp>
        <p:nvSpPr>
          <p:cNvPr id="8" name="Text 5"/>
          <p:cNvSpPr/>
          <p:nvPr/>
        </p:nvSpPr>
        <p:spPr>
          <a:xfrm>
            <a:off x="932688" y="2697480"/>
            <a:ext cx="4846320" cy="731520"/>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Validate and sanitise what comes in. Be wary of instructions hidden in retrieved text.</a:t>
            </a:r>
            <a:endParaRPr lang="en-US" sz="1250" dirty="0"/>
          </a:p>
        </p:txBody>
      </p:sp>
      <p:sp>
        <p:nvSpPr>
          <p:cNvPr id="9" name="Shape 6"/>
          <p:cNvSpPr/>
          <p:nvPr/>
        </p:nvSpPr>
        <p:spPr>
          <a:xfrm>
            <a:off x="6263640" y="1783080"/>
            <a:ext cx="5349240" cy="1691640"/>
          </a:xfrm>
          <a:prstGeom prst="roundRect">
            <a:avLst>
              <a:gd name="adj" fmla="val 4865"/>
            </a:avLst>
          </a:prstGeom>
          <a:solidFill>
            <a:srgbClr val="F1F5F9"/>
          </a:solidFill>
          <a:ln/>
          <a:effectLst>
            <a:outerShdw sx="100000" sy="100000" kx="0" ky="0" algn="bl" rotWithShape="0" blurRad="88900" dist="38100" dir="5400000">
              <a:srgbClr val="0F2A33">
                <a:alpha val="16000"/>
              </a:srgbClr>
            </a:outerShdw>
          </a:effectLst>
        </p:spPr>
      </p:sp>
      <p:sp>
        <p:nvSpPr>
          <p:cNvPr id="10" name="Shape 7"/>
          <p:cNvSpPr/>
          <p:nvPr/>
        </p:nvSpPr>
        <p:spPr>
          <a:xfrm>
            <a:off x="6537960" y="2057400"/>
            <a:ext cx="640080" cy="64008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6704381" y="2223821"/>
            <a:ext cx="307238" cy="307238"/>
          </a:xfrm>
          <a:prstGeom prst="rect">
            <a:avLst/>
          </a:prstGeom>
        </p:spPr>
      </p:pic>
      <p:sp>
        <p:nvSpPr>
          <p:cNvPr id="12" name="Text 8"/>
          <p:cNvSpPr/>
          <p:nvPr/>
        </p:nvSpPr>
        <p:spPr>
          <a:xfrm>
            <a:off x="7360920" y="2039112"/>
            <a:ext cx="4114800" cy="54864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Output checks</a:t>
            </a:r>
            <a:endParaRPr lang="en-US" sz="1600" dirty="0"/>
          </a:p>
        </p:txBody>
      </p:sp>
      <p:sp>
        <p:nvSpPr>
          <p:cNvPr id="13" name="Text 9"/>
          <p:cNvSpPr/>
          <p:nvPr/>
        </p:nvSpPr>
        <p:spPr>
          <a:xfrm>
            <a:off x="6556248" y="2697480"/>
            <a:ext cx="4846320" cy="731520"/>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Filter the answer: no leaked secrets, no unsafe content, right format.</a:t>
            </a:r>
            <a:endParaRPr lang="en-US" sz="1250" dirty="0"/>
          </a:p>
        </p:txBody>
      </p:sp>
      <p:sp>
        <p:nvSpPr>
          <p:cNvPr id="14" name="Shape 10"/>
          <p:cNvSpPr/>
          <p:nvPr/>
        </p:nvSpPr>
        <p:spPr>
          <a:xfrm>
            <a:off x="640080" y="3703320"/>
            <a:ext cx="5349240" cy="1691640"/>
          </a:xfrm>
          <a:prstGeom prst="roundRect">
            <a:avLst>
              <a:gd name="adj" fmla="val 4865"/>
            </a:avLst>
          </a:prstGeom>
          <a:solidFill>
            <a:srgbClr val="F1F5F9"/>
          </a:solidFill>
          <a:ln/>
          <a:effectLst>
            <a:outerShdw sx="100000" sy="100000" kx="0" ky="0" algn="bl" rotWithShape="0" blurRad="88900" dist="38100" dir="5400000">
              <a:srgbClr val="0F2A33">
                <a:alpha val="16000"/>
              </a:srgbClr>
            </a:outerShdw>
          </a:effectLst>
        </p:spPr>
      </p:sp>
      <p:sp>
        <p:nvSpPr>
          <p:cNvPr id="15" name="Shape 11"/>
          <p:cNvSpPr/>
          <p:nvPr/>
        </p:nvSpPr>
        <p:spPr>
          <a:xfrm>
            <a:off x="914400" y="3977640"/>
            <a:ext cx="640080" cy="64008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6" name="Image 2" descr="preencoded.png">    </p:cNvPr>
          <p:cNvPicPr>
            <a:picLocks noChangeAspect="1"/>
          </p:cNvPicPr>
          <p:nvPr/>
        </p:nvPicPr>
        <p:blipFill>
          <a:blip r:embed="rId3"/>
          <a:stretch>
            <a:fillRect/>
          </a:stretch>
        </p:blipFill>
        <p:spPr>
          <a:xfrm>
            <a:off x="1080821" y="4144061"/>
            <a:ext cx="307238" cy="307238"/>
          </a:xfrm>
          <a:prstGeom prst="rect">
            <a:avLst/>
          </a:prstGeom>
        </p:spPr>
      </p:pic>
      <p:sp>
        <p:nvSpPr>
          <p:cNvPr id="17" name="Text 12"/>
          <p:cNvSpPr/>
          <p:nvPr/>
        </p:nvSpPr>
        <p:spPr>
          <a:xfrm>
            <a:off x="1737360" y="3959352"/>
            <a:ext cx="4114800" cy="54864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Action limits</a:t>
            </a:r>
            <a:endParaRPr lang="en-US" sz="1600" dirty="0"/>
          </a:p>
        </p:txBody>
      </p:sp>
      <p:sp>
        <p:nvSpPr>
          <p:cNvPr id="18" name="Text 13"/>
          <p:cNvSpPr/>
          <p:nvPr/>
        </p:nvSpPr>
        <p:spPr>
          <a:xfrm>
            <a:off x="932688" y="4617720"/>
            <a:ext cx="4846320" cy="731520"/>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Allow only specific tools, validate their arguments, cap what they can affect.</a:t>
            </a:r>
            <a:endParaRPr lang="en-US" sz="1250" dirty="0"/>
          </a:p>
        </p:txBody>
      </p:sp>
      <p:sp>
        <p:nvSpPr>
          <p:cNvPr id="19" name="Shape 14"/>
          <p:cNvSpPr/>
          <p:nvPr/>
        </p:nvSpPr>
        <p:spPr>
          <a:xfrm>
            <a:off x="6263640" y="3703320"/>
            <a:ext cx="5349240" cy="1691640"/>
          </a:xfrm>
          <a:prstGeom prst="roundRect">
            <a:avLst>
              <a:gd name="adj" fmla="val 4865"/>
            </a:avLst>
          </a:prstGeom>
          <a:solidFill>
            <a:srgbClr val="F1F5F9"/>
          </a:solidFill>
          <a:ln/>
          <a:effectLst>
            <a:outerShdw sx="100000" sy="100000" kx="0" ky="0" algn="bl" rotWithShape="0" blurRad="88900" dist="38100" dir="5400000">
              <a:srgbClr val="0F2A33">
                <a:alpha val="16000"/>
              </a:srgbClr>
            </a:outerShdw>
          </a:effectLst>
        </p:spPr>
      </p:sp>
      <p:sp>
        <p:nvSpPr>
          <p:cNvPr id="20" name="Shape 15"/>
          <p:cNvSpPr/>
          <p:nvPr/>
        </p:nvSpPr>
        <p:spPr>
          <a:xfrm>
            <a:off x="6537960" y="3977640"/>
            <a:ext cx="640080" cy="64008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21" name="Image 3" descr="preencoded.png">    </p:cNvPr>
          <p:cNvPicPr>
            <a:picLocks noChangeAspect="1"/>
          </p:cNvPicPr>
          <p:nvPr/>
        </p:nvPicPr>
        <p:blipFill>
          <a:blip r:embed="rId4"/>
          <a:stretch>
            <a:fillRect/>
          </a:stretch>
        </p:blipFill>
        <p:spPr>
          <a:xfrm>
            <a:off x="6704381" y="4144061"/>
            <a:ext cx="307238" cy="307238"/>
          </a:xfrm>
          <a:prstGeom prst="rect">
            <a:avLst/>
          </a:prstGeom>
        </p:spPr>
      </p:pic>
      <p:sp>
        <p:nvSpPr>
          <p:cNvPr id="22" name="Text 16"/>
          <p:cNvSpPr/>
          <p:nvPr/>
        </p:nvSpPr>
        <p:spPr>
          <a:xfrm>
            <a:off x="7360920" y="3959352"/>
            <a:ext cx="4114800" cy="54864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Scope limits</a:t>
            </a:r>
            <a:endParaRPr lang="en-US" sz="1600" dirty="0"/>
          </a:p>
        </p:txBody>
      </p:sp>
      <p:sp>
        <p:nvSpPr>
          <p:cNvPr id="23" name="Text 17"/>
          <p:cNvSpPr/>
          <p:nvPr/>
        </p:nvSpPr>
        <p:spPr>
          <a:xfrm>
            <a:off x="6556248" y="4617720"/>
            <a:ext cx="4846320" cy="731520"/>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Keep the agent on its task. Refuse requests outside what it is for.</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GUARDRAILS  -  CODE</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An allow-list and argument checks before acting</a:t>
            </a:r>
            <a:endParaRPr lang="en-US" sz="3000" dirty="0"/>
          </a:p>
        </p:txBody>
      </p:sp>
      <p:sp>
        <p:nvSpPr>
          <p:cNvPr id="4" name="Shape 2"/>
          <p:cNvSpPr/>
          <p:nvPr/>
        </p:nvSpPr>
        <p:spPr>
          <a:xfrm>
            <a:off x="640080" y="1691640"/>
            <a:ext cx="7680960" cy="4251960"/>
          </a:xfrm>
          <a:prstGeom prst="roundRect">
            <a:avLst>
              <a:gd name="adj" fmla="val 1290"/>
            </a:avLst>
          </a:prstGeom>
          <a:solidFill>
            <a:srgbClr val="0B2229"/>
          </a:solidFill>
          <a:ln/>
          <a:effectLst>
            <a:outerShdw sx="100000" sy="100000" kx="0" ky="0" algn="bl" rotWithShape="0" blurRad="88900" dist="38100" dir="5400000">
              <a:srgbClr val="0F2A33">
                <a:alpha val="16000"/>
              </a:srgbClr>
            </a:outerShdw>
          </a:effectLst>
        </p:spPr>
      </p:sp>
      <p:sp>
        <p:nvSpPr>
          <p:cNvPr id="5" name="Text 3"/>
          <p:cNvSpPr/>
          <p:nvPr/>
        </p:nvSpPr>
        <p:spPr>
          <a:xfrm>
            <a:off x="841248" y="1837944"/>
            <a:ext cx="7278624" cy="3959352"/>
          </a:xfrm>
          <a:prstGeom prst="rect">
            <a:avLst/>
          </a:prstGeom>
          <a:noFill/>
          <a:ln/>
        </p:spPr>
        <p:txBody>
          <a:bodyPr wrap="square" lIns="0" tIns="0" rIns="0" bIns="0" rtlCol="0" anchor="t"/>
          <a:lstStyle/>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ALLOWED = {</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"get_weather"</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"calculate"</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a:t>
            </a:r>
            <a:endParaRPr lang="en-US" sz="1150" dirty="0"/>
          </a:p>
          <a:p>
            <a:pPr indent="0" marL="0">
              <a:lnSpc>
                <a:spcPct val="106000"/>
              </a:lnSpc>
              <a:buNone/>
            </a:pPr>
            <a:r>
              <a:rPr lang="en-US" sz="1150" dirty="0">
                <a:solidFill>
                  <a:srgbClr val="5EEAD4"/>
                </a:solidFill>
                <a:latin typeface="Courier New" pitchFamily="34" charset="0"/>
                <a:ea typeface="Courier New" pitchFamily="34" charset="-122"/>
                <a:cs typeface="Courier New" pitchFamily="34" charset="-120"/>
              </a:rPr>
              <a:t>def </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guarded_call</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(name, args, tools_map):</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7DD3C8"/>
                </a:solidFill>
                <a:latin typeface="Courier New" pitchFamily="34" charset="0"/>
                <a:ea typeface="Courier New" pitchFamily="34" charset="-122"/>
                <a:cs typeface="Courier New" pitchFamily="34" charset="-120"/>
              </a:rPr>
              <a:t># 1. only permitted tools may run</a:t>
            </a:r>
            <a:endParaRPr lang="en-US" sz="1150" dirty="0"/>
          </a:p>
          <a:p>
            <a:pPr indent="0" marL="0">
              <a:lnSpc>
                <a:spcPct val="106000"/>
              </a:lnSpc>
              <a:buNone/>
            </a:pPr>
            <a:r>
              <a:rPr lang="en-US" sz="1150" dirty="0">
                <a:solidFill>
                  <a:srgbClr val="5EEAD4"/>
                </a:solidFill>
                <a:latin typeface="Courier New" pitchFamily="34" charset="0"/>
                <a:ea typeface="Courier New" pitchFamily="34" charset="-122"/>
                <a:cs typeface="Courier New" pitchFamily="34" charset="-120"/>
              </a:rPr>
              <a:t>    if </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name </a:t>
            </a:r>
            <a:pPr indent="0" marL="0">
              <a:lnSpc>
                <a:spcPct val="106000"/>
              </a:lnSpc>
              <a:buNone/>
            </a:pPr>
            <a:r>
              <a:rPr lang="en-US" sz="1150" dirty="0">
                <a:solidFill>
                  <a:srgbClr val="5EEAD4"/>
                </a:solidFill>
                <a:latin typeface="Courier New" pitchFamily="34" charset="0"/>
                <a:ea typeface="Courier New" pitchFamily="34" charset="-122"/>
                <a:cs typeface="Courier New" pitchFamily="34" charset="-120"/>
              </a:rPr>
              <a:t>not in </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ALLOWED:</a:t>
            </a:r>
            <a:endParaRPr lang="en-US" sz="1150" dirty="0"/>
          </a:p>
          <a:p>
            <a:pPr indent="0" marL="0">
              <a:lnSpc>
                <a:spcPct val="106000"/>
              </a:lnSpc>
              <a:buNone/>
            </a:pPr>
            <a:r>
              <a:rPr lang="en-US" sz="1150" dirty="0">
                <a:solidFill>
                  <a:srgbClr val="5EEAD4"/>
                </a:solidFill>
                <a:latin typeface="Courier New" pitchFamily="34" charset="0"/>
                <a:ea typeface="Courier New" pitchFamily="34" charset="-122"/>
                <a:cs typeface="Courier New" pitchFamily="34" charset="-120"/>
              </a:rPr>
              <a:t>        return </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f"Blocked: {name} is not allowed."</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7DD3C8"/>
                </a:solidFill>
                <a:latin typeface="Courier New" pitchFamily="34" charset="0"/>
                <a:ea typeface="Courier New" pitchFamily="34" charset="-122"/>
                <a:cs typeface="Courier New" pitchFamily="34" charset="-120"/>
              </a:rPr>
              <a:t># 2. validate arguments before acting</a:t>
            </a:r>
            <a:endParaRPr lang="en-US" sz="1150" dirty="0"/>
          </a:p>
          <a:p>
            <a:pPr indent="0" marL="0">
              <a:lnSpc>
                <a:spcPct val="106000"/>
              </a:lnSpc>
              <a:buNone/>
            </a:pPr>
            <a:r>
              <a:rPr lang="en-US" sz="1150" dirty="0">
                <a:solidFill>
                  <a:srgbClr val="5EEAD4"/>
                </a:solidFill>
                <a:latin typeface="Courier New" pitchFamily="34" charset="0"/>
                <a:ea typeface="Courier New" pitchFamily="34" charset="-122"/>
                <a:cs typeface="Courier New" pitchFamily="34" charset="-120"/>
              </a:rPr>
              <a:t>    if </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name == </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"calculate" </a:t>
            </a:r>
            <a:pPr indent="0" marL="0">
              <a:lnSpc>
                <a:spcPct val="106000"/>
              </a:lnSpc>
              <a:buNone/>
            </a:pPr>
            <a:r>
              <a:rPr lang="en-US" sz="1150" dirty="0">
                <a:solidFill>
                  <a:srgbClr val="5EEAD4"/>
                </a:solidFill>
                <a:latin typeface="Courier New" pitchFamily="34" charset="0"/>
                <a:ea typeface="Courier New" pitchFamily="34" charset="-122"/>
                <a:cs typeface="Courier New" pitchFamily="34" charset="-120"/>
              </a:rPr>
              <a:t>and </a:t>
            </a:r>
            <a:pPr indent="0" marL="0">
              <a:lnSpc>
                <a:spcPct val="106000"/>
              </a:lnSpc>
              <a:buNone/>
            </a:pPr>
            <a:r>
              <a:rPr lang="en-US" sz="1150" dirty="0">
                <a:solidFill>
                  <a:srgbClr val="14B8A6"/>
                </a:solidFill>
                <a:latin typeface="Courier New" pitchFamily="34" charset="0"/>
                <a:ea typeface="Courier New" pitchFamily="34" charset="-122"/>
                <a:cs typeface="Courier New" pitchFamily="34" charset="-120"/>
              </a:rPr>
              <a:t>len</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(args.get(</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"expression"</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&gt; </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100</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5EEAD4"/>
                </a:solidFill>
                <a:latin typeface="Courier New" pitchFamily="34" charset="0"/>
                <a:ea typeface="Courier New" pitchFamily="34" charset="-122"/>
                <a:cs typeface="Courier New" pitchFamily="34" charset="-120"/>
              </a:rPr>
              <a:t>        return </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"Blocked: expression too long."</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7DD3C8"/>
                </a:solidFill>
                <a:latin typeface="Courier New" pitchFamily="34" charset="0"/>
                <a:ea typeface="Courier New" pitchFamily="34" charset="-122"/>
                <a:cs typeface="Courier New" pitchFamily="34" charset="-120"/>
              </a:rPr>
              <a:t># 3. safe to run</a:t>
            </a:r>
            <a:endParaRPr lang="en-US" sz="1150" dirty="0"/>
          </a:p>
          <a:p>
            <a:pPr indent="0" marL="0">
              <a:lnSpc>
                <a:spcPct val="106000"/>
              </a:lnSpc>
              <a:buNone/>
            </a:pPr>
            <a:r>
              <a:rPr lang="en-US" sz="1150" dirty="0">
                <a:solidFill>
                  <a:srgbClr val="5EEAD4"/>
                </a:solidFill>
                <a:latin typeface="Courier New" pitchFamily="34" charset="0"/>
                <a:ea typeface="Courier New" pitchFamily="34" charset="-122"/>
                <a:cs typeface="Courier New" pitchFamily="34" charset="-120"/>
              </a:rPr>
              <a:t>    try</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5EEAD4"/>
                </a:solidFill>
                <a:latin typeface="Courier New" pitchFamily="34" charset="0"/>
                <a:ea typeface="Courier New" pitchFamily="34" charset="-122"/>
                <a:cs typeface="Courier New" pitchFamily="34" charset="-120"/>
              </a:rPr>
              <a:t>        return </a:t>
            </a:r>
            <a:pPr indent="0" marL="0">
              <a:lnSpc>
                <a:spcPct val="106000"/>
              </a:lnSpc>
              <a:buNone/>
            </a:pPr>
            <a:r>
              <a:rPr lang="en-US" sz="1150" dirty="0">
                <a:solidFill>
                  <a:srgbClr val="14B8A6"/>
                </a:solidFill>
                <a:latin typeface="Courier New" pitchFamily="34" charset="0"/>
                <a:ea typeface="Courier New" pitchFamily="34" charset="-122"/>
                <a:cs typeface="Courier New" pitchFamily="34" charset="-120"/>
              </a:rPr>
              <a:t>str</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(tools_map[name](**args))</a:t>
            </a:r>
            <a:endParaRPr lang="en-US" sz="1150" dirty="0"/>
          </a:p>
          <a:p>
            <a:pPr indent="0" marL="0">
              <a:lnSpc>
                <a:spcPct val="106000"/>
              </a:lnSpc>
              <a:buNone/>
            </a:pPr>
            <a:r>
              <a:rPr lang="en-US" sz="1150" dirty="0">
                <a:solidFill>
                  <a:srgbClr val="5EEAD4"/>
                </a:solidFill>
                <a:latin typeface="Courier New" pitchFamily="34" charset="0"/>
                <a:ea typeface="Courier New" pitchFamily="34" charset="-122"/>
                <a:cs typeface="Courier New" pitchFamily="34" charset="-120"/>
              </a:rPr>
              <a:t>    except </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Exception </a:t>
            </a:r>
            <a:pPr indent="0" marL="0">
              <a:lnSpc>
                <a:spcPct val="106000"/>
              </a:lnSpc>
              <a:buNone/>
            </a:pPr>
            <a:r>
              <a:rPr lang="en-US" sz="1150" dirty="0">
                <a:solidFill>
                  <a:srgbClr val="5EEAD4"/>
                </a:solidFill>
                <a:latin typeface="Courier New" pitchFamily="34" charset="0"/>
                <a:ea typeface="Courier New" pitchFamily="34" charset="-122"/>
                <a:cs typeface="Courier New" pitchFamily="34" charset="-120"/>
              </a:rPr>
              <a:t>as </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e:</a:t>
            </a:r>
            <a:endParaRPr lang="en-US" sz="1150" dirty="0"/>
          </a:p>
          <a:p>
            <a:pPr indent="0" marL="0">
              <a:lnSpc>
                <a:spcPct val="106000"/>
              </a:lnSpc>
              <a:buNone/>
            </a:pPr>
            <a:r>
              <a:rPr lang="en-US" sz="1150" dirty="0">
                <a:solidFill>
                  <a:srgbClr val="5EEAD4"/>
                </a:solidFill>
                <a:latin typeface="Courier New" pitchFamily="34" charset="0"/>
                <a:ea typeface="Courier New" pitchFamily="34" charset="-122"/>
                <a:cs typeface="Courier New" pitchFamily="34" charset="-120"/>
              </a:rPr>
              <a:t>        return </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f"Tool error: {e}"</a:t>
            </a:r>
            <a:endParaRPr lang="en-US" sz="1150" dirty="0"/>
          </a:p>
        </p:txBody>
      </p:sp>
      <p:sp>
        <p:nvSpPr>
          <p:cNvPr id="6" name="Shape 4"/>
          <p:cNvSpPr/>
          <p:nvPr/>
        </p:nvSpPr>
        <p:spPr>
          <a:xfrm>
            <a:off x="8503920" y="1691640"/>
            <a:ext cx="3017520" cy="4251960"/>
          </a:xfrm>
          <a:prstGeom prst="roundRect">
            <a:avLst>
              <a:gd name="adj" fmla="val 2727"/>
            </a:avLst>
          </a:prstGeom>
          <a:solidFill>
            <a:srgbClr val="F0FDFA"/>
          </a:solidFill>
          <a:ln/>
          <a:effectLst>
            <a:outerShdw sx="100000" sy="100000" kx="0" ky="0" algn="bl" rotWithShape="0" blurRad="88900" dist="38100" dir="5400000">
              <a:srgbClr val="0F2A33">
                <a:alpha val="16000"/>
              </a:srgbClr>
            </a:outerShdw>
          </a:effectLst>
        </p:spPr>
      </p:sp>
      <p:sp>
        <p:nvSpPr>
          <p:cNvPr id="7" name="Text 5"/>
          <p:cNvSpPr/>
          <p:nvPr/>
        </p:nvSpPr>
        <p:spPr>
          <a:xfrm>
            <a:off x="8686800" y="1874520"/>
            <a:ext cx="2743200" cy="365760"/>
          </a:xfrm>
          <a:prstGeom prst="rect">
            <a:avLst/>
          </a:prstGeom>
          <a:noFill/>
          <a:ln/>
        </p:spPr>
        <p:txBody>
          <a:bodyPr wrap="square" lIns="0" tIns="0" rIns="0" bIns="0" rtlCol="0" anchor="ctr"/>
          <a:lstStyle/>
          <a:p>
            <a:pPr indent="0" marL="0">
              <a:buNone/>
            </a:pPr>
            <a:r>
              <a:rPr lang="en-US" sz="1600" b="1" dirty="0">
                <a:solidFill>
                  <a:srgbClr val="0D9488"/>
                </a:solidFill>
                <a:latin typeface="Arial" pitchFamily="34" charset="0"/>
                <a:ea typeface="Arial" pitchFamily="34" charset="-122"/>
                <a:cs typeface="Arial" pitchFamily="34" charset="-120"/>
              </a:rPr>
              <a:t>Notice</a:t>
            </a:r>
            <a:endParaRPr lang="en-US" sz="1600" dirty="0"/>
          </a:p>
        </p:txBody>
      </p:sp>
      <p:sp>
        <p:nvSpPr>
          <p:cNvPr id="8" name="Text 6"/>
          <p:cNvSpPr/>
          <p:nvPr/>
        </p:nvSpPr>
        <p:spPr>
          <a:xfrm>
            <a:off x="8732520" y="2286000"/>
            <a:ext cx="2697480" cy="3474720"/>
          </a:xfrm>
          <a:prstGeom prst="rect">
            <a:avLst/>
          </a:prstGeom>
          <a:noFill/>
          <a:ln/>
        </p:spPr>
        <p:txBody>
          <a:bodyPr wrap="square" lIns="0" tIns="0" rIns="0" bIns="0" rtlCol="0" anchor="ctr"/>
          <a:lstStyle/>
          <a:p>
            <a:pPr marL="342900" indent="-342900">
              <a:spcAft>
                <a:spcPts val="1100"/>
              </a:spcAft>
              <a:buSzPct val="100000"/>
              <a:buChar char="•"/>
            </a:pPr>
            <a:r>
              <a:rPr lang="en-US" sz="1200" dirty="0">
                <a:solidFill>
                  <a:srgbClr val="1E293B"/>
                </a:solidFill>
                <a:latin typeface="Arial" pitchFamily="34" charset="0"/>
                <a:ea typeface="Arial" pitchFamily="34" charset="-122"/>
                <a:cs typeface="Arial" pitchFamily="34" charset="-120"/>
              </a:rPr>
              <a:t>An allow-list blocks any tool you did not approve.</a:t>
            </a:r>
            <a:endParaRPr lang="en-US" sz="1200" dirty="0"/>
          </a:p>
          <a:p>
            <a:pPr marL="342900" indent="-342900">
              <a:spcAft>
                <a:spcPts val="1100"/>
              </a:spcAft>
              <a:buSzPct val="100000"/>
              <a:buChar char="•"/>
            </a:pPr>
            <a:r>
              <a:rPr lang="en-US" sz="1200" dirty="0">
                <a:solidFill>
                  <a:srgbClr val="1E293B"/>
                </a:solidFill>
                <a:latin typeface="Arial" pitchFamily="34" charset="0"/>
                <a:ea typeface="Arial" pitchFamily="34" charset="-122"/>
                <a:cs typeface="Arial" pitchFamily="34" charset="-120"/>
              </a:rPr>
              <a:t>Arguments are checked before the tool runs.</a:t>
            </a:r>
            <a:endParaRPr lang="en-US" sz="1200" dirty="0"/>
          </a:p>
          <a:p>
            <a:pPr marL="342900" indent="-342900">
              <a:spcAft>
                <a:spcPts val="1100"/>
              </a:spcAft>
              <a:buSzPct val="100000"/>
              <a:buChar char="•"/>
            </a:pPr>
            <a:r>
              <a:rPr lang="en-US" sz="1200" dirty="0">
                <a:solidFill>
                  <a:srgbClr val="1E293B"/>
                </a:solidFill>
                <a:latin typeface="Arial" pitchFamily="34" charset="0"/>
                <a:ea typeface="Arial" pitchFamily="34" charset="-122"/>
                <a:cs typeface="Arial" pitchFamily="34" charset="-120"/>
              </a:rPr>
              <a:t>Errors come back as text, never a crash.</a:t>
            </a:r>
            <a:endParaRPr lang="en-US" sz="1200" dirty="0"/>
          </a:p>
          <a:p>
            <a:pPr marL="342900" indent="-342900">
              <a:spcAft>
                <a:spcPts val="1100"/>
              </a:spcAft>
              <a:buSzPct val="100000"/>
              <a:buChar char="•"/>
            </a:pPr>
            <a:r>
              <a:rPr lang="en-US" sz="1200" dirty="0">
                <a:solidFill>
                  <a:srgbClr val="1E293B"/>
                </a:solidFill>
                <a:latin typeface="Arial" pitchFamily="34" charset="0"/>
                <a:ea typeface="Arial" pitchFamily="34" charset="-122"/>
                <a:cs typeface="Arial" pitchFamily="34" charset="-120"/>
              </a:rPr>
              <a:t>This replaces the raw tool call in your loop.</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KNOWING IT WORKS</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A quick word on evaluation</a:t>
            </a:r>
            <a:endParaRPr lang="en-US" sz="3000" dirty="0"/>
          </a:p>
        </p:txBody>
      </p:sp>
      <p:sp>
        <p:nvSpPr>
          <p:cNvPr id="4" name="Shape 2"/>
          <p:cNvSpPr/>
          <p:nvPr/>
        </p:nvSpPr>
        <p:spPr>
          <a:xfrm>
            <a:off x="640080" y="1783080"/>
            <a:ext cx="10881360" cy="1188720"/>
          </a:xfrm>
          <a:prstGeom prst="roundRect">
            <a:avLst>
              <a:gd name="adj" fmla="val 6923"/>
            </a:avLst>
          </a:prstGeom>
          <a:solidFill>
            <a:srgbClr val="0F2A33"/>
          </a:solidFill>
          <a:ln/>
          <a:effectLst>
            <a:outerShdw sx="100000" sy="100000" kx="0" ky="0" algn="bl" rotWithShape="0" blurRad="88900" dist="38100" dir="5400000">
              <a:srgbClr val="0F2A33">
                <a:alpha val="16000"/>
              </a:srgbClr>
            </a:outerShdw>
          </a:effectLst>
        </p:spPr>
      </p:sp>
      <p:sp>
        <p:nvSpPr>
          <p:cNvPr id="5" name="Shape 3"/>
          <p:cNvSpPr/>
          <p:nvPr/>
        </p:nvSpPr>
        <p:spPr>
          <a:xfrm>
            <a:off x="914400" y="1993392"/>
            <a:ext cx="777240" cy="7772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16482" y="2195474"/>
            <a:ext cx="373075" cy="373075"/>
          </a:xfrm>
          <a:prstGeom prst="rect">
            <a:avLst/>
          </a:prstGeom>
        </p:spPr>
      </p:pic>
      <p:sp>
        <p:nvSpPr>
          <p:cNvPr id="7" name="Text 4"/>
          <p:cNvSpPr/>
          <p:nvPr/>
        </p:nvSpPr>
        <p:spPr>
          <a:xfrm>
            <a:off x="1920240" y="1847088"/>
            <a:ext cx="9326880" cy="1051560"/>
          </a:xfrm>
          <a:prstGeom prst="rect">
            <a:avLst/>
          </a:prstGeom>
          <a:noFill/>
          <a:ln/>
        </p:spPr>
        <p:txBody>
          <a:bodyPr wrap="square" lIns="0" tIns="0" rIns="0" bIns="0" rtlCol="0" anchor="ctr"/>
          <a:lstStyle/>
          <a:p>
            <a:pPr indent="0" marL="0">
              <a:buNone/>
            </a:pPr>
            <a:r>
              <a:rPr lang="en-US" sz="1600" b="1" dirty="0">
                <a:solidFill>
                  <a:srgbClr val="5EEAD4"/>
                </a:solidFill>
                <a:latin typeface="Arial" pitchFamily="34" charset="0"/>
                <a:ea typeface="Arial" pitchFamily="34" charset="-122"/>
                <a:cs typeface="Arial" pitchFamily="34" charset="-120"/>
              </a:rPr>
              <a:t>How do you know your agent is any good? </a:t>
            </a:r>
            <a:pPr indent="0" marL="0">
              <a:buNone/>
            </a:pPr>
            <a:r>
              <a:rPr lang="en-US" sz="1600" dirty="0">
                <a:solidFill>
                  <a:srgbClr val="FFFFFF"/>
                </a:solidFill>
                <a:latin typeface="Arial" pitchFamily="34" charset="0"/>
                <a:ea typeface="Arial" pitchFamily="34" charset="-122"/>
                <a:cs typeface="Arial" pitchFamily="34" charset="-120"/>
              </a:rPr>
              <a:t>You test it. Build a small set of questions with known answers, run the agent, and check how many it gets right.</a:t>
            </a:r>
            <a:endParaRPr lang="en-US" sz="1600" dirty="0"/>
          </a:p>
        </p:txBody>
      </p:sp>
      <p:sp>
        <p:nvSpPr>
          <p:cNvPr id="8" name="Shape 5"/>
          <p:cNvSpPr/>
          <p:nvPr/>
        </p:nvSpPr>
        <p:spPr>
          <a:xfrm>
            <a:off x="640080" y="3200400"/>
            <a:ext cx="6949440" cy="2377440"/>
          </a:xfrm>
          <a:prstGeom prst="roundRect">
            <a:avLst>
              <a:gd name="adj" fmla="val 2308"/>
            </a:avLst>
          </a:prstGeom>
          <a:solidFill>
            <a:srgbClr val="0B2229"/>
          </a:solidFill>
          <a:ln/>
          <a:effectLst>
            <a:outerShdw sx="100000" sy="100000" kx="0" ky="0" algn="bl" rotWithShape="0" blurRad="88900" dist="38100" dir="5400000">
              <a:srgbClr val="0F2A33">
                <a:alpha val="16000"/>
              </a:srgbClr>
            </a:outerShdw>
          </a:effectLst>
        </p:spPr>
      </p:sp>
      <p:sp>
        <p:nvSpPr>
          <p:cNvPr id="9" name="Text 6"/>
          <p:cNvSpPr/>
          <p:nvPr/>
        </p:nvSpPr>
        <p:spPr>
          <a:xfrm>
            <a:off x="841248" y="3346704"/>
            <a:ext cx="6547104" cy="2084832"/>
          </a:xfrm>
          <a:prstGeom prst="rect">
            <a:avLst/>
          </a:prstGeom>
          <a:noFill/>
          <a:ln/>
        </p:spPr>
        <p:txBody>
          <a:bodyPr wrap="square" lIns="0" tIns="0" rIns="0" bIns="0" rtlCol="0" anchor="t"/>
          <a:lstStyle/>
          <a:p>
            <a:pPr indent="0" marL="0">
              <a:lnSpc>
                <a:spcPct val="106000"/>
              </a:lnSpc>
              <a:buNone/>
            </a:pPr>
            <a:r>
              <a:rPr lang="en-US" sz="1200" dirty="0">
                <a:solidFill>
                  <a:srgbClr val="7DD3C8"/>
                </a:solidFill>
                <a:latin typeface="Courier New" pitchFamily="34" charset="0"/>
                <a:ea typeface="Courier New" pitchFamily="34" charset="-122"/>
                <a:cs typeface="Courier New" pitchFamily="34" charset="-120"/>
              </a:rPr>
              <a:t># a tiny golden set: question and expected substring</a:t>
            </a:r>
            <a:endParaRPr lang="en-US" sz="1200" dirty="0"/>
          </a:p>
          <a:p>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golden = [(</a:t>
            </a:r>
            <a:pPr indent="0" marL="0">
              <a:lnSpc>
                <a:spcPct val="106000"/>
              </a:lnSpc>
              <a:buNone/>
            </a:pPr>
            <a:r>
              <a:rPr lang="en-US" sz="1200" dirty="0">
                <a:solidFill>
                  <a:srgbClr val="FCD34D"/>
                </a:solidFill>
                <a:latin typeface="Courier New" pitchFamily="34" charset="0"/>
                <a:ea typeface="Courier New" pitchFamily="34" charset="-122"/>
                <a:cs typeface="Courier New" pitchFamily="34" charset="-120"/>
              </a:rPr>
              <a:t>"Weather in Pune?"</a:t>
            </a:r>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FCD34D"/>
                </a:solidFill>
                <a:latin typeface="Courier New" pitchFamily="34" charset="0"/>
                <a:ea typeface="Courier New" pitchFamily="34" charset="-122"/>
                <a:cs typeface="Courier New" pitchFamily="34" charset="-120"/>
              </a:rPr>
              <a:t>"31"</a:t>
            </a:r>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FCD34D"/>
                </a:solidFill>
                <a:latin typeface="Courier New" pitchFamily="34" charset="0"/>
                <a:ea typeface="Courier New" pitchFamily="34" charset="-122"/>
                <a:cs typeface="Courier New" pitchFamily="34" charset="-120"/>
              </a:rPr>
              <a:t>"What is 6 times 7?"</a:t>
            </a:r>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FCD34D"/>
                </a:solidFill>
                <a:latin typeface="Courier New" pitchFamily="34" charset="0"/>
                <a:ea typeface="Courier New" pitchFamily="34" charset="-122"/>
                <a:cs typeface="Courier New" pitchFamily="34" charset="-120"/>
              </a:rPr>
              <a:t>"42"</a:t>
            </a:r>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 </a:t>
            </a:r>
            <a:endParaRPr lang="en-US" sz="1200" dirty="0"/>
          </a:p>
          <a:p>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score = </a:t>
            </a:r>
            <a:pPr indent="0" marL="0">
              <a:lnSpc>
                <a:spcPct val="106000"/>
              </a:lnSpc>
              <a:buNone/>
            </a:pPr>
            <a:r>
              <a:rPr lang="en-US" sz="1200" dirty="0">
                <a:solidFill>
                  <a:srgbClr val="14B8A6"/>
                </a:solidFill>
                <a:latin typeface="Courier New" pitchFamily="34" charset="0"/>
                <a:ea typeface="Courier New" pitchFamily="34" charset="-122"/>
                <a:cs typeface="Courier New" pitchFamily="34" charset="-120"/>
              </a:rPr>
              <a:t>sum</a:t>
            </a:r>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(expected </a:t>
            </a:r>
            <a:pPr indent="0" marL="0">
              <a:lnSpc>
                <a:spcPct val="106000"/>
              </a:lnSpc>
              <a:buNone/>
            </a:pPr>
            <a:r>
              <a:rPr lang="en-US" sz="1200" dirty="0">
                <a:solidFill>
                  <a:srgbClr val="5EEAD4"/>
                </a:solidFill>
                <a:latin typeface="Courier New" pitchFamily="34" charset="0"/>
                <a:ea typeface="Courier New" pitchFamily="34" charset="-122"/>
                <a:cs typeface="Courier New" pitchFamily="34" charset="-120"/>
              </a:rPr>
              <a:t>in </a:t>
            </a:r>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run(q)</a:t>
            </a:r>
            <a:endParaRPr lang="en-US" sz="1200" dirty="0"/>
          </a:p>
          <a:p>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5EEAD4"/>
                </a:solidFill>
                <a:latin typeface="Courier New" pitchFamily="34" charset="0"/>
                <a:ea typeface="Courier New" pitchFamily="34" charset="-122"/>
                <a:cs typeface="Courier New" pitchFamily="34" charset="-120"/>
              </a:rPr>
              <a:t>for </a:t>
            </a:r>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q, expected </a:t>
            </a:r>
            <a:pPr indent="0" marL="0">
              <a:lnSpc>
                <a:spcPct val="106000"/>
              </a:lnSpc>
              <a:buNone/>
            </a:pPr>
            <a:r>
              <a:rPr lang="en-US" sz="1200" dirty="0">
                <a:solidFill>
                  <a:srgbClr val="5EEAD4"/>
                </a:solidFill>
                <a:latin typeface="Courier New" pitchFamily="34" charset="0"/>
                <a:ea typeface="Courier New" pitchFamily="34" charset="-122"/>
                <a:cs typeface="Courier New" pitchFamily="34" charset="-120"/>
              </a:rPr>
              <a:t>in </a:t>
            </a:r>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golden)</a:t>
            </a:r>
            <a:endParaRPr lang="en-US" sz="1200" dirty="0"/>
          </a:p>
          <a:p>
            <a:pPr indent="0" marL="0">
              <a:lnSpc>
                <a:spcPct val="106000"/>
              </a:lnSpc>
              <a:buNone/>
            </a:pPr>
            <a:r>
              <a:rPr lang="en-US" sz="1200" dirty="0">
                <a:solidFill>
                  <a:srgbClr val="5EEAD4"/>
                </a:solidFill>
                <a:latin typeface="Courier New" pitchFamily="34" charset="0"/>
                <a:ea typeface="Courier New" pitchFamily="34" charset="-122"/>
                <a:cs typeface="Courier New" pitchFamily="34" charset="-120"/>
              </a:rPr>
              <a:t>print</a:t>
            </a:r>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FCD34D"/>
                </a:solidFill>
                <a:latin typeface="Courier New" pitchFamily="34" charset="0"/>
                <a:ea typeface="Courier New" pitchFamily="34" charset="-122"/>
                <a:cs typeface="Courier New" pitchFamily="34" charset="-120"/>
              </a:rPr>
              <a:t>f"passed {score} of {len(golden)}"</a:t>
            </a:r>
            <a:pPr indent="0" marL="0">
              <a:lnSpc>
                <a:spcPct val="106000"/>
              </a:lnSpc>
              <a:buNone/>
            </a:pPr>
            <a:r>
              <a:rPr lang="en-US" sz="1200" dirty="0">
                <a:solidFill>
                  <a:srgbClr val="E2E8F0"/>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772400" y="3200400"/>
            <a:ext cx="3749040" cy="2377440"/>
          </a:xfrm>
          <a:prstGeom prst="roundRect">
            <a:avLst>
              <a:gd name="adj" fmla="val 3462"/>
            </a:avLst>
          </a:prstGeom>
          <a:solidFill>
            <a:srgbClr val="F0FDFA"/>
          </a:solidFill>
          <a:ln/>
          <a:effectLst>
            <a:outerShdw sx="100000" sy="100000" kx="0" ky="0" algn="bl" rotWithShape="0" blurRad="88900" dist="38100" dir="5400000">
              <a:srgbClr val="0F2A33">
                <a:alpha val="16000"/>
              </a:srgbClr>
            </a:outerShdw>
          </a:effectLst>
        </p:spPr>
      </p:sp>
      <p:sp>
        <p:nvSpPr>
          <p:cNvPr id="11" name="Text 8"/>
          <p:cNvSpPr/>
          <p:nvPr/>
        </p:nvSpPr>
        <p:spPr>
          <a:xfrm>
            <a:off x="8001000" y="3383280"/>
            <a:ext cx="3291840" cy="365760"/>
          </a:xfrm>
          <a:prstGeom prst="rect">
            <a:avLst/>
          </a:prstGeom>
          <a:noFill/>
          <a:ln/>
        </p:spPr>
        <p:txBody>
          <a:bodyPr wrap="square" lIns="0" tIns="0" rIns="0" bIns="0" rtlCol="0" anchor="ctr"/>
          <a:lstStyle/>
          <a:p>
            <a:pPr indent="0" marL="0">
              <a:buNone/>
            </a:pPr>
            <a:r>
              <a:rPr lang="en-US" sz="1500" b="1" dirty="0">
                <a:solidFill>
                  <a:srgbClr val="0D9488"/>
                </a:solidFill>
                <a:latin typeface="Arial" pitchFamily="34" charset="0"/>
                <a:ea typeface="Arial" pitchFamily="34" charset="-122"/>
                <a:cs typeface="Arial" pitchFamily="34" charset="-120"/>
              </a:rPr>
              <a:t>Why it matters</a:t>
            </a:r>
            <a:endParaRPr lang="en-US" sz="1500" dirty="0"/>
          </a:p>
        </p:txBody>
      </p:sp>
      <p:sp>
        <p:nvSpPr>
          <p:cNvPr id="12" name="Text 9"/>
          <p:cNvSpPr/>
          <p:nvPr/>
        </p:nvSpPr>
        <p:spPr>
          <a:xfrm>
            <a:off x="8001000" y="3794760"/>
            <a:ext cx="3337560" cy="1645920"/>
          </a:xfrm>
          <a:prstGeom prst="rect">
            <a:avLst/>
          </a:prstGeom>
          <a:noFill/>
          <a:ln/>
        </p:spPr>
        <p:txBody>
          <a:bodyPr wrap="square" lIns="0" tIns="0" rIns="0" bIns="0" rtlCol="0" anchor="ctr"/>
          <a:lstStyle/>
          <a:p>
            <a:pPr indent="0" marL="0">
              <a:buNone/>
            </a:pPr>
            <a:r>
              <a:rPr lang="en-US" sz="1300" dirty="0">
                <a:solidFill>
                  <a:srgbClr val="1E293B"/>
                </a:solidFill>
                <a:latin typeface="Arial" pitchFamily="34" charset="0"/>
                <a:ea typeface="Arial" pitchFamily="34" charset="-122"/>
                <a:cs typeface="Arial" pitchFamily="34" charset="-120"/>
              </a:rPr>
              <a:t>Without a test set you are guessing. Even a handful of known cases catches regressions when you change a prompt or a tool.</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SAFETY  -  TAKEAWAYS</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Constrain, validate, and verify</a:t>
            </a:r>
            <a:endParaRPr lang="en-US" sz="3000" dirty="0"/>
          </a:p>
        </p:txBody>
      </p:sp>
      <p:sp>
        <p:nvSpPr>
          <p:cNvPr id="4" name="Shape 2"/>
          <p:cNvSpPr/>
          <p:nvPr/>
        </p:nvSpPr>
        <p:spPr>
          <a:xfrm>
            <a:off x="640080" y="1828800"/>
            <a:ext cx="5349240" cy="3383280"/>
          </a:xfrm>
          <a:prstGeom prst="roundRect">
            <a:avLst>
              <a:gd name="adj" fmla="val 2432"/>
            </a:avLst>
          </a:prstGeom>
          <a:solidFill>
            <a:srgbClr val="F0FDFA"/>
          </a:solidFill>
          <a:ln/>
          <a:effectLst>
            <a:outerShdw sx="100000" sy="100000" kx="0" ky="0" algn="bl" rotWithShape="0" blurRad="88900" dist="38100" dir="5400000">
              <a:srgbClr val="0F2A33">
                <a:alpha val="16000"/>
              </a:srgbClr>
            </a:outerShdw>
          </a:effectLst>
        </p:spPr>
      </p:sp>
      <p:sp>
        <p:nvSpPr>
          <p:cNvPr id="5" name="Shape 3"/>
          <p:cNvSpPr/>
          <p:nvPr/>
        </p:nvSpPr>
        <p:spPr>
          <a:xfrm>
            <a:off x="868680" y="2057400"/>
            <a:ext cx="548640" cy="5486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011326" y="2200046"/>
            <a:ext cx="263347" cy="263347"/>
          </a:xfrm>
          <a:prstGeom prst="rect">
            <a:avLst/>
          </a:prstGeom>
        </p:spPr>
      </p:pic>
      <p:sp>
        <p:nvSpPr>
          <p:cNvPr id="7" name="Text 4"/>
          <p:cNvSpPr/>
          <p:nvPr/>
        </p:nvSpPr>
        <p:spPr>
          <a:xfrm>
            <a:off x="1554480" y="2121408"/>
            <a:ext cx="4297680" cy="411480"/>
          </a:xfrm>
          <a:prstGeom prst="rect">
            <a:avLst/>
          </a:prstGeom>
          <a:noFill/>
          <a:ln/>
        </p:spPr>
        <p:txBody>
          <a:bodyPr wrap="square" lIns="0" tIns="0" rIns="0" bIns="0" rtlCol="0" anchor="ctr"/>
          <a:lstStyle/>
          <a:p>
            <a:pPr indent="0" marL="0">
              <a:buNone/>
            </a:pPr>
            <a:r>
              <a:rPr lang="en-US" sz="1700" b="1" dirty="0">
                <a:solidFill>
                  <a:srgbClr val="0D9488"/>
                </a:solidFill>
                <a:latin typeface="Arial" pitchFamily="34" charset="0"/>
                <a:ea typeface="Arial" pitchFamily="34" charset="-122"/>
                <a:cs typeface="Arial" pitchFamily="34" charset="-120"/>
              </a:rPr>
              <a:t>Do</a:t>
            </a:r>
            <a:endParaRPr lang="en-US" sz="1700" dirty="0"/>
          </a:p>
        </p:txBody>
      </p:sp>
      <p:sp>
        <p:nvSpPr>
          <p:cNvPr id="8" name="Text 5"/>
          <p:cNvSpPr/>
          <p:nvPr/>
        </p:nvSpPr>
        <p:spPr>
          <a:xfrm>
            <a:off x="914400" y="2743200"/>
            <a:ext cx="4846320" cy="2286000"/>
          </a:xfrm>
          <a:prstGeom prst="rect">
            <a:avLst/>
          </a:prstGeom>
          <a:noFill/>
          <a:ln/>
        </p:spPr>
        <p:txBody>
          <a:bodyPr wrap="square" lIns="0" tIns="0" rIns="0" bIns="0" rtlCol="0" anchor="ctr"/>
          <a:lstStyle/>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Allow-list the tools an agent may call</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Validate tool arguments before running</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Be wary of instructions in retrieved text</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Keep a small golden set to catch regressions</a:t>
            </a:r>
            <a:endParaRPr lang="en-US" sz="1350" dirty="0"/>
          </a:p>
        </p:txBody>
      </p:sp>
      <p:sp>
        <p:nvSpPr>
          <p:cNvPr id="9" name="Shape 6"/>
          <p:cNvSpPr/>
          <p:nvPr/>
        </p:nvSpPr>
        <p:spPr>
          <a:xfrm>
            <a:off x="6172200" y="1828800"/>
            <a:ext cx="5349240" cy="3383280"/>
          </a:xfrm>
          <a:prstGeom prst="roundRect">
            <a:avLst>
              <a:gd name="adj" fmla="val 2432"/>
            </a:avLst>
          </a:prstGeom>
          <a:solidFill>
            <a:srgbClr val="F1F5F9"/>
          </a:solidFill>
          <a:ln/>
          <a:effectLst>
            <a:outerShdw sx="100000" sy="100000" kx="0" ky="0" algn="bl" rotWithShape="0" blurRad="88900" dist="38100" dir="5400000">
              <a:srgbClr val="0F2A33">
                <a:alpha val="16000"/>
              </a:srgbClr>
            </a:outerShdw>
          </a:effectLst>
        </p:spPr>
      </p:sp>
      <p:sp>
        <p:nvSpPr>
          <p:cNvPr id="10" name="Shape 7"/>
          <p:cNvSpPr/>
          <p:nvPr/>
        </p:nvSpPr>
        <p:spPr>
          <a:xfrm>
            <a:off x="6400800" y="2057400"/>
            <a:ext cx="548640" cy="548640"/>
          </a:xfrm>
          <a:prstGeom prst="ellipse">
            <a:avLst/>
          </a:prstGeom>
          <a:solidFill>
            <a:srgbClr val="0F2A33"/>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6543446" y="2200046"/>
            <a:ext cx="263347" cy="263347"/>
          </a:xfrm>
          <a:prstGeom prst="rect">
            <a:avLst/>
          </a:prstGeom>
        </p:spPr>
      </p:pic>
      <p:sp>
        <p:nvSpPr>
          <p:cNvPr id="12" name="Text 8"/>
          <p:cNvSpPr/>
          <p:nvPr/>
        </p:nvSpPr>
        <p:spPr>
          <a:xfrm>
            <a:off x="7086600" y="2121408"/>
            <a:ext cx="4297680" cy="411480"/>
          </a:xfrm>
          <a:prstGeom prst="rect">
            <a:avLst/>
          </a:prstGeom>
          <a:noFill/>
          <a:ln/>
        </p:spPr>
        <p:txBody>
          <a:bodyPr wrap="square" lIns="0" tIns="0" rIns="0" bIns="0" rtlCol="0" anchor="ctr"/>
          <a:lstStyle/>
          <a:p>
            <a:pPr indent="0" marL="0">
              <a:buNone/>
            </a:pPr>
            <a:r>
              <a:rPr lang="en-US" sz="1700" b="1" dirty="0">
                <a:solidFill>
                  <a:srgbClr val="1E293B"/>
                </a:solidFill>
                <a:latin typeface="Arial" pitchFamily="34" charset="0"/>
                <a:ea typeface="Arial" pitchFamily="34" charset="-122"/>
                <a:cs typeface="Arial" pitchFamily="34" charset="-120"/>
              </a:rPr>
              <a:t>Watch out for</a:t>
            </a:r>
            <a:endParaRPr lang="en-US" sz="1700" dirty="0"/>
          </a:p>
        </p:txBody>
      </p:sp>
      <p:sp>
        <p:nvSpPr>
          <p:cNvPr id="13" name="Text 9"/>
          <p:cNvSpPr/>
          <p:nvPr/>
        </p:nvSpPr>
        <p:spPr>
          <a:xfrm>
            <a:off x="6446520" y="2743200"/>
            <a:ext cx="4846320" cy="2286000"/>
          </a:xfrm>
          <a:prstGeom prst="rect">
            <a:avLst/>
          </a:prstGeom>
          <a:noFill/>
          <a:ln/>
        </p:spPr>
        <p:txBody>
          <a:bodyPr wrap="square" lIns="0" tIns="0" rIns="0" bIns="0" rtlCol="0" anchor="ctr"/>
          <a:lstStyle/>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Trusting model output without checks</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Prompt injection from documents or tools</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Leaking secrets or private data in answers</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Assuming it works without ever testing</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THE WHOLE WEEK IN ONE PICTURE</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Everything you learned, in one agent</a:t>
            </a:r>
            <a:endParaRPr lang="en-US" sz="3000" dirty="0"/>
          </a:p>
        </p:txBody>
      </p:sp>
      <p:sp>
        <p:nvSpPr>
          <p:cNvPr id="4" name="Shape 2"/>
          <p:cNvSpPr/>
          <p:nvPr/>
        </p:nvSpPr>
        <p:spPr>
          <a:xfrm>
            <a:off x="640080" y="1783080"/>
            <a:ext cx="10881360" cy="868680"/>
          </a:xfrm>
          <a:prstGeom prst="roundRect">
            <a:avLst>
              <a:gd name="adj" fmla="val 8421"/>
            </a:avLst>
          </a:prstGeom>
          <a:solidFill>
            <a:srgbClr val="F0FDFA"/>
          </a:solidFill>
          <a:ln/>
          <a:effectLst>
            <a:outerShdw sx="100000" sy="100000" kx="0" ky="0" algn="bl" rotWithShape="0" blurRad="88900" dist="38100" dir="5400000">
              <a:srgbClr val="0F2A33">
                <a:alpha val="16000"/>
              </a:srgbClr>
            </a:outerShdw>
          </a:effectLst>
        </p:spPr>
      </p:sp>
      <p:sp>
        <p:nvSpPr>
          <p:cNvPr id="5" name="Shape 3"/>
          <p:cNvSpPr/>
          <p:nvPr/>
        </p:nvSpPr>
        <p:spPr>
          <a:xfrm>
            <a:off x="896112" y="1975104"/>
            <a:ext cx="502920" cy="50292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026871" y="2105863"/>
            <a:ext cx="241402" cy="241402"/>
          </a:xfrm>
          <a:prstGeom prst="rect">
            <a:avLst/>
          </a:prstGeom>
        </p:spPr>
      </p:pic>
      <p:sp>
        <p:nvSpPr>
          <p:cNvPr id="7" name="Text 4"/>
          <p:cNvSpPr/>
          <p:nvPr/>
        </p:nvSpPr>
        <p:spPr>
          <a:xfrm>
            <a:off x="1600200" y="1783080"/>
            <a:ext cx="3840480" cy="86868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Reason and plan</a:t>
            </a:r>
            <a:endParaRPr lang="en-US" sz="1600" dirty="0"/>
          </a:p>
        </p:txBody>
      </p:sp>
      <p:sp>
        <p:nvSpPr>
          <p:cNvPr id="8" name="Text 5"/>
          <p:cNvSpPr/>
          <p:nvPr/>
        </p:nvSpPr>
        <p:spPr>
          <a:xfrm>
            <a:off x="5486400" y="1783080"/>
            <a:ext cx="5852160" cy="86868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think step by step, ReAct, plan the work</a:t>
            </a:r>
            <a:endParaRPr lang="en-US" sz="1350" dirty="0"/>
          </a:p>
        </p:txBody>
      </p:sp>
      <p:sp>
        <p:nvSpPr>
          <p:cNvPr id="9" name="Shape 6"/>
          <p:cNvSpPr/>
          <p:nvPr/>
        </p:nvSpPr>
        <p:spPr>
          <a:xfrm>
            <a:off x="640080" y="2761488"/>
            <a:ext cx="10881360" cy="868680"/>
          </a:xfrm>
          <a:prstGeom prst="roundRect">
            <a:avLst>
              <a:gd name="adj" fmla="val 8421"/>
            </a:avLst>
          </a:prstGeom>
          <a:solidFill>
            <a:srgbClr val="F1F5F9"/>
          </a:solidFill>
          <a:ln/>
          <a:effectLst>
            <a:outerShdw sx="100000" sy="100000" kx="0" ky="0" algn="bl" rotWithShape="0" blurRad="88900" dist="38100" dir="5400000">
              <a:srgbClr val="0F2A33">
                <a:alpha val="16000"/>
              </a:srgbClr>
            </a:outerShdw>
          </a:effectLst>
        </p:spPr>
      </p:sp>
      <p:sp>
        <p:nvSpPr>
          <p:cNvPr id="10" name="Shape 7"/>
          <p:cNvSpPr/>
          <p:nvPr/>
        </p:nvSpPr>
        <p:spPr>
          <a:xfrm>
            <a:off x="896112" y="2953512"/>
            <a:ext cx="502920" cy="50292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1026871" y="3084271"/>
            <a:ext cx="241402" cy="241402"/>
          </a:xfrm>
          <a:prstGeom prst="rect">
            <a:avLst/>
          </a:prstGeom>
        </p:spPr>
      </p:pic>
      <p:sp>
        <p:nvSpPr>
          <p:cNvPr id="12" name="Text 8"/>
          <p:cNvSpPr/>
          <p:nvPr/>
        </p:nvSpPr>
        <p:spPr>
          <a:xfrm>
            <a:off x="1600200" y="2761488"/>
            <a:ext cx="3840480" cy="86868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Act with tools</a:t>
            </a:r>
            <a:endParaRPr lang="en-US" sz="1600" dirty="0"/>
          </a:p>
        </p:txBody>
      </p:sp>
      <p:sp>
        <p:nvSpPr>
          <p:cNvPr id="13" name="Text 9"/>
          <p:cNvSpPr/>
          <p:nvPr/>
        </p:nvSpPr>
        <p:spPr>
          <a:xfrm>
            <a:off x="5486400" y="2761488"/>
            <a:ext cx="5852160" cy="86868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call functions, route, run work in parallel</a:t>
            </a:r>
            <a:endParaRPr lang="en-US" sz="1350" dirty="0"/>
          </a:p>
        </p:txBody>
      </p:sp>
      <p:sp>
        <p:nvSpPr>
          <p:cNvPr id="14" name="Shape 10"/>
          <p:cNvSpPr/>
          <p:nvPr/>
        </p:nvSpPr>
        <p:spPr>
          <a:xfrm>
            <a:off x="640080" y="3739896"/>
            <a:ext cx="10881360" cy="868680"/>
          </a:xfrm>
          <a:prstGeom prst="roundRect">
            <a:avLst>
              <a:gd name="adj" fmla="val 8421"/>
            </a:avLst>
          </a:prstGeom>
          <a:solidFill>
            <a:srgbClr val="F0FDFA"/>
          </a:solidFill>
          <a:ln/>
          <a:effectLst>
            <a:outerShdw sx="100000" sy="100000" kx="0" ky="0" algn="bl" rotWithShape="0" blurRad="88900" dist="38100" dir="5400000">
              <a:srgbClr val="0F2A33">
                <a:alpha val="16000"/>
              </a:srgbClr>
            </a:outerShdw>
          </a:effectLst>
        </p:spPr>
      </p:sp>
      <p:sp>
        <p:nvSpPr>
          <p:cNvPr id="15" name="Shape 11"/>
          <p:cNvSpPr/>
          <p:nvPr/>
        </p:nvSpPr>
        <p:spPr>
          <a:xfrm>
            <a:off x="896112" y="3931920"/>
            <a:ext cx="502920" cy="50292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6" name="Image 2" descr="preencoded.png">    </p:cNvPr>
          <p:cNvPicPr>
            <a:picLocks noChangeAspect="1"/>
          </p:cNvPicPr>
          <p:nvPr/>
        </p:nvPicPr>
        <p:blipFill>
          <a:blip r:embed="rId3"/>
          <a:stretch>
            <a:fillRect/>
          </a:stretch>
        </p:blipFill>
        <p:spPr>
          <a:xfrm>
            <a:off x="1026871" y="4062679"/>
            <a:ext cx="241402" cy="241402"/>
          </a:xfrm>
          <a:prstGeom prst="rect">
            <a:avLst/>
          </a:prstGeom>
        </p:spPr>
      </p:pic>
      <p:sp>
        <p:nvSpPr>
          <p:cNvPr id="17" name="Text 12"/>
          <p:cNvSpPr/>
          <p:nvPr/>
        </p:nvSpPr>
        <p:spPr>
          <a:xfrm>
            <a:off x="1600200" y="3739896"/>
            <a:ext cx="3840480" cy="86868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Remember and retrieve</a:t>
            </a:r>
            <a:endParaRPr lang="en-US" sz="1600" dirty="0"/>
          </a:p>
        </p:txBody>
      </p:sp>
      <p:sp>
        <p:nvSpPr>
          <p:cNvPr id="18" name="Text 13"/>
          <p:cNvSpPr/>
          <p:nvPr/>
        </p:nvSpPr>
        <p:spPr>
          <a:xfrm>
            <a:off x="5486400" y="3739896"/>
            <a:ext cx="5852160" cy="86868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memory across turns, RAG over your docs</a:t>
            </a:r>
            <a:endParaRPr lang="en-US" sz="1350" dirty="0"/>
          </a:p>
        </p:txBody>
      </p:sp>
      <p:sp>
        <p:nvSpPr>
          <p:cNvPr id="19" name="Shape 14"/>
          <p:cNvSpPr/>
          <p:nvPr/>
        </p:nvSpPr>
        <p:spPr>
          <a:xfrm>
            <a:off x="640080" y="4718304"/>
            <a:ext cx="10881360" cy="868680"/>
          </a:xfrm>
          <a:prstGeom prst="roundRect">
            <a:avLst>
              <a:gd name="adj" fmla="val 8421"/>
            </a:avLst>
          </a:prstGeom>
          <a:solidFill>
            <a:srgbClr val="F1F5F9"/>
          </a:solidFill>
          <a:ln/>
          <a:effectLst>
            <a:outerShdw sx="100000" sy="100000" kx="0" ky="0" algn="bl" rotWithShape="0" blurRad="88900" dist="38100" dir="5400000">
              <a:srgbClr val="0F2A33">
                <a:alpha val="16000"/>
              </a:srgbClr>
            </a:outerShdw>
          </a:effectLst>
        </p:spPr>
      </p:sp>
      <p:sp>
        <p:nvSpPr>
          <p:cNvPr id="20" name="Shape 15"/>
          <p:cNvSpPr/>
          <p:nvPr/>
        </p:nvSpPr>
        <p:spPr>
          <a:xfrm>
            <a:off x="896112" y="4910328"/>
            <a:ext cx="502920" cy="50292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21" name="Image 3" descr="preencoded.png">    </p:cNvPr>
          <p:cNvPicPr>
            <a:picLocks noChangeAspect="1"/>
          </p:cNvPicPr>
          <p:nvPr/>
        </p:nvPicPr>
        <p:blipFill>
          <a:blip r:embed="rId4"/>
          <a:stretch>
            <a:fillRect/>
          </a:stretch>
        </p:blipFill>
        <p:spPr>
          <a:xfrm>
            <a:off x="1026871" y="5041087"/>
            <a:ext cx="241402" cy="241402"/>
          </a:xfrm>
          <a:prstGeom prst="rect">
            <a:avLst/>
          </a:prstGeom>
        </p:spPr>
      </p:pic>
      <p:sp>
        <p:nvSpPr>
          <p:cNvPr id="22" name="Text 16"/>
          <p:cNvSpPr/>
          <p:nvPr/>
        </p:nvSpPr>
        <p:spPr>
          <a:xfrm>
            <a:off x="1600200" y="4718304"/>
            <a:ext cx="3840480" cy="86868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Stay safe</a:t>
            </a:r>
            <a:endParaRPr lang="en-US" sz="1600" dirty="0"/>
          </a:p>
        </p:txBody>
      </p:sp>
      <p:sp>
        <p:nvSpPr>
          <p:cNvPr id="23" name="Text 17"/>
          <p:cNvSpPr/>
          <p:nvPr/>
        </p:nvSpPr>
        <p:spPr>
          <a:xfrm>
            <a:off x="5486400" y="4718304"/>
            <a:ext cx="5852160" cy="86868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guardrails, human-in-the-loop, evaluation</a:t>
            </a:r>
            <a:endParaRPr lang="en-US" sz="1350" dirty="0"/>
          </a:p>
        </p:txBody>
      </p:sp>
      <p:sp>
        <p:nvSpPr>
          <p:cNvPr id="24" name="Text 18"/>
          <p:cNvSpPr/>
          <p:nvPr/>
        </p:nvSpPr>
        <p:spPr>
          <a:xfrm>
            <a:off x="640080" y="5486400"/>
            <a:ext cx="10881360" cy="457200"/>
          </a:xfrm>
          <a:prstGeom prst="rect">
            <a:avLst/>
          </a:prstGeom>
          <a:noFill/>
          <a:ln/>
        </p:spPr>
        <p:txBody>
          <a:bodyPr wrap="square" rtlCol="0" anchor="ctr"/>
          <a:lstStyle/>
          <a:p>
            <a:pPr indent="0" marL="0">
              <a:buNone/>
            </a:pPr>
            <a:r>
              <a:rPr lang="en-US" sz="1400" i="1" dirty="0">
                <a:solidFill>
                  <a:srgbClr val="0D9488"/>
                </a:solidFill>
                <a:latin typeface="Arial" pitchFamily="34" charset="0"/>
                <a:ea typeface="Arial" pitchFamily="34" charset="-122"/>
                <a:cs typeface="Arial" pitchFamily="34" charset="-120"/>
              </a:rPr>
              <a:t>A capable, safe agent is just these layers, stacked. This afternoon you build one that uses all of them.</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THE ECOSYSTEM</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You built it by hand, so frameworks will make sense</a:t>
            </a:r>
            <a:endParaRPr lang="en-US" sz="3000" dirty="0"/>
          </a:p>
        </p:txBody>
      </p:sp>
      <p:sp>
        <p:nvSpPr>
          <p:cNvPr id="4" name="Shape 2"/>
          <p:cNvSpPr/>
          <p:nvPr/>
        </p:nvSpPr>
        <p:spPr>
          <a:xfrm>
            <a:off x="640080" y="1783080"/>
            <a:ext cx="5349240" cy="2103120"/>
          </a:xfrm>
          <a:prstGeom prst="roundRect">
            <a:avLst>
              <a:gd name="adj" fmla="val 3913"/>
            </a:avLst>
          </a:prstGeom>
          <a:solidFill>
            <a:srgbClr val="F1F5F9"/>
          </a:solidFill>
          <a:ln/>
          <a:effectLst>
            <a:outerShdw sx="100000" sy="100000" kx="0" ky="0" algn="bl" rotWithShape="0" blurRad="88900" dist="38100" dir="5400000">
              <a:srgbClr val="0F2A33">
                <a:alpha val="16000"/>
              </a:srgbClr>
            </a:outerShdw>
          </a:effectLst>
        </p:spPr>
      </p:sp>
      <p:sp>
        <p:nvSpPr>
          <p:cNvPr id="5" name="Shape 3"/>
          <p:cNvSpPr/>
          <p:nvPr/>
        </p:nvSpPr>
        <p:spPr>
          <a:xfrm>
            <a:off x="932688" y="2057400"/>
            <a:ext cx="777240" cy="7772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34770" y="2259482"/>
            <a:ext cx="373075" cy="373075"/>
          </a:xfrm>
          <a:prstGeom prst="rect">
            <a:avLst/>
          </a:prstGeom>
        </p:spPr>
      </p:pic>
      <p:sp>
        <p:nvSpPr>
          <p:cNvPr id="7" name="Text 4"/>
          <p:cNvSpPr/>
          <p:nvPr/>
        </p:nvSpPr>
        <p:spPr>
          <a:xfrm>
            <a:off x="1920240" y="2240280"/>
            <a:ext cx="3840480" cy="457200"/>
          </a:xfrm>
          <a:prstGeom prst="rect">
            <a:avLst/>
          </a:prstGeom>
          <a:noFill/>
          <a:ln/>
        </p:spPr>
        <p:txBody>
          <a:bodyPr wrap="square" lIns="0" tIns="0" rIns="0" bIns="0" rtlCol="0" anchor="ctr"/>
          <a:lstStyle/>
          <a:p>
            <a:pPr indent="0" marL="0">
              <a:buNone/>
            </a:pPr>
            <a:r>
              <a:rPr lang="en-US" sz="1900" b="1" dirty="0">
                <a:solidFill>
                  <a:srgbClr val="1E293B"/>
                </a:solidFill>
                <a:latin typeface="Arial" pitchFamily="34" charset="0"/>
                <a:ea typeface="Arial" pitchFamily="34" charset="-122"/>
                <a:cs typeface="Arial" pitchFamily="34" charset="-120"/>
              </a:rPr>
              <a:t>Frameworks</a:t>
            </a:r>
            <a:endParaRPr lang="en-US" sz="1900" dirty="0"/>
          </a:p>
        </p:txBody>
      </p:sp>
      <p:sp>
        <p:nvSpPr>
          <p:cNvPr id="8" name="Text 5"/>
          <p:cNvSpPr/>
          <p:nvPr/>
        </p:nvSpPr>
        <p:spPr>
          <a:xfrm>
            <a:off x="960120" y="2971800"/>
            <a:ext cx="4709160" cy="82296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LangGraph, CrewAI, and Google ADK give you ready-made loops, memory, and multi-agent plumbing.</a:t>
            </a:r>
            <a:endParaRPr lang="en-US" sz="1350" dirty="0"/>
          </a:p>
        </p:txBody>
      </p:sp>
      <p:sp>
        <p:nvSpPr>
          <p:cNvPr id="9" name="Shape 6"/>
          <p:cNvSpPr/>
          <p:nvPr/>
        </p:nvSpPr>
        <p:spPr>
          <a:xfrm>
            <a:off x="6263640" y="1783080"/>
            <a:ext cx="5349240" cy="2103120"/>
          </a:xfrm>
          <a:prstGeom prst="roundRect">
            <a:avLst>
              <a:gd name="adj" fmla="val 3913"/>
            </a:avLst>
          </a:prstGeom>
          <a:solidFill>
            <a:srgbClr val="F1F5F9"/>
          </a:solidFill>
          <a:ln/>
          <a:effectLst>
            <a:outerShdw sx="100000" sy="100000" kx="0" ky="0" algn="bl" rotWithShape="0" blurRad="88900" dist="38100" dir="5400000">
              <a:srgbClr val="0F2A33">
                <a:alpha val="16000"/>
              </a:srgbClr>
            </a:outerShdw>
          </a:effectLst>
        </p:spPr>
      </p:sp>
      <p:sp>
        <p:nvSpPr>
          <p:cNvPr id="10" name="Shape 7"/>
          <p:cNvSpPr/>
          <p:nvPr/>
        </p:nvSpPr>
        <p:spPr>
          <a:xfrm>
            <a:off x="6556248" y="2057400"/>
            <a:ext cx="777240" cy="7772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6758330" y="2259482"/>
            <a:ext cx="373075" cy="373075"/>
          </a:xfrm>
          <a:prstGeom prst="rect">
            <a:avLst/>
          </a:prstGeom>
        </p:spPr>
      </p:pic>
      <p:sp>
        <p:nvSpPr>
          <p:cNvPr id="12" name="Text 8"/>
          <p:cNvSpPr/>
          <p:nvPr/>
        </p:nvSpPr>
        <p:spPr>
          <a:xfrm>
            <a:off x="7543800" y="2240280"/>
            <a:ext cx="3840480" cy="457200"/>
          </a:xfrm>
          <a:prstGeom prst="rect">
            <a:avLst/>
          </a:prstGeom>
          <a:noFill/>
          <a:ln/>
        </p:spPr>
        <p:txBody>
          <a:bodyPr wrap="square" lIns="0" tIns="0" rIns="0" bIns="0" rtlCol="0" anchor="ctr"/>
          <a:lstStyle/>
          <a:p>
            <a:pPr indent="0" marL="0">
              <a:buNone/>
            </a:pPr>
            <a:r>
              <a:rPr lang="en-US" sz="1900" b="1" dirty="0">
                <a:solidFill>
                  <a:srgbClr val="1E293B"/>
                </a:solidFill>
                <a:latin typeface="Arial" pitchFamily="34" charset="0"/>
                <a:ea typeface="Arial" pitchFamily="34" charset="-122"/>
                <a:cs typeface="Arial" pitchFamily="34" charset="-120"/>
              </a:rPr>
              <a:t>MCP</a:t>
            </a:r>
            <a:endParaRPr lang="en-US" sz="1900" dirty="0"/>
          </a:p>
        </p:txBody>
      </p:sp>
      <p:sp>
        <p:nvSpPr>
          <p:cNvPr id="13" name="Text 9"/>
          <p:cNvSpPr/>
          <p:nvPr/>
        </p:nvSpPr>
        <p:spPr>
          <a:xfrm>
            <a:off x="6583680" y="2971800"/>
            <a:ext cx="4709160" cy="82296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The Model Context Protocol is a standard way to connect agents to tools and data sources.</a:t>
            </a:r>
            <a:endParaRPr lang="en-US" sz="1350" dirty="0"/>
          </a:p>
        </p:txBody>
      </p:sp>
      <p:sp>
        <p:nvSpPr>
          <p:cNvPr id="14" name="Shape 10"/>
          <p:cNvSpPr/>
          <p:nvPr/>
        </p:nvSpPr>
        <p:spPr>
          <a:xfrm>
            <a:off x="640080" y="4114800"/>
            <a:ext cx="10881360" cy="1371600"/>
          </a:xfrm>
          <a:prstGeom prst="roundRect">
            <a:avLst>
              <a:gd name="adj" fmla="val 6667"/>
            </a:avLst>
          </a:prstGeom>
          <a:solidFill>
            <a:srgbClr val="0F2A33"/>
          </a:solidFill>
          <a:ln/>
          <a:effectLst>
            <a:outerShdw sx="100000" sy="100000" kx="0" ky="0" algn="bl" rotWithShape="0" blurRad="88900" dist="38100" dir="5400000">
              <a:srgbClr val="0F2A33">
                <a:alpha val="16000"/>
              </a:srgbClr>
            </a:outerShdw>
          </a:effectLst>
        </p:spPr>
      </p:sp>
      <p:sp>
        <p:nvSpPr>
          <p:cNvPr id="15" name="Shape 11"/>
          <p:cNvSpPr/>
          <p:nvPr/>
        </p:nvSpPr>
        <p:spPr>
          <a:xfrm>
            <a:off x="914400" y="4434840"/>
            <a:ext cx="731520" cy="73152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6" name="Image 2" descr="preencoded.png">    </p:cNvPr>
          <p:cNvPicPr>
            <a:picLocks noChangeAspect="1"/>
          </p:cNvPicPr>
          <p:nvPr/>
        </p:nvPicPr>
        <p:blipFill>
          <a:blip r:embed="rId3"/>
          <a:stretch>
            <a:fillRect/>
          </a:stretch>
        </p:blipFill>
        <p:spPr>
          <a:xfrm>
            <a:off x="1104595" y="4625035"/>
            <a:ext cx="351130" cy="351130"/>
          </a:xfrm>
          <a:prstGeom prst="rect">
            <a:avLst/>
          </a:prstGeom>
        </p:spPr>
      </p:pic>
      <p:sp>
        <p:nvSpPr>
          <p:cNvPr id="17" name="Text 12"/>
          <p:cNvSpPr/>
          <p:nvPr/>
        </p:nvSpPr>
        <p:spPr>
          <a:xfrm>
            <a:off x="1874520" y="4224528"/>
            <a:ext cx="9418320" cy="1188720"/>
          </a:xfrm>
          <a:prstGeom prst="rect">
            <a:avLst/>
          </a:prstGeom>
          <a:noFill/>
          <a:ln/>
        </p:spPr>
        <p:txBody>
          <a:bodyPr wrap="square" lIns="0" tIns="0" rIns="0" bIns="0" rtlCol="0" anchor="ctr"/>
          <a:lstStyle/>
          <a:p>
            <a:pPr indent="0" marL="0">
              <a:buNone/>
            </a:pPr>
            <a:r>
              <a:rPr lang="en-US" sz="1450" b="1" dirty="0">
                <a:solidFill>
                  <a:srgbClr val="5EEAD4"/>
                </a:solidFill>
                <a:latin typeface="Arial" pitchFamily="34" charset="0"/>
                <a:ea typeface="Arial" pitchFamily="34" charset="-122"/>
                <a:cs typeface="Arial" pitchFamily="34" charset="-120"/>
              </a:rPr>
              <a:t>The point of building from scratch:  </a:t>
            </a:r>
            <a:pPr indent="0" marL="0">
              <a:buNone/>
            </a:pPr>
            <a:r>
              <a:rPr lang="en-US" sz="1450" dirty="0">
                <a:solidFill>
                  <a:srgbClr val="FFFFFF"/>
                </a:solidFill>
                <a:latin typeface="Arial" pitchFamily="34" charset="0"/>
                <a:ea typeface="Arial" pitchFamily="34" charset="-122"/>
                <a:cs typeface="Arial" pitchFamily="34" charset="-120"/>
              </a:rPr>
              <a:t>every framework is just the patterns you now know, the loop, tool use, memory, multi-agent, wrapped up. When you read their docs, you will recognise everything. That understanding is what makes you effective with any of them.</a:t>
            </a:r>
            <a:endParaRPr lang="en-US" sz="14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2A33"/>
        </a:solidFill>
      </p:bgPr>
    </p:bg>
    <p:spTree>
      <p:nvGrpSpPr>
        <p:cNvPr id="1" name=""/>
        <p:cNvGrpSpPr/>
        <p:nvPr/>
      </p:nvGrpSpPr>
      <p:grpSpPr>
        <a:xfrm>
          <a:off x="0" y="0"/>
          <a:ext cx="0" cy="0"/>
          <a:chOff x="0" y="0"/>
          <a:chExt cx="0" cy="0"/>
        </a:xfrm>
      </p:grpSpPr>
      <p:sp>
        <p:nvSpPr>
          <p:cNvPr id="2" name="Shape 0"/>
          <p:cNvSpPr/>
          <p:nvPr/>
        </p:nvSpPr>
        <p:spPr>
          <a:xfrm>
            <a:off x="9509760" y="-1463040"/>
            <a:ext cx="4572000" cy="4572000"/>
          </a:xfrm>
          <a:prstGeom prst="ellipse">
            <a:avLst/>
          </a:prstGeom>
          <a:solidFill>
            <a:srgbClr val="13343B"/>
          </a:solidFill>
          <a:ln/>
        </p:spPr>
      </p:sp>
      <p:sp>
        <p:nvSpPr>
          <p:cNvPr id="3" name="Shape 1"/>
          <p:cNvSpPr/>
          <p:nvPr/>
        </p:nvSpPr>
        <p:spPr>
          <a:xfrm>
            <a:off x="10607040" y="4206240"/>
            <a:ext cx="3840480" cy="3840480"/>
          </a:xfrm>
          <a:prstGeom prst="ellipse">
            <a:avLst/>
          </a:prstGeom>
          <a:solidFill>
            <a:srgbClr val="13343B"/>
          </a:solidFill>
          <a:ln/>
        </p:spPr>
      </p:sp>
      <p:sp>
        <p:nvSpPr>
          <p:cNvPr id="4" name="Text 2"/>
          <p:cNvSpPr/>
          <p:nvPr/>
        </p:nvSpPr>
        <p:spPr>
          <a:xfrm>
            <a:off x="822960" y="2240280"/>
            <a:ext cx="8229600" cy="365760"/>
          </a:xfrm>
          <a:prstGeom prst="rect">
            <a:avLst/>
          </a:prstGeom>
          <a:noFill/>
          <a:ln/>
        </p:spPr>
        <p:txBody>
          <a:bodyPr wrap="square" rtlCol="0" anchor="ctr"/>
          <a:lstStyle/>
          <a:p>
            <a:pPr indent="0" marL="0">
              <a:buNone/>
            </a:pPr>
            <a:r>
              <a:rPr lang="en-US" sz="1500" b="1" spc="400" kern="0" dirty="0">
                <a:solidFill>
                  <a:srgbClr val="F59E0B"/>
                </a:solidFill>
                <a:latin typeface="Arial" pitchFamily="34" charset="0"/>
                <a:ea typeface="Arial" pitchFamily="34" charset="-122"/>
                <a:cs typeface="Arial" pitchFamily="34" charset="-120"/>
              </a:rPr>
              <a:t>CAPSTONE  -  3 HOURS</a:t>
            </a:r>
            <a:endParaRPr lang="en-US" sz="1500" dirty="0"/>
          </a:p>
        </p:txBody>
      </p:sp>
      <p:sp>
        <p:nvSpPr>
          <p:cNvPr id="5" name="Text 3"/>
          <p:cNvSpPr/>
          <p:nvPr/>
        </p:nvSpPr>
        <p:spPr>
          <a:xfrm>
            <a:off x="777240" y="2606040"/>
            <a:ext cx="10058400" cy="1371600"/>
          </a:xfrm>
          <a:prstGeom prst="rect">
            <a:avLst/>
          </a:prstGeom>
          <a:noFill/>
          <a:ln/>
        </p:spPr>
        <p:txBody>
          <a:bodyPr wrap="square" rtlCol="0" anchor="ctr"/>
          <a:lstStyle/>
          <a:p>
            <a:pPr indent="0" marL="0">
              <a:buNone/>
            </a:pPr>
            <a:r>
              <a:rPr lang="en-US" sz="4600" b="1" dirty="0">
                <a:solidFill>
                  <a:srgbClr val="FFFFFF"/>
                </a:solidFill>
                <a:latin typeface="Arial" pitchFamily="34" charset="0"/>
                <a:ea typeface="Arial" pitchFamily="34" charset="-122"/>
                <a:cs typeface="Arial" pitchFamily="34" charset="-120"/>
              </a:rPr>
              <a:t>Build the complete agent</a:t>
            </a:r>
            <a:endParaRPr lang="en-US" sz="4600" dirty="0"/>
          </a:p>
        </p:txBody>
      </p:sp>
      <p:sp>
        <p:nvSpPr>
          <p:cNvPr id="6" name="Text 4"/>
          <p:cNvSpPr/>
          <p:nvPr/>
        </p:nvSpPr>
        <p:spPr>
          <a:xfrm>
            <a:off x="822960" y="3977640"/>
            <a:ext cx="10058400" cy="457200"/>
          </a:xfrm>
          <a:prstGeom prst="rect">
            <a:avLst/>
          </a:prstGeom>
          <a:noFill/>
          <a:ln/>
        </p:spPr>
        <p:txBody>
          <a:bodyPr wrap="square" rtlCol="0" anchor="ctr"/>
          <a:lstStyle/>
          <a:p>
            <a:pPr indent="0" marL="0">
              <a:buNone/>
            </a:pPr>
            <a:r>
              <a:rPr lang="en-US" sz="1600" i="1" dirty="0">
                <a:solidFill>
                  <a:srgbClr val="5EEAD4"/>
                </a:solidFill>
                <a:latin typeface="Arial" pitchFamily="34" charset="0"/>
                <a:ea typeface="Arial" pitchFamily="34" charset="-122"/>
                <a:cs typeface="Arial" pitchFamily="34" charset="-120"/>
              </a:rPr>
              <a:t>Tools, memory, retrieval, and guardrails, all in one</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THE CAPSTONE</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Assemble the whole week into one agent</a:t>
            </a:r>
            <a:endParaRPr lang="en-US" sz="3000" dirty="0"/>
          </a:p>
        </p:txBody>
      </p:sp>
      <p:sp>
        <p:nvSpPr>
          <p:cNvPr id="4" name="Shape 2"/>
          <p:cNvSpPr/>
          <p:nvPr/>
        </p:nvSpPr>
        <p:spPr>
          <a:xfrm>
            <a:off x="640080" y="1737360"/>
            <a:ext cx="10881360" cy="1143000"/>
          </a:xfrm>
          <a:prstGeom prst="roundRect">
            <a:avLst>
              <a:gd name="adj" fmla="val 7200"/>
            </a:avLst>
          </a:prstGeom>
          <a:solidFill>
            <a:srgbClr val="0F2A33"/>
          </a:solidFill>
          <a:ln/>
          <a:effectLst>
            <a:outerShdw sx="100000" sy="100000" kx="0" ky="0" algn="bl" rotWithShape="0" blurRad="88900" dist="38100" dir="5400000">
              <a:srgbClr val="0F2A33">
                <a:alpha val="16000"/>
              </a:srgbClr>
            </a:outerShdw>
          </a:effectLst>
        </p:spPr>
      </p:sp>
      <p:sp>
        <p:nvSpPr>
          <p:cNvPr id="5" name="Shape 3"/>
          <p:cNvSpPr/>
          <p:nvPr/>
        </p:nvSpPr>
        <p:spPr>
          <a:xfrm>
            <a:off x="914400" y="1938528"/>
            <a:ext cx="731520" cy="73152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04595" y="2128723"/>
            <a:ext cx="351130" cy="351130"/>
          </a:xfrm>
          <a:prstGeom prst="rect">
            <a:avLst/>
          </a:prstGeom>
        </p:spPr>
      </p:pic>
      <p:sp>
        <p:nvSpPr>
          <p:cNvPr id="7" name="Text 4"/>
          <p:cNvSpPr/>
          <p:nvPr/>
        </p:nvSpPr>
        <p:spPr>
          <a:xfrm>
            <a:off x="1874520" y="1810512"/>
            <a:ext cx="9418320" cy="1005840"/>
          </a:xfrm>
          <a:prstGeom prst="rect">
            <a:avLst/>
          </a:prstGeom>
          <a:noFill/>
          <a:ln/>
        </p:spPr>
        <p:txBody>
          <a:bodyPr wrap="square" lIns="0" tIns="0" rIns="0" bIns="0" rtlCol="0" anchor="ctr"/>
          <a:lstStyle/>
          <a:p>
            <a:pPr indent="0" marL="0">
              <a:buNone/>
            </a:pPr>
            <a:r>
              <a:rPr lang="en-US" sz="1500" b="1" dirty="0">
                <a:solidFill>
                  <a:srgbClr val="5EEAD4"/>
                </a:solidFill>
                <a:latin typeface="Arial" pitchFamily="34" charset="0"/>
                <a:ea typeface="Arial" pitchFamily="34" charset="-122"/>
                <a:cs typeface="Arial" pitchFamily="34" charset="-120"/>
              </a:rPr>
              <a:t>Goal:  </a:t>
            </a:r>
            <a:pPr indent="0" marL="0">
              <a:buNone/>
            </a:pPr>
            <a:r>
              <a:rPr lang="en-US" sz="1500" dirty="0">
                <a:solidFill>
                  <a:srgbClr val="FFFFFF"/>
                </a:solidFill>
                <a:latin typeface="Arial" pitchFamily="34" charset="0"/>
                <a:ea typeface="Arial" pitchFamily="34" charset="-122"/>
                <a:cs typeface="Arial" pitchFamily="34" charset="-120"/>
              </a:rPr>
              <a:t>a ReAct agent that uses tools, remembers the conversation, looks facts up with RAG, and is wrapped in guardrails plus one human approval gate. All on Ollama.</a:t>
            </a:r>
            <a:endParaRPr lang="en-US" sz="1500" dirty="0"/>
          </a:p>
        </p:txBody>
      </p:sp>
      <p:sp>
        <p:nvSpPr>
          <p:cNvPr id="8" name="Shape 5"/>
          <p:cNvSpPr/>
          <p:nvPr/>
        </p:nvSpPr>
        <p:spPr>
          <a:xfrm>
            <a:off x="640080" y="3108960"/>
            <a:ext cx="3520440" cy="2331720"/>
          </a:xfrm>
          <a:prstGeom prst="roundRect">
            <a:avLst>
              <a:gd name="adj" fmla="val 3529"/>
            </a:avLst>
          </a:prstGeom>
          <a:solidFill>
            <a:srgbClr val="F0FDFA"/>
          </a:solidFill>
          <a:ln/>
          <a:effectLst>
            <a:outerShdw sx="100000" sy="100000" kx="0" ky="0" algn="bl" rotWithShape="0" blurRad="88900" dist="38100" dir="5400000">
              <a:srgbClr val="0F2A33">
                <a:alpha val="16000"/>
              </a:srgbClr>
            </a:outerShdw>
          </a:effectLst>
        </p:spPr>
      </p:sp>
      <p:sp>
        <p:nvSpPr>
          <p:cNvPr id="9" name="Shape 6"/>
          <p:cNvSpPr/>
          <p:nvPr/>
        </p:nvSpPr>
        <p:spPr>
          <a:xfrm>
            <a:off x="914400" y="3383280"/>
            <a:ext cx="713232" cy="713232"/>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0" name="Image 1" descr="preencoded.png">    </p:cNvPr>
          <p:cNvPicPr>
            <a:picLocks noChangeAspect="1"/>
          </p:cNvPicPr>
          <p:nvPr/>
        </p:nvPicPr>
        <p:blipFill>
          <a:blip r:embed="rId2"/>
          <a:stretch>
            <a:fillRect/>
          </a:stretch>
        </p:blipFill>
        <p:spPr>
          <a:xfrm>
            <a:off x="1099840" y="3568720"/>
            <a:ext cx="342351" cy="342351"/>
          </a:xfrm>
          <a:prstGeom prst="rect">
            <a:avLst/>
          </a:prstGeom>
        </p:spPr>
      </p:pic>
      <p:sp>
        <p:nvSpPr>
          <p:cNvPr id="11" name="Text 7"/>
          <p:cNvSpPr/>
          <p:nvPr/>
        </p:nvSpPr>
        <p:spPr>
          <a:xfrm>
            <a:off x="1828800" y="3520440"/>
            <a:ext cx="2194560" cy="548640"/>
          </a:xfrm>
          <a:prstGeom prst="rect">
            <a:avLst/>
          </a:prstGeom>
          <a:noFill/>
          <a:ln/>
        </p:spPr>
        <p:txBody>
          <a:bodyPr wrap="square" lIns="0" tIns="0" rIns="0" bIns="0" rtlCol="0" anchor="ctr"/>
          <a:lstStyle/>
          <a:p>
            <a:pPr indent="0" marL="0">
              <a:buNone/>
            </a:pPr>
            <a:r>
              <a:rPr lang="en-US" sz="1550" b="1" dirty="0">
                <a:solidFill>
                  <a:srgbClr val="1E293B"/>
                </a:solidFill>
                <a:latin typeface="Arial" pitchFamily="34" charset="0"/>
                <a:ea typeface="Arial" pitchFamily="34" charset="-122"/>
                <a:cs typeface="Arial" pitchFamily="34" charset="-120"/>
              </a:rPr>
              <a:t>Start from ReAct</a:t>
            </a:r>
            <a:endParaRPr lang="en-US" sz="1550" dirty="0"/>
          </a:p>
        </p:txBody>
      </p:sp>
      <p:sp>
        <p:nvSpPr>
          <p:cNvPr id="12" name="Text 8"/>
          <p:cNvSpPr/>
          <p:nvPr/>
        </p:nvSpPr>
        <p:spPr>
          <a:xfrm>
            <a:off x="914400" y="4343400"/>
            <a:ext cx="3017520" cy="10058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your Day 3 reason-act loop is the core</a:t>
            </a:r>
            <a:endParaRPr lang="en-US" sz="1300" dirty="0"/>
          </a:p>
        </p:txBody>
      </p:sp>
      <p:sp>
        <p:nvSpPr>
          <p:cNvPr id="13" name="Shape 9"/>
          <p:cNvSpPr/>
          <p:nvPr/>
        </p:nvSpPr>
        <p:spPr>
          <a:xfrm>
            <a:off x="4297680" y="3108960"/>
            <a:ext cx="3520440" cy="2331720"/>
          </a:xfrm>
          <a:prstGeom prst="roundRect">
            <a:avLst>
              <a:gd name="adj" fmla="val 3529"/>
            </a:avLst>
          </a:prstGeom>
          <a:solidFill>
            <a:srgbClr val="F0FDFA"/>
          </a:solidFill>
          <a:ln/>
          <a:effectLst>
            <a:outerShdw sx="100000" sy="100000" kx="0" ky="0" algn="bl" rotWithShape="0" blurRad="88900" dist="38100" dir="5400000">
              <a:srgbClr val="0F2A33">
                <a:alpha val="16000"/>
              </a:srgbClr>
            </a:outerShdw>
          </a:effectLst>
        </p:spPr>
      </p:sp>
      <p:sp>
        <p:nvSpPr>
          <p:cNvPr id="14" name="Shape 10"/>
          <p:cNvSpPr/>
          <p:nvPr/>
        </p:nvSpPr>
        <p:spPr>
          <a:xfrm>
            <a:off x="4572000" y="3383280"/>
            <a:ext cx="713232" cy="713232"/>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5" name="Image 2" descr="preencoded.png">    </p:cNvPr>
          <p:cNvPicPr>
            <a:picLocks noChangeAspect="1"/>
          </p:cNvPicPr>
          <p:nvPr/>
        </p:nvPicPr>
        <p:blipFill>
          <a:blip r:embed="rId3"/>
          <a:stretch>
            <a:fillRect/>
          </a:stretch>
        </p:blipFill>
        <p:spPr>
          <a:xfrm>
            <a:off x="4757440" y="3568720"/>
            <a:ext cx="342351" cy="342351"/>
          </a:xfrm>
          <a:prstGeom prst="rect">
            <a:avLst/>
          </a:prstGeom>
        </p:spPr>
      </p:pic>
      <p:sp>
        <p:nvSpPr>
          <p:cNvPr id="16" name="Text 11"/>
          <p:cNvSpPr/>
          <p:nvPr/>
        </p:nvSpPr>
        <p:spPr>
          <a:xfrm>
            <a:off x="5486400" y="3520440"/>
            <a:ext cx="2194560" cy="548640"/>
          </a:xfrm>
          <a:prstGeom prst="rect">
            <a:avLst/>
          </a:prstGeom>
          <a:noFill/>
          <a:ln/>
        </p:spPr>
        <p:txBody>
          <a:bodyPr wrap="square" lIns="0" tIns="0" rIns="0" bIns="0" rtlCol="0" anchor="ctr"/>
          <a:lstStyle/>
          <a:p>
            <a:pPr indent="0" marL="0">
              <a:buNone/>
            </a:pPr>
            <a:r>
              <a:rPr lang="en-US" sz="1550" b="1" dirty="0">
                <a:solidFill>
                  <a:srgbClr val="1E293B"/>
                </a:solidFill>
                <a:latin typeface="Arial" pitchFamily="34" charset="0"/>
                <a:ea typeface="Arial" pitchFamily="34" charset="-122"/>
                <a:cs typeface="Arial" pitchFamily="34" charset="-120"/>
              </a:rPr>
              <a:t>Add memory and RAG</a:t>
            </a:r>
            <a:endParaRPr lang="en-US" sz="1550" dirty="0"/>
          </a:p>
        </p:txBody>
      </p:sp>
      <p:sp>
        <p:nvSpPr>
          <p:cNvPr id="17" name="Text 12"/>
          <p:cNvSpPr/>
          <p:nvPr/>
        </p:nvSpPr>
        <p:spPr>
          <a:xfrm>
            <a:off x="4572000" y="4343400"/>
            <a:ext cx="3017520" cy="10058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Day 4 summary memory plus a retrieval tool</a:t>
            </a:r>
            <a:endParaRPr lang="en-US" sz="1300" dirty="0"/>
          </a:p>
        </p:txBody>
      </p:sp>
      <p:sp>
        <p:nvSpPr>
          <p:cNvPr id="18" name="Shape 13"/>
          <p:cNvSpPr/>
          <p:nvPr/>
        </p:nvSpPr>
        <p:spPr>
          <a:xfrm>
            <a:off x="7955280" y="3108960"/>
            <a:ext cx="3520440" cy="2331720"/>
          </a:xfrm>
          <a:prstGeom prst="roundRect">
            <a:avLst>
              <a:gd name="adj" fmla="val 3529"/>
            </a:avLst>
          </a:prstGeom>
          <a:solidFill>
            <a:srgbClr val="F0FDFA"/>
          </a:solidFill>
          <a:ln/>
          <a:effectLst>
            <a:outerShdw sx="100000" sy="100000" kx="0" ky="0" algn="bl" rotWithShape="0" blurRad="88900" dist="38100" dir="5400000">
              <a:srgbClr val="0F2A33">
                <a:alpha val="16000"/>
              </a:srgbClr>
            </a:outerShdw>
          </a:effectLst>
        </p:spPr>
      </p:sp>
      <p:sp>
        <p:nvSpPr>
          <p:cNvPr id="19" name="Shape 14"/>
          <p:cNvSpPr/>
          <p:nvPr/>
        </p:nvSpPr>
        <p:spPr>
          <a:xfrm>
            <a:off x="8229600" y="3383280"/>
            <a:ext cx="713232" cy="713232"/>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20" name="Image 3" descr="preencoded.png">    </p:cNvPr>
          <p:cNvPicPr>
            <a:picLocks noChangeAspect="1"/>
          </p:cNvPicPr>
          <p:nvPr/>
        </p:nvPicPr>
        <p:blipFill>
          <a:blip r:embed="rId4"/>
          <a:stretch>
            <a:fillRect/>
          </a:stretch>
        </p:blipFill>
        <p:spPr>
          <a:xfrm>
            <a:off x="8415040" y="3568720"/>
            <a:ext cx="342351" cy="342351"/>
          </a:xfrm>
          <a:prstGeom prst="rect">
            <a:avLst/>
          </a:prstGeom>
        </p:spPr>
      </p:pic>
      <p:sp>
        <p:nvSpPr>
          <p:cNvPr id="21" name="Text 15"/>
          <p:cNvSpPr/>
          <p:nvPr/>
        </p:nvSpPr>
        <p:spPr>
          <a:xfrm>
            <a:off x="9144000" y="3520440"/>
            <a:ext cx="2194560" cy="548640"/>
          </a:xfrm>
          <a:prstGeom prst="rect">
            <a:avLst/>
          </a:prstGeom>
          <a:noFill/>
          <a:ln/>
        </p:spPr>
        <p:txBody>
          <a:bodyPr wrap="square" lIns="0" tIns="0" rIns="0" bIns="0" rtlCol="0" anchor="ctr"/>
          <a:lstStyle/>
          <a:p>
            <a:pPr indent="0" marL="0">
              <a:buNone/>
            </a:pPr>
            <a:r>
              <a:rPr lang="en-US" sz="1550" b="1" dirty="0">
                <a:solidFill>
                  <a:srgbClr val="1E293B"/>
                </a:solidFill>
                <a:latin typeface="Arial" pitchFamily="34" charset="0"/>
                <a:ea typeface="Arial" pitchFamily="34" charset="-122"/>
                <a:cs typeface="Arial" pitchFamily="34" charset="-120"/>
              </a:rPr>
              <a:t>Add safety</a:t>
            </a:r>
            <a:endParaRPr lang="en-US" sz="1550" dirty="0"/>
          </a:p>
        </p:txBody>
      </p:sp>
      <p:sp>
        <p:nvSpPr>
          <p:cNvPr id="22" name="Text 16"/>
          <p:cNvSpPr/>
          <p:nvPr/>
        </p:nvSpPr>
        <p:spPr>
          <a:xfrm>
            <a:off x="8229600" y="4343400"/>
            <a:ext cx="3017520" cy="10058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an allow-list, validation, and an approval gate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CAPSTONE MILESTONES</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Assemble, then harden, then demo</a:t>
            </a:r>
            <a:endParaRPr lang="en-US" sz="3000" dirty="0"/>
          </a:p>
        </p:txBody>
      </p:sp>
      <p:sp>
        <p:nvSpPr>
          <p:cNvPr id="4" name="Shape 2"/>
          <p:cNvSpPr/>
          <p:nvPr/>
        </p:nvSpPr>
        <p:spPr>
          <a:xfrm>
            <a:off x="640080" y="1783080"/>
            <a:ext cx="3520440" cy="1645920"/>
          </a:xfrm>
          <a:prstGeom prst="roundRect">
            <a:avLst>
              <a:gd name="adj" fmla="val 5000"/>
            </a:avLst>
          </a:prstGeom>
          <a:solidFill>
            <a:srgbClr val="F0FDFA"/>
          </a:solidFill>
          <a:ln/>
          <a:effectLst>
            <a:outerShdw sx="100000" sy="100000" kx="0" ky="0" algn="bl" rotWithShape="0" blurRad="88900" dist="38100" dir="5400000">
              <a:srgbClr val="0F2A33">
                <a:alpha val="16000"/>
              </a:srgbClr>
            </a:outerShdw>
          </a:effectLst>
        </p:spPr>
      </p:sp>
      <p:sp>
        <p:nvSpPr>
          <p:cNvPr id="5" name="Shape 3"/>
          <p:cNvSpPr/>
          <p:nvPr/>
        </p:nvSpPr>
        <p:spPr>
          <a:xfrm>
            <a:off x="896112" y="2039112"/>
            <a:ext cx="548640" cy="548640"/>
          </a:xfrm>
          <a:prstGeom prst="ellipse">
            <a:avLst/>
          </a:prstGeom>
          <a:solidFill>
            <a:srgbClr val="0D9488"/>
          </a:solidFill>
          <a:ln/>
        </p:spPr>
      </p:sp>
      <p:sp>
        <p:nvSpPr>
          <p:cNvPr id="6" name="Text 4"/>
          <p:cNvSpPr/>
          <p:nvPr/>
        </p:nvSpPr>
        <p:spPr>
          <a:xfrm>
            <a:off x="896112" y="2039112"/>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1</a:t>
            </a:r>
            <a:endParaRPr lang="en-US" sz="1900" dirty="0"/>
          </a:p>
        </p:txBody>
      </p:sp>
      <p:sp>
        <p:nvSpPr>
          <p:cNvPr id="7" name="Text 5"/>
          <p:cNvSpPr/>
          <p:nvPr/>
        </p:nvSpPr>
        <p:spPr>
          <a:xfrm>
            <a:off x="1600200" y="2057400"/>
            <a:ext cx="2423160" cy="50292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Core ReAct agent</a:t>
            </a:r>
            <a:endParaRPr lang="en-US" sz="1400" dirty="0"/>
          </a:p>
        </p:txBody>
      </p:sp>
      <p:sp>
        <p:nvSpPr>
          <p:cNvPr id="8" name="Text 6"/>
          <p:cNvSpPr/>
          <p:nvPr/>
        </p:nvSpPr>
        <p:spPr>
          <a:xfrm>
            <a:off x="914400" y="2651760"/>
            <a:ext cx="3017520" cy="6858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Bring in your Day 3 loop with the weather and calculator tools.</a:t>
            </a:r>
            <a:endParaRPr lang="en-US" sz="1200" dirty="0"/>
          </a:p>
        </p:txBody>
      </p:sp>
      <p:sp>
        <p:nvSpPr>
          <p:cNvPr id="9" name="Shape 7"/>
          <p:cNvSpPr/>
          <p:nvPr/>
        </p:nvSpPr>
        <p:spPr>
          <a:xfrm>
            <a:off x="4297680" y="1783080"/>
            <a:ext cx="3520440" cy="1645920"/>
          </a:xfrm>
          <a:prstGeom prst="roundRect">
            <a:avLst>
              <a:gd name="adj" fmla="val 5000"/>
            </a:avLst>
          </a:prstGeom>
          <a:solidFill>
            <a:srgbClr val="F1F5F9"/>
          </a:solidFill>
          <a:ln/>
          <a:effectLst>
            <a:outerShdw sx="100000" sy="100000" kx="0" ky="0" algn="bl" rotWithShape="0" blurRad="88900" dist="38100" dir="5400000">
              <a:srgbClr val="0F2A33">
                <a:alpha val="16000"/>
              </a:srgbClr>
            </a:outerShdw>
          </a:effectLst>
        </p:spPr>
      </p:sp>
      <p:sp>
        <p:nvSpPr>
          <p:cNvPr id="10" name="Shape 8"/>
          <p:cNvSpPr/>
          <p:nvPr/>
        </p:nvSpPr>
        <p:spPr>
          <a:xfrm>
            <a:off x="4553712" y="2039112"/>
            <a:ext cx="548640" cy="548640"/>
          </a:xfrm>
          <a:prstGeom prst="ellipse">
            <a:avLst/>
          </a:prstGeom>
          <a:solidFill>
            <a:srgbClr val="0D9488"/>
          </a:solidFill>
          <a:ln/>
        </p:spPr>
      </p:sp>
      <p:sp>
        <p:nvSpPr>
          <p:cNvPr id="11" name="Text 9"/>
          <p:cNvSpPr/>
          <p:nvPr/>
        </p:nvSpPr>
        <p:spPr>
          <a:xfrm>
            <a:off x="4553712" y="2039112"/>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2</a:t>
            </a:r>
            <a:endParaRPr lang="en-US" sz="1900" dirty="0"/>
          </a:p>
        </p:txBody>
      </p:sp>
      <p:sp>
        <p:nvSpPr>
          <p:cNvPr id="12" name="Text 10"/>
          <p:cNvSpPr/>
          <p:nvPr/>
        </p:nvSpPr>
        <p:spPr>
          <a:xfrm>
            <a:off x="5257800" y="2057400"/>
            <a:ext cx="2423160" cy="50292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Add a knowledge tool</a:t>
            </a:r>
            <a:endParaRPr lang="en-US" sz="1400" dirty="0"/>
          </a:p>
        </p:txBody>
      </p:sp>
      <p:sp>
        <p:nvSpPr>
          <p:cNvPr id="13" name="Text 11"/>
          <p:cNvSpPr/>
          <p:nvPr/>
        </p:nvSpPr>
        <p:spPr>
          <a:xfrm>
            <a:off x="4572000" y="2651760"/>
            <a:ext cx="3017520" cy="6858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Wrap your Day 4 RAG search as a tool the agent can call.</a:t>
            </a:r>
            <a:endParaRPr lang="en-US" sz="1200" dirty="0"/>
          </a:p>
        </p:txBody>
      </p:sp>
      <p:sp>
        <p:nvSpPr>
          <p:cNvPr id="14" name="Shape 12"/>
          <p:cNvSpPr/>
          <p:nvPr/>
        </p:nvSpPr>
        <p:spPr>
          <a:xfrm>
            <a:off x="7955280" y="1783080"/>
            <a:ext cx="3520440" cy="1645920"/>
          </a:xfrm>
          <a:prstGeom prst="roundRect">
            <a:avLst>
              <a:gd name="adj" fmla="val 5000"/>
            </a:avLst>
          </a:prstGeom>
          <a:solidFill>
            <a:srgbClr val="F0FDFA"/>
          </a:solidFill>
          <a:ln/>
          <a:effectLst>
            <a:outerShdw sx="100000" sy="100000" kx="0" ky="0" algn="bl" rotWithShape="0" blurRad="88900" dist="38100" dir="5400000">
              <a:srgbClr val="0F2A33">
                <a:alpha val="16000"/>
              </a:srgbClr>
            </a:outerShdw>
          </a:effectLst>
        </p:spPr>
      </p:sp>
      <p:sp>
        <p:nvSpPr>
          <p:cNvPr id="15" name="Shape 13"/>
          <p:cNvSpPr/>
          <p:nvPr/>
        </p:nvSpPr>
        <p:spPr>
          <a:xfrm>
            <a:off x="8211312" y="2039112"/>
            <a:ext cx="548640" cy="548640"/>
          </a:xfrm>
          <a:prstGeom prst="ellipse">
            <a:avLst/>
          </a:prstGeom>
          <a:solidFill>
            <a:srgbClr val="0D9488"/>
          </a:solidFill>
          <a:ln/>
        </p:spPr>
      </p:sp>
      <p:sp>
        <p:nvSpPr>
          <p:cNvPr id="16" name="Text 14"/>
          <p:cNvSpPr/>
          <p:nvPr/>
        </p:nvSpPr>
        <p:spPr>
          <a:xfrm>
            <a:off x="8211312" y="2039112"/>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3</a:t>
            </a:r>
            <a:endParaRPr lang="en-US" sz="1900" dirty="0"/>
          </a:p>
        </p:txBody>
      </p:sp>
      <p:sp>
        <p:nvSpPr>
          <p:cNvPr id="17" name="Text 15"/>
          <p:cNvSpPr/>
          <p:nvPr/>
        </p:nvSpPr>
        <p:spPr>
          <a:xfrm>
            <a:off x="8915400" y="2057400"/>
            <a:ext cx="2423160" cy="50292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Add memory</a:t>
            </a:r>
            <a:endParaRPr lang="en-US" sz="1400" dirty="0"/>
          </a:p>
        </p:txBody>
      </p:sp>
      <p:sp>
        <p:nvSpPr>
          <p:cNvPr id="18" name="Text 16"/>
          <p:cNvSpPr/>
          <p:nvPr/>
        </p:nvSpPr>
        <p:spPr>
          <a:xfrm>
            <a:off x="8229600" y="2651760"/>
            <a:ext cx="3017520" cy="6858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Use summary memory so it remembers across the conversation.</a:t>
            </a:r>
            <a:endParaRPr lang="en-US" sz="1200" dirty="0"/>
          </a:p>
        </p:txBody>
      </p:sp>
      <p:sp>
        <p:nvSpPr>
          <p:cNvPr id="19" name="Shape 17"/>
          <p:cNvSpPr/>
          <p:nvPr/>
        </p:nvSpPr>
        <p:spPr>
          <a:xfrm>
            <a:off x="640080" y="3703320"/>
            <a:ext cx="3520440" cy="1645920"/>
          </a:xfrm>
          <a:prstGeom prst="roundRect">
            <a:avLst>
              <a:gd name="adj" fmla="val 5000"/>
            </a:avLst>
          </a:prstGeom>
          <a:solidFill>
            <a:srgbClr val="F1F5F9"/>
          </a:solidFill>
          <a:ln/>
          <a:effectLst>
            <a:outerShdw sx="100000" sy="100000" kx="0" ky="0" algn="bl" rotWithShape="0" blurRad="88900" dist="38100" dir="5400000">
              <a:srgbClr val="0F2A33">
                <a:alpha val="16000"/>
              </a:srgbClr>
            </a:outerShdw>
          </a:effectLst>
        </p:spPr>
      </p:sp>
      <p:sp>
        <p:nvSpPr>
          <p:cNvPr id="20" name="Shape 18"/>
          <p:cNvSpPr/>
          <p:nvPr/>
        </p:nvSpPr>
        <p:spPr>
          <a:xfrm>
            <a:off x="896112" y="3959352"/>
            <a:ext cx="548640" cy="548640"/>
          </a:xfrm>
          <a:prstGeom prst="ellipse">
            <a:avLst/>
          </a:prstGeom>
          <a:solidFill>
            <a:srgbClr val="F59E0B"/>
          </a:solidFill>
          <a:ln/>
        </p:spPr>
      </p:sp>
      <p:sp>
        <p:nvSpPr>
          <p:cNvPr id="21" name="Text 19"/>
          <p:cNvSpPr/>
          <p:nvPr/>
        </p:nvSpPr>
        <p:spPr>
          <a:xfrm>
            <a:off x="896112" y="3959352"/>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4</a:t>
            </a:r>
            <a:endParaRPr lang="en-US" sz="1900" dirty="0"/>
          </a:p>
        </p:txBody>
      </p:sp>
      <p:sp>
        <p:nvSpPr>
          <p:cNvPr id="22" name="Text 20"/>
          <p:cNvSpPr/>
          <p:nvPr/>
        </p:nvSpPr>
        <p:spPr>
          <a:xfrm>
            <a:off x="1600200" y="3977640"/>
            <a:ext cx="2423160" cy="50292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Add guardrails</a:t>
            </a:r>
            <a:endParaRPr lang="en-US" sz="1400" dirty="0"/>
          </a:p>
        </p:txBody>
      </p:sp>
      <p:sp>
        <p:nvSpPr>
          <p:cNvPr id="23" name="Text 21"/>
          <p:cNvSpPr/>
          <p:nvPr/>
        </p:nvSpPr>
        <p:spPr>
          <a:xfrm>
            <a:off x="914400" y="4572000"/>
            <a:ext cx="3017520" cy="6858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Allow-list tools and validate arguments in the loop.</a:t>
            </a:r>
            <a:endParaRPr lang="en-US" sz="1200" dirty="0"/>
          </a:p>
        </p:txBody>
      </p:sp>
      <p:sp>
        <p:nvSpPr>
          <p:cNvPr id="24" name="Shape 22"/>
          <p:cNvSpPr/>
          <p:nvPr/>
        </p:nvSpPr>
        <p:spPr>
          <a:xfrm>
            <a:off x="4297680" y="3703320"/>
            <a:ext cx="3520440" cy="1645920"/>
          </a:xfrm>
          <a:prstGeom prst="roundRect">
            <a:avLst>
              <a:gd name="adj" fmla="val 5000"/>
            </a:avLst>
          </a:prstGeom>
          <a:solidFill>
            <a:srgbClr val="F0FDFA"/>
          </a:solidFill>
          <a:ln/>
          <a:effectLst>
            <a:outerShdw sx="100000" sy="100000" kx="0" ky="0" algn="bl" rotWithShape="0" blurRad="88900" dist="38100" dir="5400000">
              <a:srgbClr val="0F2A33">
                <a:alpha val="16000"/>
              </a:srgbClr>
            </a:outerShdw>
          </a:effectLst>
        </p:spPr>
      </p:sp>
      <p:sp>
        <p:nvSpPr>
          <p:cNvPr id="25" name="Shape 23"/>
          <p:cNvSpPr/>
          <p:nvPr/>
        </p:nvSpPr>
        <p:spPr>
          <a:xfrm>
            <a:off x="4553712" y="3959352"/>
            <a:ext cx="548640" cy="548640"/>
          </a:xfrm>
          <a:prstGeom prst="ellipse">
            <a:avLst/>
          </a:prstGeom>
          <a:solidFill>
            <a:srgbClr val="F59E0B"/>
          </a:solidFill>
          <a:ln/>
        </p:spPr>
      </p:sp>
      <p:sp>
        <p:nvSpPr>
          <p:cNvPr id="26" name="Text 24"/>
          <p:cNvSpPr/>
          <p:nvPr/>
        </p:nvSpPr>
        <p:spPr>
          <a:xfrm>
            <a:off x="4553712" y="3959352"/>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5</a:t>
            </a:r>
            <a:endParaRPr lang="en-US" sz="1900" dirty="0"/>
          </a:p>
        </p:txBody>
      </p:sp>
      <p:sp>
        <p:nvSpPr>
          <p:cNvPr id="27" name="Text 25"/>
          <p:cNvSpPr/>
          <p:nvPr/>
        </p:nvSpPr>
        <p:spPr>
          <a:xfrm>
            <a:off x="5257800" y="3977640"/>
            <a:ext cx="2423160" cy="50292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Add an approval gate</a:t>
            </a:r>
            <a:endParaRPr lang="en-US" sz="1400" dirty="0"/>
          </a:p>
        </p:txBody>
      </p:sp>
      <p:sp>
        <p:nvSpPr>
          <p:cNvPr id="28" name="Text 26"/>
          <p:cNvSpPr/>
          <p:nvPr/>
        </p:nvSpPr>
        <p:spPr>
          <a:xfrm>
            <a:off x="4572000" y="4572000"/>
            <a:ext cx="3017520" cy="6858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Require human sign-off before one chosen action.</a:t>
            </a:r>
            <a:endParaRPr lang="en-US" sz="1200" dirty="0"/>
          </a:p>
        </p:txBody>
      </p:sp>
      <p:sp>
        <p:nvSpPr>
          <p:cNvPr id="29" name="Shape 27"/>
          <p:cNvSpPr/>
          <p:nvPr/>
        </p:nvSpPr>
        <p:spPr>
          <a:xfrm>
            <a:off x="7955280" y="3703320"/>
            <a:ext cx="3520440" cy="1645920"/>
          </a:xfrm>
          <a:prstGeom prst="roundRect">
            <a:avLst>
              <a:gd name="adj" fmla="val 5000"/>
            </a:avLst>
          </a:prstGeom>
          <a:solidFill>
            <a:srgbClr val="F1F5F9"/>
          </a:solidFill>
          <a:ln/>
          <a:effectLst>
            <a:outerShdw sx="100000" sy="100000" kx="0" ky="0" algn="bl" rotWithShape="0" blurRad="88900" dist="38100" dir="5400000">
              <a:srgbClr val="0F2A33">
                <a:alpha val="16000"/>
              </a:srgbClr>
            </a:outerShdw>
          </a:effectLst>
        </p:spPr>
      </p:sp>
      <p:sp>
        <p:nvSpPr>
          <p:cNvPr id="30" name="Shape 28"/>
          <p:cNvSpPr/>
          <p:nvPr/>
        </p:nvSpPr>
        <p:spPr>
          <a:xfrm>
            <a:off x="8211312" y="3959352"/>
            <a:ext cx="548640" cy="548640"/>
          </a:xfrm>
          <a:prstGeom prst="ellipse">
            <a:avLst/>
          </a:prstGeom>
          <a:solidFill>
            <a:srgbClr val="F59E0B"/>
          </a:solidFill>
          <a:ln/>
        </p:spPr>
      </p:sp>
      <p:sp>
        <p:nvSpPr>
          <p:cNvPr id="31" name="Text 29"/>
          <p:cNvSpPr/>
          <p:nvPr/>
        </p:nvSpPr>
        <p:spPr>
          <a:xfrm>
            <a:off x="8211312" y="3959352"/>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6</a:t>
            </a:r>
            <a:endParaRPr lang="en-US" sz="1900" dirty="0"/>
          </a:p>
        </p:txBody>
      </p:sp>
      <p:sp>
        <p:nvSpPr>
          <p:cNvPr id="32" name="Text 30"/>
          <p:cNvSpPr/>
          <p:nvPr/>
        </p:nvSpPr>
        <p:spPr>
          <a:xfrm>
            <a:off x="8915400" y="3977640"/>
            <a:ext cx="2423160" cy="502920"/>
          </a:xfrm>
          <a:prstGeom prst="rect">
            <a:avLst/>
          </a:prstGeom>
          <a:noFill/>
          <a:ln/>
        </p:spPr>
        <p:txBody>
          <a:bodyPr wrap="square" lIns="0" tIns="0" rIns="0" bIns="0" rtlCol="0" anchor="ctr"/>
          <a:lstStyle/>
          <a:p>
            <a:pPr indent="0" marL="0">
              <a:buNone/>
            </a:pPr>
            <a:r>
              <a:rPr lang="en-US" sz="1400" b="1" dirty="0">
                <a:solidFill>
                  <a:srgbClr val="1E293B"/>
                </a:solidFill>
                <a:latin typeface="Arial" pitchFamily="34" charset="0"/>
                <a:ea typeface="Arial" pitchFamily="34" charset="-122"/>
                <a:cs typeface="Arial" pitchFamily="34" charset="-120"/>
              </a:rPr>
              <a:t>Demo and evaluate</a:t>
            </a:r>
            <a:endParaRPr lang="en-US" sz="1400" dirty="0"/>
          </a:p>
        </p:txBody>
      </p:sp>
      <p:sp>
        <p:nvSpPr>
          <p:cNvPr id="33" name="Text 31"/>
          <p:cNvSpPr/>
          <p:nvPr/>
        </p:nvSpPr>
        <p:spPr>
          <a:xfrm>
            <a:off x="8229600" y="4572000"/>
            <a:ext cx="3017520" cy="6858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Run a multi-step task, then score it on a small golden set.</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2A33"/>
        </a:solidFill>
      </p:bgPr>
    </p:bg>
    <p:spTree>
      <p:nvGrpSpPr>
        <p:cNvPr id="1" name=""/>
        <p:cNvGrpSpPr/>
        <p:nvPr/>
      </p:nvGrpSpPr>
      <p:grpSpPr>
        <a:xfrm>
          <a:off x="0" y="0"/>
          <a:ext cx="0" cy="0"/>
          <a:chOff x="0" y="0"/>
          <a:chExt cx="0" cy="0"/>
        </a:xfrm>
      </p:grpSpPr>
      <p:sp>
        <p:nvSpPr>
          <p:cNvPr id="2" name="Shape 0"/>
          <p:cNvSpPr/>
          <p:nvPr/>
        </p:nvSpPr>
        <p:spPr>
          <a:xfrm>
            <a:off x="9144000" y="-1828800"/>
            <a:ext cx="5120640" cy="5120640"/>
          </a:xfrm>
          <a:prstGeom prst="ellipse">
            <a:avLst/>
          </a:prstGeom>
          <a:solidFill>
            <a:srgbClr val="13343B"/>
          </a:solidFill>
          <a:ln/>
        </p:spPr>
      </p:sp>
      <p:sp>
        <p:nvSpPr>
          <p:cNvPr id="3" name="Shape 1"/>
          <p:cNvSpPr/>
          <p:nvPr/>
        </p:nvSpPr>
        <p:spPr>
          <a:xfrm>
            <a:off x="10515600" y="4206240"/>
            <a:ext cx="3840480" cy="3840480"/>
          </a:xfrm>
          <a:prstGeom prst="ellipse">
            <a:avLst/>
          </a:prstGeom>
          <a:solidFill>
            <a:srgbClr val="0D9488"/>
          </a:solidFill>
          <a:ln/>
        </p:spPr>
      </p:sp>
      <p:sp>
        <p:nvSpPr>
          <p:cNvPr id="4" name="Shape 2"/>
          <p:cNvSpPr/>
          <p:nvPr/>
        </p:nvSpPr>
        <p:spPr>
          <a:xfrm>
            <a:off x="10515600" y="4206240"/>
            <a:ext cx="3840480" cy="3840480"/>
          </a:xfrm>
          <a:prstGeom prst="ellipse">
            <a:avLst/>
          </a:prstGeom>
          <a:solidFill>
            <a:srgbClr val="0F2A33">
              <a:alpha val="85000"/>
            </a:srgbClr>
          </a:solidFill>
          <a:ln/>
        </p:spPr>
      </p:sp>
      <p:sp>
        <p:nvSpPr>
          <p:cNvPr id="5" name="Shape 3"/>
          <p:cNvSpPr/>
          <p:nvPr/>
        </p:nvSpPr>
        <p:spPr>
          <a:xfrm>
            <a:off x="822960" y="731520"/>
            <a:ext cx="914400" cy="91440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060704" y="969264"/>
            <a:ext cx="438912" cy="438912"/>
          </a:xfrm>
          <a:prstGeom prst="rect">
            <a:avLst/>
          </a:prstGeom>
        </p:spPr>
      </p:pic>
      <p:sp>
        <p:nvSpPr>
          <p:cNvPr id="7" name="Text 4"/>
          <p:cNvSpPr/>
          <p:nvPr/>
        </p:nvSpPr>
        <p:spPr>
          <a:xfrm>
            <a:off x="822960" y="1828800"/>
            <a:ext cx="10058400" cy="365760"/>
          </a:xfrm>
          <a:prstGeom prst="rect">
            <a:avLst/>
          </a:prstGeom>
          <a:noFill/>
          <a:ln/>
        </p:spPr>
        <p:txBody>
          <a:bodyPr wrap="square" rtlCol="0" anchor="ctr"/>
          <a:lstStyle/>
          <a:p>
            <a:pPr indent="0" marL="0">
              <a:buNone/>
            </a:pPr>
            <a:r>
              <a:rPr lang="en-US" sz="1400" b="1" spc="300" kern="0" dirty="0">
                <a:solidFill>
                  <a:srgbClr val="5EEAD4"/>
                </a:solidFill>
                <a:latin typeface="Arial" pitchFamily="34" charset="0"/>
                <a:ea typeface="Arial" pitchFamily="34" charset="-122"/>
                <a:cs typeface="Arial" pitchFamily="34" charset="-120"/>
              </a:rPr>
              <a:t>Course complete</a:t>
            </a:r>
            <a:endParaRPr lang="en-US" sz="1400" dirty="0"/>
          </a:p>
        </p:txBody>
      </p:sp>
      <p:sp>
        <p:nvSpPr>
          <p:cNvPr id="8" name="Text 5"/>
          <p:cNvSpPr/>
          <p:nvPr/>
        </p:nvSpPr>
        <p:spPr>
          <a:xfrm>
            <a:off x="822960" y="2194560"/>
            <a:ext cx="10515600" cy="914400"/>
          </a:xfrm>
          <a:prstGeom prst="rect">
            <a:avLst/>
          </a:prstGeom>
          <a:noFill/>
          <a:ln/>
        </p:spPr>
        <p:txBody>
          <a:bodyPr wrap="square" rtlCol="0" anchor="ctr"/>
          <a:lstStyle/>
          <a:p>
            <a:pPr indent="0" marL="0">
              <a:buNone/>
            </a:pPr>
            <a:r>
              <a:rPr lang="en-US" sz="4400" b="1" dirty="0">
                <a:solidFill>
                  <a:srgbClr val="FFFFFF"/>
                </a:solidFill>
                <a:latin typeface="Arial" pitchFamily="34" charset="0"/>
                <a:ea typeface="Arial" pitchFamily="34" charset="-122"/>
                <a:cs typeface="Arial" pitchFamily="34" charset="-120"/>
              </a:rPr>
              <a:t>You can build agents</a:t>
            </a:r>
            <a:endParaRPr lang="en-US" sz="4400" dirty="0"/>
          </a:p>
        </p:txBody>
      </p:sp>
      <p:sp>
        <p:nvSpPr>
          <p:cNvPr id="9" name="Text 6"/>
          <p:cNvSpPr/>
          <p:nvPr/>
        </p:nvSpPr>
        <p:spPr>
          <a:xfrm>
            <a:off x="868680" y="3291840"/>
            <a:ext cx="9875520" cy="822960"/>
          </a:xfrm>
          <a:prstGeom prst="rect">
            <a:avLst/>
          </a:prstGeom>
          <a:noFill/>
          <a:ln/>
        </p:spPr>
        <p:txBody>
          <a:bodyPr wrap="square" rtlCol="0" anchor="ctr"/>
          <a:lstStyle/>
          <a:p>
            <a:pPr indent="0" marL="0">
              <a:buNone/>
            </a:pPr>
            <a:r>
              <a:rPr lang="en-US" sz="1500" dirty="0">
                <a:solidFill>
                  <a:srgbClr val="CBD5E1"/>
                </a:solidFill>
                <a:latin typeface="Arial" pitchFamily="34" charset="0"/>
                <a:ea typeface="Arial" pitchFamily="34" charset="-122"/>
                <a:cs typeface="Arial" pitchFamily="34" charset="-120"/>
              </a:rPr>
              <a:t>In five days you went from a single model call to a self-driving agent that reasons, </a:t>
            </a:r>
            <a:endParaRPr lang="en-US" sz="1500" dirty="0"/>
          </a:p>
          <a:p>
            <a:pPr indent="0" marL="0">
              <a:buNone/>
            </a:pPr>
            <a:r>
              <a:rPr lang="en-US" sz="1500" dirty="0">
                <a:solidFill>
                  <a:srgbClr val="CBD5E1"/>
                </a:solidFill>
                <a:latin typeface="Arial" pitchFamily="34" charset="0"/>
                <a:ea typeface="Arial" pitchFamily="34" charset="-122"/>
                <a:cs typeface="Arial" pitchFamily="34" charset="-120"/>
              </a:rPr>
              <a:t>plans, uses tools, remembers, retrieves knowledge, works with other agents, and stays safe.</a:t>
            </a:r>
            <a:endParaRPr lang="en-US" sz="1500" dirty="0"/>
          </a:p>
        </p:txBody>
      </p:sp>
      <p:sp>
        <p:nvSpPr>
          <p:cNvPr id="10" name="Shape 7"/>
          <p:cNvSpPr/>
          <p:nvPr/>
        </p:nvSpPr>
        <p:spPr>
          <a:xfrm>
            <a:off x="822960" y="4434840"/>
            <a:ext cx="3383280" cy="1371600"/>
          </a:xfrm>
          <a:prstGeom prst="roundRect">
            <a:avLst>
              <a:gd name="adj" fmla="val 6000"/>
            </a:avLst>
          </a:prstGeom>
          <a:solidFill>
            <a:srgbClr val="13343B"/>
          </a:solidFill>
          <a:ln/>
          <a:effectLst>
            <a:outerShdw sx="100000" sy="100000" kx="0" ky="0" algn="bl" rotWithShape="0" blurRad="88900" dist="38100" dir="5400000">
              <a:srgbClr val="0F2A33">
                <a:alpha val="16000"/>
              </a:srgbClr>
            </a:outerShdw>
          </a:effectLst>
        </p:spPr>
      </p:sp>
      <p:sp>
        <p:nvSpPr>
          <p:cNvPr id="11" name="Shape 8"/>
          <p:cNvSpPr/>
          <p:nvPr/>
        </p:nvSpPr>
        <p:spPr>
          <a:xfrm>
            <a:off x="1051560" y="4617720"/>
            <a:ext cx="502920" cy="50292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2" name="Image 1" descr="preencoded.png">    </p:cNvPr>
          <p:cNvPicPr>
            <a:picLocks noChangeAspect="1"/>
          </p:cNvPicPr>
          <p:nvPr/>
        </p:nvPicPr>
        <p:blipFill>
          <a:blip r:embed="rId2"/>
          <a:stretch>
            <a:fillRect/>
          </a:stretch>
        </p:blipFill>
        <p:spPr>
          <a:xfrm>
            <a:off x="1182319" y="4748479"/>
            <a:ext cx="241402" cy="241402"/>
          </a:xfrm>
          <a:prstGeom prst="rect">
            <a:avLst/>
          </a:prstGeom>
        </p:spPr>
      </p:pic>
      <p:sp>
        <p:nvSpPr>
          <p:cNvPr id="13" name="Text 9"/>
          <p:cNvSpPr/>
          <p:nvPr/>
        </p:nvSpPr>
        <p:spPr>
          <a:xfrm>
            <a:off x="1691640" y="4617720"/>
            <a:ext cx="2377440" cy="502920"/>
          </a:xfrm>
          <a:prstGeom prst="rect">
            <a:avLst/>
          </a:prstGeom>
          <a:noFill/>
          <a:ln/>
        </p:spPr>
        <p:txBody>
          <a:bodyPr wrap="square" lIns="0" tIns="0" rIns="0" bIns="0" rtlCol="0" anchor="ctr"/>
          <a:lstStyle/>
          <a:p>
            <a:pPr indent="0" marL="0">
              <a:buNone/>
            </a:pPr>
            <a:r>
              <a:rPr lang="en-US" sz="1400" b="1" dirty="0">
                <a:solidFill>
                  <a:srgbClr val="5EEAD4"/>
                </a:solidFill>
                <a:latin typeface="Arial" pitchFamily="34" charset="0"/>
                <a:ea typeface="Arial" pitchFamily="34" charset="-122"/>
                <a:cs typeface="Arial" pitchFamily="34" charset="-120"/>
              </a:rPr>
              <a:t>Keep reading</a:t>
            </a:r>
            <a:endParaRPr lang="en-US" sz="1400" dirty="0"/>
          </a:p>
        </p:txBody>
      </p:sp>
      <p:sp>
        <p:nvSpPr>
          <p:cNvPr id="14" name="Text 10"/>
          <p:cNvSpPr/>
          <p:nvPr/>
        </p:nvSpPr>
        <p:spPr>
          <a:xfrm>
            <a:off x="1051560" y="5120640"/>
            <a:ext cx="2971800" cy="640080"/>
          </a:xfrm>
          <a:prstGeom prst="rect">
            <a:avLst/>
          </a:prstGeom>
          <a:noFill/>
          <a:ln/>
        </p:spPr>
        <p:txBody>
          <a:bodyPr wrap="square" lIns="0" tIns="0" rIns="0" bIns="0" rtlCol="0" anchor="ctr"/>
          <a:lstStyle/>
          <a:p>
            <a:pPr indent="0" marL="0">
              <a:buNone/>
            </a:pPr>
            <a:r>
              <a:rPr lang="en-US" sz="1150" dirty="0">
                <a:solidFill>
                  <a:srgbClr val="CBD5E1"/>
                </a:solidFill>
                <a:latin typeface="Arial" pitchFamily="34" charset="0"/>
                <a:ea typeface="Arial" pitchFamily="34" charset="-122"/>
                <a:cs typeface="Arial" pitchFamily="34" charset="-120"/>
              </a:rPr>
              <a:t>the rest of Gulli's patterns: MCP, evaluation, optimization</a:t>
            </a:r>
            <a:endParaRPr lang="en-US" sz="1150" dirty="0"/>
          </a:p>
        </p:txBody>
      </p:sp>
      <p:sp>
        <p:nvSpPr>
          <p:cNvPr id="15" name="Shape 11"/>
          <p:cNvSpPr/>
          <p:nvPr/>
        </p:nvSpPr>
        <p:spPr>
          <a:xfrm>
            <a:off x="4389120" y="4434840"/>
            <a:ext cx="3383280" cy="1371600"/>
          </a:xfrm>
          <a:prstGeom prst="roundRect">
            <a:avLst>
              <a:gd name="adj" fmla="val 6000"/>
            </a:avLst>
          </a:prstGeom>
          <a:solidFill>
            <a:srgbClr val="13343B"/>
          </a:solidFill>
          <a:ln/>
          <a:effectLst>
            <a:outerShdw sx="100000" sy="100000" kx="0" ky="0" algn="bl" rotWithShape="0" blurRad="88900" dist="38100" dir="5400000">
              <a:srgbClr val="0F2A33">
                <a:alpha val="16000"/>
              </a:srgbClr>
            </a:outerShdw>
          </a:effectLst>
        </p:spPr>
      </p:sp>
      <p:sp>
        <p:nvSpPr>
          <p:cNvPr id="16" name="Shape 12"/>
          <p:cNvSpPr/>
          <p:nvPr/>
        </p:nvSpPr>
        <p:spPr>
          <a:xfrm>
            <a:off x="4617720" y="4617720"/>
            <a:ext cx="502920" cy="50292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7" name="Image 2" descr="preencoded.png">    </p:cNvPr>
          <p:cNvPicPr>
            <a:picLocks noChangeAspect="1"/>
          </p:cNvPicPr>
          <p:nvPr/>
        </p:nvPicPr>
        <p:blipFill>
          <a:blip r:embed="rId3"/>
          <a:stretch>
            <a:fillRect/>
          </a:stretch>
        </p:blipFill>
        <p:spPr>
          <a:xfrm>
            <a:off x="4748479" y="4748479"/>
            <a:ext cx="241402" cy="241402"/>
          </a:xfrm>
          <a:prstGeom prst="rect">
            <a:avLst/>
          </a:prstGeom>
        </p:spPr>
      </p:pic>
      <p:sp>
        <p:nvSpPr>
          <p:cNvPr id="18" name="Text 13"/>
          <p:cNvSpPr/>
          <p:nvPr/>
        </p:nvSpPr>
        <p:spPr>
          <a:xfrm>
            <a:off x="5257800" y="4617720"/>
            <a:ext cx="2377440" cy="502920"/>
          </a:xfrm>
          <a:prstGeom prst="rect">
            <a:avLst/>
          </a:prstGeom>
          <a:noFill/>
          <a:ln/>
        </p:spPr>
        <p:txBody>
          <a:bodyPr wrap="square" lIns="0" tIns="0" rIns="0" bIns="0" rtlCol="0" anchor="ctr"/>
          <a:lstStyle/>
          <a:p>
            <a:pPr indent="0" marL="0">
              <a:buNone/>
            </a:pPr>
            <a:r>
              <a:rPr lang="en-US" sz="1400" b="1" dirty="0">
                <a:solidFill>
                  <a:srgbClr val="5EEAD4"/>
                </a:solidFill>
                <a:latin typeface="Arial" pitchFamily="34" charset="0"/>
                <a:ea typeface="Arial" pitchFamily="34" charset="-122"/>
                <a:cs typeface="Arial" pitchFamily="34" charset="-120"/>
              </a:rPr>
              <a:t>Try a framework</a:t>
            </a:r>
            <a:endParaRPr lang="en-US" sz="1400" dirty="0"/>
          </a:p>
        </p:txBody>
      </p:sp>
      <p:sp>
        <p:nvSpPr>
          <p:cNvPr id="19" name="Text 14"/>
          <p:cNvSpPr/>
          <p:nvPr/>
        </p:nvSpPr>
        <p:spPr>
          <a:xfrm>
            <a:off x="4617720" y="5120640"/>
            <a:ext cx="2971800" cy="640080"/>
          </a:xfrm>
          <a:prstGeom prst="rect">
            <a:avLst/>
          </a:prstGeom>
          <a:noFill/>
          <a:ln/>
        </p:spPr>
        <p:txBody>
          <a:bodyPr wrap="square" lIns="0" tIns="0" rIns="0" bIns="0" rtlCol="0" anchor="ctr"/>
          <a:lstStyle/>
          <a:p>
            <a:pPr indent="0" marL="0">
              <a:buNone/>
            </a:pPr>
            <a:r>
              <a:rPr lang="en-US" sz="1150" dirty="0">
                <a:solidFill>
                  <a:srgbClr val="CBD5E1"/>
                </a:solidFill>
                <a:latin typeface="Arial" pitchFamily="34" charset="0"/>
                <a:ea typeface="Arial" pitchFamily="34" charset="-122"/>
                <a:cs typeface="Arial" pitchFamily="34" charset="-120"/>
              </a:rPr>
              <a:t>rebuild your capstone in LangGraph or CrewAI</a:t>
            </a:r>
            <a:endParaRPr lang="en-US" sz="1150" dirty="0"/>
          </a:p>
        </p:txBody>
      </p:sp>
      <p:sp>
        <p:nvSpPr>
          <p:cNvPr id="20" name="Shape 15"/>
          <p:cNvSpPr/>
          <p:nvPr/>
        </p:nvSpPr>
        <p:spPr>
          <a:xfrm>
            <a:off x="7955280" y="4434840"/>
            <a:ext cx="3383280" cy="1371600"/>
          </a:xfrm>
          <a:prstGeom prst="roundRect">
            <a:avLst>
              <a:gd name="adj" fmla="val 6000"/>
            </a:avLst>
          </a:prstGeom>
          <a:solidFill>
            <a:srgbClr val="13343B"/>
          </a:solidFill>
          <a:ln/>
          <a:effectLst>
            <a:outerShdw sx="100000" sy="100000" kx="0" ky="0" algn="bl" rotWithShape="0" blurRad="88900" dist="38100" dir="5400000">
              <a:srgbClr val="0F2A33">
                <a:alpha val="16000"/>
              </a:srgbClr>
            </a:outerShdw>
          </a:effectLst>
        </p:spPr>
      </p:sp>
      <p:sp>
        <p:nvSpPr>
          <p:cNvPr id="21" name="Shape 16"/>
          <p:cNvSpPr/>
          <p:nvPr/>
        </p:nvSpPr>
        <p:spPr>
          <a:xfrm>
            <a:off x="8183880" y="4617720"/>
            <a:ext cx="502920" cy="50292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22" name="Image 3" descr="preencoded.png">    </p:cNvPr>
          <p:cNvPicPr>
            <a:picLocks noChangeAspect="1"/>
          </p:cNvPicPr>
          <p:nvPr/>
        </p:nvPicPr>
        <p:blipFill>
          <a:blip r:embed="rId4"/>
          <a:stretch>
            <a:fillRect/>
          </a:stretch>
        </p:blipFill>
        <p:spPr>
          <a:xfrm>
            <a:off x="8314639" y="4748479"/>
            <a:ext cx="241402" cy="241402"/>
          </a:xfrm>
          <a:prstGeom prst="rect">
            <a:avLst/>
          </a:prstGeom>
        </p:spPr>
      </p:pic>
      <p:sp>
        <p:nvSpPr>
          <p:cNvPr id="23" name="Text 17"/>
          <p:cNvSpPr/>
          <p:nvPr/>
        </p:nvSpPr>
        <p:spPr>
          <a:xfrm>
            <a:off x="8823960" y="4617720"/>
            <a:ext cx="2377440" cy="502920"/>
          </a:xfrm>
          <a:prstGeom prst="rect">
            <a:avLst/>
          </a:prstGeom>
          <a:noFill/>
          <a:ln/>
        </p:spPr>
        <p:txBody>
          <a:bodyPr wrap="square" lIns="0" tIns="0" rIns="0" bIns="0" rtlCol="0" anchor="ctr"/>
          <a:lstStyle/>
          <a:p>
            <a:pPr indent="0" marL="0">
              <a:buNone/>
            </a:pPr>
            <a:r>
              <a:rPr lang="en-US" sz="1400" b="1" dirty="0">
                <a:solidFill>
                  <a:srgbClr val="5EEAD4"/>
                </a:solidFill>
                <a:latin typeface="Arial" pitchFamily="34" charset="0"/>
                <a:ea typeface="Arial" pitchFamily="34" charset="-122"/>
                <a:cs typeface="Arial" pitchFamily="34" charset="-120"/>
              </a:rPr>
              <a:t>Build something</a:t>
            </a:r>
            <a:endParaRPr lang="en-US" sz="1400" dirty="0"/>
          </a:p>
        </p:txBody>
      </p:sp>
      <p:sp>
        <p:nvSpPr>
          <p:cNvPr id="24" name="Text 18"/>
          <p:cNvSpPr/>
          <p:nvPr/>
        </p:nvSpPr>
        <p:spPr>
          <a:xfrm>
            <a:off x="8183880" y="5120640"/>
            <a:ext cx="2971800" cy="640080"/>
          </a:xfrm>
          <a:prstGeom prst="rect">
            <a:avLst/>
          </a:prstGeom>
          <a:noFill/>
          <a:ln/>
        </p:spPr>
        <p:txBody>
          <a:bodyPr wrap="square" lIns="0" tIns="0" rIns="0" bIns="0" rtlCol="0" anchor="ctr"/>
          <a:lstStyle/>
          <a:p>
            <a:pPr indent="0" marL="0">
              <a:buNone/>
            </a:pPr>
            <a:r>
              <a:rPr lang="en-US" sz="1150" dirty="0">
                <a:solidFill>
                  <a:srgbClr val="CBD5E1"/>
                </a:solidFill>
                <a:latin typeface="Arial" pitchFamily="34" charset="0"/>
                <a:ea typeface="Arial" pitchFamily="34" charset="-122"/>
                <a:cs typeface="Arial" pitchFamily="34" charset="-120"/>
              </a:rPr>
              <a:t>point an agent at a real problem you care about</a:t>
            </a:r>
            <a:endParaRPr lang="en-US" sz="1150" dirty="0"/>
          </a:p>
        </p:txBody>
      </p:sp>
      <p:sp>
        <p:nvSpPr>
          <p:cNvPr id="25" name="Text 19"/>
          <p:cNvSpPr/>
          <p:nvPr/>
        </p:nvSpPr>
        <p:spPr>
          <a:xfrm>
            <a:off x="822960" y="6035040"/>
            <a:ext cx="10058400" cy="457200"/>
          </a:xfrm>
          <a:prstGeom prst="rect">
            <a:avLst/>
          </a:prstGeom>
          <a:noFill/>
          <a:ln/>
        </p:spPr>
        <p:txBody>
          <a:bodyPr wrap="square" rtlCol="0" anchor="ctr"/>
          <a:lstStyle/>
          <a:p>
            <a:pPr indent="0" marL="0">
              <a:buNone/>
            </a:pPr>
            <a:r>
              <a:rPr lang="en-US" sz="1500" i="1" dirty="0">
                <a:solidFill>
                  <a:srgbClr val="5EEAD4"/>
                </a:solidFill>
                <a:latin typeface="Arial" pitchFamily="34" charset="0"/>
                <a:ea typeface="Arial" pitchFamily="34" charset="-122"/>
                <a:cs typeface="Arial" pitchFamily="34" charset="-120"/>
              </a:rPr>
              <a:t>Thank you. Now go build.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 Day 5</dc:title>
  <dc:subject>PptxGenJS Presentation</dc:subject>
  <dc:creator>Agentic AI Course</dc:creator>
  <cp:lastModifiedBy>Agentic AI Course</cp:lastModifiedBy>
  <cp:revision>1</cp:revision>
  <dcterms:created xsi:type="dcterms:W3CDTF">2026-06-17T16:05:46Z</dcterms:created>
  <dcterms:modified xsi:type="dcterms:W3CDTF">2026-06-17T16:05:46Z</dcterms:modified>
</cp:coreProperties>
</file>